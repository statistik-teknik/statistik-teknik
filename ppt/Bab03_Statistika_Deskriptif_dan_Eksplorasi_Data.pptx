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 w="12700">
            <a:solidFill>
              <a:srgbClr val="1C7293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4206240"/>
            <a:ext cx="3291840" cy="3291840"/>
          </a:xfrm>
          <a:prstGeom prst="ellipse">
            <a:avLst/>
          </a:prstGeom>
          <a:solidFill>
            <a:srgbClr val="F4A261">
              <a:alpha val="18000"/>
            </a:srgbClr>
          </a:solidFill>
          <a:ln w="12700">
            <a:solidFill>
              <a:srgbClr val="F4A261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· TIF-302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9144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DESKRIPTIF DAN EKSPLORASI DATA (EDA)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 TERKAIT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4800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 WAKTU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50 menit (Teori + Praktikum Laboratorium)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CPMK-2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mempelajari bab ini, mahasiswa diharapkan mampu: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396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dan menginterpretasikan ukuran pemusatan data (mean, median, modus) menggunakan 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358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98094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dan menginterpretasikan ukuran penyebaran data (rentang, varians, standar deviasi, IQR).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770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822192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bentuk distribusi data melalui nilai skewness dan kurtosis.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71830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18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66344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outlier menggunakan five-number summary dan boxplot.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559552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559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55046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kerangka kerja Exploratory Data Analysis (EDA) secara sistematis pada dataset bidang Teknik Informatika.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Pemusatan: Mean, Median, dan Modus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deskriptif bertujuan meringkas karakteristik utama suatu himpunan data ke dalam beberapa angka yang mudah diinterpretasikan, sebelum dilakukan analisis inferensi...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dihitung dengan menjumlahkan seluruh nilai lalu membaginya dengan banyaknya observasi, dan sangat sensitif terhadap nilai ekstrem (outlier). Median adal...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Ukuran Pemusatan: Mean, Median, dan Modus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3.1 — Implementasi Ukuran Pemusatan...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waktu respons (ms) dari 12 kali pengujian endpoint API "/checkout"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waktu_respons &lt;- c(210, 195, 205, 640, 198, 215, 202, 208, 199, 640, 211, 206)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Mean: sensitif terhadap dua nilai ekstrem (640, 640) akibat cold-start server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mean(waktu_respons)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Median: jauh lebih tahan terhadap pengaruh nilai ekstrem tersebut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median(waktu_respons)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Modus: R tidak memiliki fungsi bawaan, sehingga dibuat fungsi bantuan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hitung_modus &lt;- function(x)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tabel_frekuensi &lt;- table(x)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as.num...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261.6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206.5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640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Penyebaran: Rentang, Varians, Standar Deviasi, dan IQR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pemusatan saja tidak cukup untuk menggambarkan suatu himpunan data secara utuh, karena dua dataset dapat memiliki mean yang identik namun tingkat variabilitas yang s...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Meskipun kedua layanan pada Kode...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sebuah informasi penting yang tidak akan tertangkap apabila analisis hanya berhenti pada ukuran pemusatan. Dalam konteks Service Level Agreement (SLA), konsi...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Ukuran Penyebaran: Rentang, Varians, Standar Deviasi, dan IQR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3.1 menunjukkan sebuah pelajaran pe...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membandingkan variabilitas latensi dua penyedia layanan cloud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latensi_a &lt;- c(45, 48, 46, 44, 47, 45, 46)          # relatif stabil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latensi_b &lt;- c(20, 70, 35, 60, 25, 65, 45)          # sangat bervariasi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Rentang (range): selisih nilai maksimum dan minimum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diff(range(latensi_a)); diff(range(latensi_b))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Varians dan standar deviasi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var(latensi_a);  sd(latensi_a)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var(latensi_b);  sd(latensi_b)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Interquartile Range (IQR): rentang 50% data di tengah (Q3 - Q1)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IQR(latensi_a)...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50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1.809524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1.345362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358.3333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18.93235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35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dan Kurtosis: Interpretasi Bentuk Distribusi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Selain pemusatan dan penyebaran, bentuk (shape) distribusi data juga menjadi informasi penting, terutama karena banyak metode statistika inferensial (dibahas mulai Bab 6) m...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skewness mendekati nol mengindikasikan distribusi yang relatif simetris; skewness positif menunjukkan ekor memanjang ke kanan (right-skewed, umum terja...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2743200"/>
            <a:ext cx="541782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7940" y="3520440"/>
            <a:ext cx="5052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skewness sebesar 2,48 pada...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77940" y="4069080"/>
            <a:ext cx="50520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dengan intuisi bahwa mayoritas pengguna menghabiskan waktu singkat (2–4 menit), sementara sebagian kecil pengguna “power user” menghabiskan waktu j...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Skewness dan Kurtosis: Interpretasi Bentuk Distribusi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3.2 — Perbandingan ukuran penyebara...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install.packages("e1071")  # jalankan sekali jika belum terpasang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library(e1071)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Studi kasus: durasi sesi pengguna aplikasi (menit) - umumnya right-skewed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durasi_sesi &lt;- c(2, 3, 2.5, 4, 3.2, 2.8, 15, 3.5, 2.1, 4.5, 3, 22, 2.9, 3.3)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skewness(durasi_sesi)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kurtosis(durasi_sesi)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Interpretasi cepat berbasis aturan praktis (rule of thumb)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interpretasi_skew &lt;- ifelse(abs(skewness(durasi_sesi)) &lt; 0.5, "relatif simetris",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ifelse(skewness(durasi_sesi) &gt; 0, "menceng ke 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2.478651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5.395722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"menceng ke kanan (right-skewed)"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Five-Number Summary dan Deteksi Outlier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Five-number summary merangkum sebuah dataset melalui lima nilai: minimum, kuartil pertama (Q1), median (Q2), kuartil ketiga (Q3), dan maksimum. Ringkasan ini menjadi dasar 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Dasar &amp; Relevansi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 metode yang diterapkan pada sistem komputasi dan analisis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292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580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58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580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di 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80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efisien dan fungsi terintegrasi untuk kalkulasi statistik.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7200" y="2743200"/>
            <a:ext cx="353568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008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008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0080" y="3520440"/>
            <a:ext cx="316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Hasil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60080" y="4069080"/>
            <a:ext cx="316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Pemahaman makna parameter dan pengambilan keputusan berbasis data.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Five-Number Summary dan Deteksi Outlier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3.3 — Perhitungan skewness dan kurt...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Melanjutkan studi kasus waktu respons pada Kode R 3.1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waktu_respons &lt;- c(210, 195, 205, 640, 198, 215, 202, 208, 199, 640, 211, 206)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Five-number summary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summary(waktu_respons)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fivenum(waktu_respons)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Menerapkan aturan IQR secara eksplisit untuk mendeteksi outlier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 &lt;- quantile(waktu_respons, 0.25)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 &lt;- quantile(waktu_respons, 0.75)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batas_bawah &lt;- Q1 - 1.5 * IQR(waktu_respons)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batas_atas  &lt;- Q3 + 1.5 * IQR(waktu_respons)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 &lt;- waktu_respons[waktu_respons &lt; batas_bawah | waktu...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Min. 1st Qu.  Median  Mean 3rd Qu.    Max.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195.0   201.8   206.5  261.6   211.8   640.0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195.0 201.5 206.5 211.0 640.0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640 640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Kerja Exploratory Data Analysis (EDA) dengan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(EDA), istilah yang dipopulerkan oleh John Tukey, adalah pendekatan sistematis untuk memahami karakteristik suatu dataset sebelum melangkah ke pem...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struktur data: menjalankan str(), dim(), dan head() untuk mengetahui jumlah observasi, variabel, dan tipe data setiap kolom.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7185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473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473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473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5473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Memeriksa kualitas data: mendeteksi missing value dan duplikasi (sebagaimana dibahas pada Sub-bab 2.7).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506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7794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794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794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7794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univariat: menghitung ukuran pemusatan, penyebaran, skewness/kurtosis untuk setiap variabel numerik secara individual, serta tabel frekuensi untuk v...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18270" y="2743200"/>
            <a:ext cx="259461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115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115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01150" y="3520440"/>
            <a:ext cx="22288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01150" y="4069080"/>
            <a:ext cx="222885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outlier dan anomali: menerapkan aturan IQR atau inspeksi visual melalui boxplot.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Kerangka Kerja Exploratory Data Analysis (EDA) dengan 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3.4 mengonfirmasi secara formal apa...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Fungsi bantuan sederhana untuk Tahap 1-3 EDA pada satu kolom numerik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ringkas_eda &lt;- function(x, nama = "variabel")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variabel = nama,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       = length(x),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n_na     = sum(is.na(x)),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     = round(mean(x, na.rm = TRUE), 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median   = round(median(x, na.rm = TRUE), 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sd       = round(sd(x, na.rm = TRUE), 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IQR      = round(IQR(x, na.rm = TRUE), 2),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skewness = round(e1071::skewness(x, na.rm = TRUE), 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ringkas_eda(waktu_respons, "wa...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variabel  n n_na   mean median    sd  IQR skewness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waktu_respons_ms 12    0 261.58  206.5 158.9 10.5     1.79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EDA pada Dataset Bidang Teknik Informatika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ini mengintegrasikan seluruh teknik pada Bab 3 melalui satu studi kasus utuh: dataset simulasi kinerja mingguan sebuah sistem microservices, mencakup metrik latensi...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292608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EAF4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420624" cy="420624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pada Kode R 3.6 memperliha...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kemungkinan indikasi kegagalan sesaat (transient failure) yang layak diselidiki lebih lanjut oleh tim infrastruktur.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SUB-BAB 3.6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Sintaks &amp; Eksekusi R: Studi Kasus EDA pada Dataset Bidang Teknik Informatika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komputasi statistik langsung pada lingkungan RStudio.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035040" cy="3749040"/>
          </a:xfrm>
          <a:prstGeom prst="roundRect">
            <a:avLst/>
          </a:prstGeom>
          <a:solidFill>
            <a:srgbClr val="16232B"/>
          </a:solidFill>
          <a:ln w="12700">
            <a:solidFill>
              <a:srgbClr val="1623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109728" cy="109728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377440"/>
            <a:ext cx="109728" cy="109728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3172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 R 3.5 — Fungsi bantuan ringkas_eda() ...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library(dplyr)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Simulasi dataset kinerja microservices (5 layanan x 20 observasi)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set.seed(302)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df_microservice &lt;- data.frame(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layanan     = rep(c("auth","payment","catalog","search","notification"), each = 20),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latensi_ms  = c(round(rnorm(20, 80, 10),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round(rnorm(20, 220, 40),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round(rnorm(20, 60, 8),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round(rnorm(20, 150, 25), 1),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round(c(rnorm(18, 40, 5), 300, 320), 1))   # 2 outlier disengaja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240280"/>
            <a:ext cx="4800600" cy="1645920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31720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KONSOL OUTPUT 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95160" y="2560320"/>
            <a:ext cx="4434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tibble: 5 x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layanan          n mean_ms median_ms sd_ms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&lt;chr&gt;        &lt;int&gt;   &lt;dbl&gt;     &lt;dbl&gt; &lt;dbl&gt;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payment         20   224.4     221.3  38.2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search          20   151.8     148.6  24.1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auth            20    79.6      79.9   9.8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3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ca...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109728" cy="10972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40690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fungsi standar R untuk komputasi reproducible.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70916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46634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Perhatikan tipe data input sebelum menerapkan transformasi.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530352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hasil dengan fungsi diagnostik summary() atau print().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 Praktikum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berikut menggunakan studi kasus data throughput (permintaan per detik) dari tiga load balancer. Kerjakan pada satu berkas skrip bernama praktikum_bab3.R.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Membangkitkan data. Buat data frame df_lb dengan kolom load_balancer ("LB-1", "LB-2", "LB-3", masing-masing 15 observasi) dan t...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1945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25146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pemusatan dan penyebaran. Hitung mean(), median(), sd(), dan IQR() dari throughput_rps untuk setiap load balancer menggu...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distribusi. Hitung skewness() untuk throughput_rps setiap load balancer menggunakan package e1071, lalu interpretasikan 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3520440"/>
            <a:ext cx="402336" cy="402336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520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outlier. Terapkan aturan IQR (Q1 - 1.5*IQR, Q3 + 1.5*IQR) pada setiap load balancer untuk mengidentifikasi observasi ou...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402336" cy="40233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463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ringkasan EDA. Gunakan fungsi ringkas_eda() dari Kode R 3.5 (atau modifikasi Anda sendiri) untuk menghasilkan satu tab...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 Bab 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pemusatan (mean, median, modus) menjawab pertanyaan mengenai nilai sentral suatu data; median lebih robust terhadap outlier dibandingkan mean.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691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penyebaran (range, varians, standar deviasi, IQR) mengukur variabilitas data di sekitar pusatnya; dua dataset dengan mean serupa dapat memil...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mengukur ketidaksimetrisan distribusi (positif = menceng kanan, negatif = menceng kiri), sedangkan kurtosis mengukur ketebalan ekor distri...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743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834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Five-number summary (min, Q1, median, Q3, max) menjadi dasar aturan IQR untuk mendeteksi outlier secara formal.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tidak selalu berarti data yang keliru dan perlu dihapus; dalam konteks pemantauan sistem, outlier sering kali merupakan sinyal informatif y...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886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977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adalah kerangka kerja sistematis (memahami struktur → memeriksa kualitas → analisis univariat → deteksi outlier → analisis bivariat → rangkuman...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303520" cy="1005840"/>
          </a:xfrm>
          <a:prstGeom prst="roundRect">
            <a:avLst/>
          </a:prstGeom>
          <a:solidFill>
            <a:srgbClr val="0E4C75">
              <a:alpha val="5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e1071 menyediakan fungsi skewness() dan kurtosis() yang tidak tersedia secara bawaan pada 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Soal &amp; Studi Kasus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8229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pemahaman teoretis dan keterampilan praktikum komputasi R Anda: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A — SOAL TEORI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mengapa median lebih disarankan daripada mean untuk melaporkan “waktu respons tipikal” suatu sistem apabila data menga...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4290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hubungan antara nilai skewness positif dengan posisi mean relatif terhadap median pada suatu distribusi.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aturan IQR untuk mendeteksi outlier, termasuk rumus batas bawah dan batas atas yang digunakan.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47472" cy="34747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Sebutkan dan jelaskan enam tahap kerangka kerja EDA yang dibahas pada Sub-bab 3.5.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B — SOAL PRAKTIK &amp; STUDI KASUS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606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606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560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sepuluh nilai waktu eksekusi query database (ms), hitunglah mean, median, standar deviasi, dan IQR menggunakan R.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3749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749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703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package e1071 untuk menghitung skewness dari data pada soal nomor 6, lalu interpretasikan bentuk distribusinya.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4892040"/>
            <a:ext cx="347472" cy="347472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8463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Tuliskan kode R untuk mengidentifikasi observasi outlier pada data soal nomor 6 menggunakan aturan IQR, dan tampilkan boxplot untuk mengonfirmasi hasil terse...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BAB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Schumacker, R. &amp; Tomek, S. (2013). Understanding Statistics Using R. New York: Springer — Bab 3.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6420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Dalgaard, P. (2008). Introductory Statistics with R, 2nd Edition. New York: Springer — Bab 3.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231136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Navarro, D. (2015). Learning Statistics with R: A Tutorial for Psychology Students and Other Beginners (v0.6). UNSW Press — Bab 4 (Descriptive Statistics).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Selanjutnya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— VISUALISASI DATA DENGAN 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5806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Statistik Teknik (TIF-302) · Program Studi Teknik Informatika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STATISTIKA DESKRIPTIF DAN EKSPLORASI DATA (EDA)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0" y="6510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B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Program Studi Teknik Informatika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3: STATISTIKA DESKRIPTIF DAN EKSPLORASI DATA (EDA)</dc:title>
  <dc:subject>Mata Kuliah Statistik Teknik (TIF-302)</dc:subject>
  <dc:creator>Statistik Teknik dengan R</dc:creator>
  <cp:lastModifiedBy>Statistik Teknik dengan R</cp:lastModifiedBy>
  <cp:revision>1</cp:revision>
  <dcterms:created xsi:type="dcterms:W3CDTF">2026-09-18T10:13:46Z</dcterms:created>
  <dcterms:modified xsi:type="dcterms:W3CDTF">2026-09-18T10:13:46Z</dcterms:modified>
</cp:coreProperties>
</file>