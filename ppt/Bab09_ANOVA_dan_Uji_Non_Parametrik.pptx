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06240"/>
            <a:ext cx="3291840" cy="3291840"/>
          </a:xfrm>
          <a:prstGeom prst="ellipse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· TIF-302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9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9144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DAN UJI NON-PARAMETRIK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RPS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 TERKAIT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4800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WAKTU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5257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50 menit (Teori + Praktikum Laboratorium)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mempelajari bab ini, mahasiswa diharapkan mampu: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39696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analisis varians satu arah (one-way ANOVA) menggunakan R, termasuk uji post-hoc Tukey HSD.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980944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analisis varians dua arah (two-way ANOVA) dan menginterpretasikan efek interaksi antar-faktor.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822192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uji non-parametrik (Kruskal-Wallis dan Mann-Whitney) sebagai alternatif ANOVA dan uji-t.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18304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183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66344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uji Chi-Square untuk goodness of fit dan independensi pada data kategorikal.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559552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559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5504688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uji Shapiro-Wilk sebagai prasyarat dalam menentukan pemilihan uji parametrik atau non-parametrik.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9 · ANOVA DAN UJI NON-PARAMETRIK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9.1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ANOVA: Konsep dan Asumsi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Uji-t dua sampel yang dibahas pada Bab 8 terbatas pada perbandingan DUA kelompok saja. Ketika suatu penelitian melibatkan TIGA kelompok atau lebih (misalnya membandingkan w...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 ilustrasi tingkat kepara...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inflasi risiko yang signifikan. ANOVA, dengan menguji seluruh kelompok secara simultan dalam satu statistik F tunggal, mempertahankan tingkat Kesalaha...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 menguji H0: μ₁ = μ...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apabila rasio ini besar, variasi antar-kelompok jauh melebihi variasi acak dalam kelompok, mengindikasikan adanya perbedaan rata-rata yang sesungguhnya.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Berbeda dari distribusi t pada uji-t (Bab 8) yang simetris terhadap nol, distribusi F pada Kode R 9.1 hanya bernilai non-negatif dan menceng ke kanan (sejala...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9 · ANOVA DAN UJI NON-PARAMETRIK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9.1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One-Way ANOVA: Konsep dan Asumsi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9.1 — Implementasi One-Way ANOVA: K...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Visualisasi daerah kritis distribusi F untuk ANOVA (k=4 kelompok, n=15 tiap kelompok)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df1 &lt;- 3; df2 &lt;- 56   # df1 = k-1, df2 = N-k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&lt;- seq(0, 8, length.out = 400)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densitas_f &lt;- df(x, df1, df2)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f_kritis &lt;- qf(0.95, df1, df2)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df_plot_f &lt;- data.frame(x = x, y = densitas_f,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daerah = ifelse(x &gt; f_kritis, "Daerah Kritis (Tolak H0)", "Daerah Penerimaan H0"))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ggplot(df_plot_f, aes(x = x, y = y, fill = daerah))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geom_area(position = "identity", alpha...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Bartlett test of homogeneity of variances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 waktu_ms by algoritma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Bartlett's K-squared = 22.847, df = 3, p-value = 4.377e-05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Df Sum Sq Mean Sq F value   Pr(&gt;F)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algoritma    3  76543   25514   65.34 &lt;2e-16 ***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Residuals   56  218...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9 · ANOVA DAN UJI NON-PARAMETRIK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9.2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ANOVA dan Interaksi Antar Faktor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ANOVA memperluas one-way ANOVA dengan melibatkan DUA faktor kategorikal secara simultan, memungkinkan analisis pengaruh masing-masing faktor secara terpisah (main e...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matematis, dekomposisi va...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 sebagaimana tampak pada tiga baris keluaran summary(aov()) pada Kode R 9.5 berikut. Praktik yang direkomendasikan adalah memeriksa signifikansi efek I...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 baris pada tabel ANOVA di...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nuansa yang akan hilang sepenuhnya apabila hanya dilakukan dua one-way ANOVA terpisah untuk masing-masing faktor.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plot adalah alat vis...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garis yang TIDAK SEJAJAR (bahkan bersilangan) antar-level suatu faktor mengindikasikan adanya interaksi, sedangkan garis yang SEJAJAR mengindikasikan tidak a...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9 · ANOVA DAN UJI NON-PARAMETRIK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9.2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Two-Way ANOVA dan Interaksi Antar Faktor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9.4 — Perhitungan eta-squared sebag...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waktu respons (ms) dipengaruhi oleh jenis_cache (Redis/Memcached)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dan ukuran_beban (Rendah/Tinggi), dengan kemungkinan efek interaksi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set.seed(902)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df_cache &lt;- expand.grid(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jenis_cache  = c("Redis", "Memcached"),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ukuran_beban = c("Rendah", "Tinggi"),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replikasi    = 1:15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Redis unggul pada beban tinggi, namun performa serupa pada beban rendah (pola interaksi)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df_cache$waktu_ms &lt;- with(df_cache,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ifelse(jenis_cache == "Redis" &amp; ukuran_beban == "Tinggi", rnorm(60, 45, 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Sum Sq Mean Sq F value   Pr(&gt;F)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jenis_cache                1   3648    3648   62.14 4.31e-11 ***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ukuran_beban                1   4127    4127   70.29 8.65e-12 ***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jenis_cache:ukuran_beban    1   2984    2984   50.83 2.14e-09 ***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Residuals      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9 · ANOVA DAN UJI NON-PARAMETRIK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9.3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Non-Parametrik: Kruskal-Wallis dan Mann-Whitney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non-parametrik tidak mengasumsikan bentuk distribusi tertentu (seperti Normal) pada populasi asal data, sehingga menjadi alternatif yang lebih robust ketika asumsi norm...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ditekankan bahwa keunggula...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asumsi normalitas SESUNGGUHNYA terpenuhi, uji non-parametrik umumnya memiliki power yang sedikit lebih rendah dibandingkan uji parametrik yang bersesu...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Mann-Whitney U (juga disebut Wilcoxon rank-sum test) adalah alternatif non-parametrik bagi uji-t dua sampel independen (Bab 8), menguji H0 bahwa kedua po...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Kruskal-Wallis adalah perluasan Mann-Whitney untuk lebih dari dua kelompok, berperan sebagai alternatif non-parametrik bagi one-way ANOVA (Sub-bab 9.1). 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9 · ANOVA DAN UJI NON-PARAMETRIK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9.3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Uji Non-Parametrik: Kruskal-Wallis dan Mann-Whitney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9.6 — Interaction plot yang menunju...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waktu muat halaman (detik) pada dua versi CDN, dengan beberapa outlier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set.seed(903)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cdn_a &lt;- c(rnorm(20, 1.8, 0.3), 5.2, 6.1)      # dua outlier ekstrem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cdn_b &lt;- rnorm(20, 2.1, 0.3)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UJI-T (mengasumsikan normalitas) - berpotensi terdistorsi oleh outlier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t.test(cdn_a, cdn_b)$p.value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UJI MANN-WHITNEY (berbasis peringkat, robust terhadap outlier)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wilcox.test(cdn_a, cdn_b)$p.value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Perbandingan median (statistik yang diuji Mann-Whitney) vs mean (yang diuji uji-t)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c(media...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0.5327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0.007136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median_a  median_b   mean_a   mean_b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1.8021    2.0932   2.2842   2.1247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9 · ANOVA DAN UJI NON-PARAMETRIK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9.4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Chi-Square: Goodness of Fit dan Independensi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Chi-Square goodness of fit menguji apakah distribusi frekuensi suatu variabel kategorikal SESUAI dengan distribusi yang dihipotesiskan (misalnya distribusi seragam, ata...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teoretis, statistik χ² pa...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frekuensi ekspektasi sebaiknya bernilai minimal 5 (sebagaimana akan diperiksa kembali pada Sub-bab 9.4.2 untuk kasus tabel kontingensi). Derajat beba...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yang sangat kecil (0,000...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temuan yang perlu ditindaklanjuti oleh tim infrastruktur, misalnya dengan memeriksa konfigurasi algoritma load balancing yang digunakan.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Chi-Square independensi menguji apakah DUA variabel kategorikal saling bebas (independen) atau berasosiasi, berdasarkan tabel kontingensi (contingency ta...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9 · ANOVA DAN UJI NON-PARAMETRIK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9.4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Uji Chi-Square: Goodness of Fit dan Independensi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9.8 — Uji Kruskal-Wallis dan post-h...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apakah traffic request terdistribusi MERATA di antara 4 server load balancer?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frekuensi_request &lt;- c(SRV1 = 245, SRV2 = 268, SRV3 = 198, SRV4 = 289)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H0: proporsi request SAMA RATA (25% masing-masing server)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chisq.test(frekuensi_request)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Chi-squared test for given probabilities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 frekuensi_request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X-squared = 21.02, df = 3, p-value = 0.0001042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9 · ANOVA DAN UJI NON-PARAMETRIK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9.5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Shapiro-Wilk sebagai Prasyarat Pemilihan Uji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penutup ini merangkum peran sentral uji Shapiro-Wilk (diperkenalkan pada Sub-bab 6.6) sebagai gerbang keputusan (decision gate) yang menentukan apakah suatu analisi...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pilih_uji_grup() pada Kod...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mengonfirmasi keputusan yang telah diambil secara manual pada Sub-bab 9.3.3.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Sebagai rangkuman praktis atas seluruh varian uji perbandingan kelompok dan uji kategorikal yang dibahas pada Bab 9, tabel berikut dapat dijadikan panduan ce...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9.1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cepat pemilihan uji parametrik dan padanan non-parametriknya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9 · ANOVA DAN UJI NON-PARAMETRIK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9.5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Uji Shapiro-Wilk sebagai Prasyarat Pemilihan Uji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9.11 — Perhitungan Cramér's V sebag...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Fungsi bantuan: alur kerja otomatis pemilihan ANOVA vs Kruskal-Wallis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berdasarkan hasil uji Shapiro-Wilk pada RESIDUAL model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pilih_uji_grup &lt;- function(formula, data, alpha = 0.05)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 &lt;- aov(formula, data = data)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p_normalitas &lt;- shapiro.test(residuals(model))$p.value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p_varians    &lt;- bartlett.test(formula, data = data)$p.value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asumsi_terpenuhi &lt;- (p_normalitas &gt;= alpha) &amp; (p_varians &gt;= alpha)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(asumsi_terpenuhi)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hasil &lt;- summary(model)[[1]]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list(metode = "One-W...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$metode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"Kruskal-Wallis"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$p_normalitas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0.0002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$p_varians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$p_value_uji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2.396e-11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9 · ANOVA DAN UJI NON-PARAMETRIK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Praktikum 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berikut menggunakan studi kasus evaluasi performa beberapa varian konfigurasi sistem basis data. Kerjakan pada satu berkas skrip bernama praktikum_bab9.R.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Diagnostik visual daerah kritis. Bangkitkan visualisasi distribusi F (mengikuti Kode R 9.1) untuk k=3 kelompok dengan total n=4...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ANOVA. Bangkitkan data waktu kueri (query) dari 4 mesin basis data berbeda (masing-masing n=18), periksa homogenitas va...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dan effect size. Menggunakan hasil Langkah 2, lakukan uji post-hoc TukeyHSD() untuk mengidentifikasi pasangan mesin ba...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52044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ANOVA dan interaksi. Bangkitkan data waktu kueri yang dipengaruhi oleh jenis_index (B-Tree/Hash) dan ukuran_tabel (Keci...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Mann-Whitney. Bangkitkan dua kelompok data waktu respons dengan beberapa outlier ekstrem pada salah satu kelompok, lakukan uji-...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84632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dan post-hoc. Menggunakan data pada Langkah 2 (atau data lain yang melanggar asumsi ANOVA), lakukan uji Kruskal-...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9 · ANOVA DAN UJI NON-PARAMETRIK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Poin-Poin Kunci Bab 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 menguji kesamaan rata-rata di antara tiga kelompok atau lebih secara simultan, menghindari inflasi Kesalahan Tipe I yang terjadi apab...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mendekomposisi variasi total menjadi variasi antar-kelompok (SSB) dan variasi dalam kelompok (SSW); statistik uji F adalah rasio kedua kompon...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F hanya bernilai non-negatif dan menceng ke kanan, sehingga daerah kritis ANOVA selalu berada pada satu ekor (kanan) meskipun H1 pada AN...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yang signifikan hanya menunjukkan adanya PERBEDAAN, bukan PASANGAN mana yang berbeda; uji post-hoc Tukey HSD menjawab pertanyaan ini sambil m...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Eta-squared (η²) mengukur proporsi variasi total yang dijelaskan oleh faktor kelompok, sebagai effect size pendamping ANOVA.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ANOVA menguji dua faktor sekaligus beserta efek interaksinya; efek interaksi signifikan berarti pengaruh satu faktor bergantung pada level ...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non-parametrik (Mann-Whitney, Kruskal-Wallis) bekerja berdasarkan peringkat data, sehingga lebih robust terhadap outlier dan pelanggaran normal...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Chi-Square goodness of fit menguji kesesuaian distribusi frekuensi kategorikal dengan proporsi yang dihipotesiskan; uji Chi-Square independensi...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9 · ANOVA DAN UJI NON-PARAMETRIK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Soal &amp; Studi Kasus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pemahaman teoretis dan keterampilan praktikum komputasi R Anda: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A — SOAL TEORI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5603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mengapa melakukan uji-t berpasangan berulang kali pada lebih dari dua kelompok berisiko meningkatkan Kesalahan Tipe I,...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429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prinsip dekomposisi varians pada ANOVA (SSB dan SSW), serta bagaimana keduanya membentuk statistik uji F.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43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297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mengapa daerah kritis pada distribusi F hanya berada pada satu ekor, meskipun H1 pada ANOVA bersifat non-direksional (...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12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51663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mengapa ANOVA yang signifikan memerlukan uji post-hoc, dan jelaskan peran penyesuaian p-value pada Tukey HSD.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B — SOAL PRAKTIK &amp; STUDI KASUS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606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560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bagaimana pola garis pada interaction plot dapat digunakan untuk mengidentifikasi ada/tidaknya efek interaksi.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3749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3703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mengapa uji Mann-Whitney dan Kruskal-Wallis lebih robust terhadap outlier dibandingkan uji-t dan ANOVA.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4892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perbedaan antara uji Chi-Square goodness of fit dan uji Chi-Square independensi, termasuk jenis data yang sesuai untuk masing-masing.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9 · ANOVA DAN UJI NON-PARAMETRIK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BAB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Dalgaard, P. (2008). Introductory Statistics with R, 2nd Edition. New York: Springer — Bab 8.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Schumacker, R. &amp; Tomek, S. (2013). Understanding Statistics Using R. New York: Springer — Bab 9.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31136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Seefeld, K. &amp; Linder, E. (2007). Statistics Using R with Biological Examples. University of New Hampshire — Bab 4–5.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Selanjutnya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 — REGRESI LINEAR SEDERHANA DAN BERGANDA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(TIF-302) · Program Studi Teknik Informatika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9 · ANOVA DAN UJI NON-PARAMETRIK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Program Studi Teknik Informatika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9: ANOVA DAN UJI NON-PARAMETRIK</dc:title>
  <dc:subject>Mata Kuliah Statistik Teknik (TIF-302)</dc:subject>
  <dc:creator>Statistik Teknik dengan R</dc:creator>
  <cp:lastModifiedBy>Statistik Teknik dengan R</cp:lastModifiedBy>
  <cp:revision>1</cp:revision>
  <dcterms:created xsi:type="dcterms:W3CDTF">2026-09-18T10:13:46Z</dcterms:created>
  <dcterms:modified xsi:type="dcterms:W3CDTF">2026-09-18T10:13:46Z</dcterms:modified>
</cp:coreProperties>
</file>