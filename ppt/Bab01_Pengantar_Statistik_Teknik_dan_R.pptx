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5D"/>
        </a:solidFill>
      </p:bgPr>
    </p:bg>
    <p:spTree>
      <p:nvGrpSpPr>
        <p:cNvPr id="1" name=""/>
        <p:cNvGrpSpPr/>
        <p:nvPr/>
      </p:nvGrpSpPr>
      <p:grpSpPr>
        <a:xfrm>
          <a:off x="0" y="0"/>
          <a:ext cx="0" cy="0"/>
          <a:chOff x="0" y="0"/>
          <a:chExt cx="0" cy="0"/>
        </a:xfrm>
      </p:grpSpPr>
      <p:sp>
        <p:nvSpPr>
          <p:cNvPr id="2" name="Shape 0"/>
          <p:cNvSpPr/>
          <p:nvPr/>
        </p:nvSpPr>
        <p:spPr>
          <a:xfrm>
            <a:off x="8778240" y="-1280160"/>
            <a:ext cx="5029200" cy="5029200"/>
          </a:xfrm>
          <a:prstGeom prst="ellipse">
            <a:avLst/>
          </a:prstGeom>
          <a:solidFill>
            <a:srgbClr val="1C7293">
              <a:alpha val="22000"/>
            </a:srgbClr>
          </a:solidFill>
          <a:ln/>
        </p:spPr>
      </p:sp>
      <p:sp>
        <p:nvSpPr>
          <p:cNvPr id="3" name="Shape 1"/>
          <p:cNvSpPr/>
          <p:nvPr/>
        </p:nvSpPr>
        <p:spPr>
          <a:xfrm>
            <a:off x="9875520" y="4206240"/>
            <a:ext cx="3291840" cy="3291840"/>
          </a:xfrm>
          <a:prstGeom prst="ellipse">
            <a:avLst/>
          </a:prstGeom>
          <a:solidFill>
            <a:srgbClr val="F4A261">
              <a:alpha val="18000"/>
            </a:srgbClr>
          </a:solidFill>
          <a:ln/>
        </p:spPr>
      </p:sp>
      <p:sp>
        <p:nvSpPr>
          <p:cNvPr id="4" name="Text 2"/>
          <p:cNvSpPr txBox="1"/>
          <p:nvPr/>
        </p:nvSpPr>
        <p:spPr>
          <a:xfrm>
            <a:off x="548640" y="1051560"/>
            <a:ext cx="8229600" cy="365760"/>
          </a:xfrm>
          <a:prstGeom prst="rect">
            <a:avLst/>
          </a:prstGeom>
          <a:noFill/>
          <a:ln/>
        </p:spPr>
        <p:txBody>
          <a:bodyPr wrap="square" lIns="0" tIns="0" rIns="0" bIns="0" rtlCol="0" anchor="ctr"/>
          <a:lstStyle/>
          <a:p>
            <a:pPr indent="0" marL="0">
              <a:buNone/>
            </a:pPr>
            <a:r>
              <a:rPr lang="en-US" sz="1400" b="1" spc="200" kern="0" dirty="0">
                <a:solidFill>
                  <a:srgbClr val="F4A261"/>
                </a:solidFill>
                <a:latin typeface="Calibri" pitchFamily="34" charset="0"/>
                <a:ea typeface="Calibri" pitchFamily="34" charset="-122"/>
                <a:cs typeface="Calibri" pitchFamily="34" charset="-120"/>
              </a:rPr>
              <a:t>MATA KULIAH STATISTIK TEKNIK · TIF-302</a:t>
            </a:r>
            <a:endParaRPr lang="en-US" sz="1400" dirty="0"/>
          </a:p>
        </p:txBody>
      </p:sp>
      <p:sp>
        <p:nvSpPr>
          <p:cNvPr id="5" name="Text 3"/>
          <p:cNvSpPr txBox="1"/>
          <p:nvPr/>
        </p:nvSpPr>
        <p:spPr>
          <a:xfrm>
            <a:off x="548640" y="1508760"/>
            <a:ext cx="8229600" cy="640080"/>
          </a:xfrm>
          <a:prstGeom prst="rect">
            <a:avLst/>
          </a:prstGeom>
          <a:noFill/>
          <a:ln/>
        </p:spPr>
        <p:txBody>
          <a:bodyPr wrap="square" lIns="0" tIns="0" rIns="0" bIns="0" rtlCol="0" anchor="ctr"/>
          <a:lstStyle/>
          <a:p>
            <a:pPr indent="0" marL="0">
              <a:buNone/>
            </a:pPr>
            <a:r>
              <a:rPr lang="en-US" sz="2400" b="1" dirty="0">
                <a:solidFill>
                  <a:srgbClr val="9FB8C7"/>
                </a:solidFill>
                <a:latin typeface="Cambria" pitchFamily="34" charset="0"/>
                <a:ea typeface="Cambria" pitchFamily="34" charset="-122"/>
                <a:cs typeface="Cambria" pitchFamily="34" charset="-120"/>
              </a:rPr>
              <a:t>BAB 1</a:t>
            </a:r>
            <a:endParaRPr lang="en-US" sz="2400" dirty="0"/>
          </a:p>
        </p:txBody>
      </p:sp>
      <p:sp>
        <p:nvSpPr>
          <p:cNvPr id="6" name="Text 4"/>
          <p:cNvSpPr txBox="1"/>
          <p:nvPr/>
        </p:nvSpPr>
        <p:spPr>
          <a:xfrm>
            <a:off x="548640" y="2057400"/>
            <a:ext cx="8778240" cy="1737360"/>
          </a:xfrm>
          <a:prstGeom prst="rect">
            <a:avLst/>
          </a:prstGeom>
          <a:noFill/>
          <a:ln/>
        </p:spPr>
        <p:txBody>
          <a:bodyPr wrap="square" lIns="0" tIns="0" rIns="0" bIns="0" rtlCol="0" anchor="ctr"/>
          <a:lstStyle/>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Pengantar Statistik Teknik</a:t>
            </a:r>
            <a:endParaRPr lang="en-US" sz="4400" dirty="0"/>
          </a:p>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dan Lingkungan R</a:t>
            </a:r>
            <a:endParaRPr lang="en-US" sz="4400" dirty="0"/>
          </a:p>
        </p:txBody>
      </p:sp>
      <p:sp>
        <p:nvSpPr>
          <p:cNvPr id="7" name="Shape 5"/>
          <p:cNvSpPr/>
          <p:nvPr/>
        </p:nvSpPr>
        <p:spPr>
          <a:xfrm>
            <a:off x="548640" y="3977640"/>
            <a:ext cx="1005840" cy="45720"/>
          </a:xfrm>
          <a:prstGeom prst="rect">
            <a:avLst/>
          </a:prstGeom>
          <a:solidFill>
            <a:srgbClr val="F4A261"/>
          </a:solidFill>
          <a:ln/>
        </p:spPr>
      </p:sp>
      <p:sp>
        <p:nvSpPr>
          <p:cNvPr id="8" name="Text 6"/>
          <p:cNvSpPr txBox="1"/>
          <p:nvPr/>
        </p:nvSpPr>
        <p:spPr>
          <a:xfrm>
            <a:off x="548640" y="4343400"/>
            <a:ext cx="2377440" cy="365760"/>
          </a:xfrm>
          <a:prstGeom prst="rect">
            <a:avLst/>
          </a:prstGeom>
          <a:noFill/>
          <a:ln/>
        </p:spPr>
        <p:txBody>
          <a:bodyPr wrap="square" lIns="0" tIns="0" rIns="0" bIns="0" rtlCol="0" anchor="ctr"/>
          <a:lstStyle/>
          <a:p>
            <a:pPr indent="0" marL="0">
              <a:buNone/>
            </a:pPr>
            <a:r>
              <a:rPr lang="en-US" sz="1100" b="1" dirty="0">
                <a:solidFill>
                  <a:srgbClr val="7FA3B5"/>
                </a:solidFill>
                <a:latin typeface="Calibri" pitchFamily="34" charset="0"/>
                <a:ea typeface="Calibri" pitchFamily="34" charset="-122"/>
                <a:cs typeface="Calibri" pitchFamily="34" charset="-120"/>
              </a:rPr>
              <a:t>PERTEMUAN RPS</a:t>
            </a:r>
            <a:endParaRPr lang="en-US" sz="1100" dirty="0"/>
          </a:p>
        </p:txBody>
      </p:sp>
      <p:sp>
        <p:nvSpPr>
          <p:cNvPr id="9" name="Text 7"/>
          <p:cNvSpPr txBox="1"/>
          <p:nvPr/>
        </p:nvSpPr>
        <p:spPr>
          <a:xfrm>
            <a:off x="2926080" y="4343400"/>
            <a:ext cx="64008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Pertemuan 1</a:t>
            </a:r>
            <a:endParaRPr lang="en-US" sz="1300" dirty="0"/>
          </a:p>
        </p:txBody>
      </p:sp>
      <p:sp>
        <p:nvSpPr>
          <p:cNvPr id="10" name="Text 8"/>
          <p:cNvSpPr txBox="1"/>
          <p:nvPr/>
        </p:nvSpPr>
        <p:spPr>
          <a:xfrm>
            <a:off x="548640" y="4800600"/>
            <a:ext cx="2377440" cy="365760"/>
          </a:xfrm>
          <a:prstGeom prst="rect">
            <a:avLst/>
          </a:prstGeom>
          <a:noFill/>
          <a:ln/>
        </p:spPr>
        <p:txBody>
          <a:bodyPr wrap="square" lIns="0" tIns="0" rIns="0" bIns="0" rtlCol="0" anchor="ctr"/>
          <a:lstStyle/>
          <a:p>
            <a:pPr indent="0" marL="0">
              <a:buNone/>
            </a:pPr>
            <a:r>
              <a:rPr lang="en-US" sz="1100" b="1" dirty="0">
                <a:solidFill>
                  <a:srgbClr val="7FA3B5"/>
                </a:solidFill>
                <a:latin typeface="Calibri" pitchFamily="34" charset="0"/>
                <a:ea typeface="Calibri" pitchFamily="34" charset="-122"/>
                <a:cs typeface="Calibri" pitchFamily="34" charset="-120"/>
              </a:rPr>
              <a:t>CPMK TERKAIT</a:t>
            </a:r>
            <a:endParaRPr lang="en-US" sz="1100" dirty="0"/>
          </a:p>
        </p:txBody>
      </p:sp>
      <p:sp>
        <p:nvSpPr>
          <p:cNvPr id="11" name="Text 9"/>
          <p:cNvSpPr txBox="1"/>
          <p:nvPr/>
        </p:nvSpPr>
        <p:spPr>
          <a:xfrm>
            <a:off x="2926080" y="4800600"/>
            <a:ext cx="64008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CPMK-1</a:t>
            </a:r>
            <a:endParaRPr lang="en-US" sz="1300" dirty="0"/>
          </a:p>
        </p:txBody>
      </p:sp>
      <p:sp>
        <p:nvSpPr>
          <p:cNvPr id="12" name="Text 10"/>
          <p:cNvSpPr txBox="1"/>
          <p:nvPr/>
        </p:nvSpPr>
        <p:spPr>
          <a:xfrm>
            <a:off x="548640" y="5257800"/>
            <a:ext cx="2377440" cy="365760"/>
          </a:xfrm>
          <a:prstGeom prst="rect">
            <a:avLst/>
          </a:prstGeom>
          <a:noFill/>
          <a:ln/>
        </p:spPr>
        <p:txBody>
          <a:bodyPr wrap="square" lIns="0" tIns="0" rIns="0" bIns="0" rtlCol="0" anchor="ctr"/>
          <a:lstStyle/>
          <a:p>
            <a:pPr indent="0" marL="0">
              <a:buNone/>
            </a:pPr>
            <a:r>
              <a:rPr lang="en-US" sz="1100" b="1" dirty="0">
                <a:solidFill>
                  <a:srgbClr val="7FA3B5"/>
                </a:solidFill>
                <a:latin typeface="Calibri" pitchFamily="34" charset="0"/>
                <a:ea typeface="Calibri" pitchFamily="34" charset="-122"/>
                <a:cs typeface="Calibri" pitchFamily="34" charset="-120"/>
              </a:rPr>
              <a:t>ALOKASI WAKTU</a:t>
            </a:r>
            <a:endParaRPr lang="en-US" sz="1100" dirty="0"/>
          </a:p>
        </p:txBody>
      </p:sp>
      <p:sp>
        <p:nvSpPr>
          <p:cNvPr id="13" name="Text 11"/>
          <p:cNvSpPr txBox="1"/>
          <p:nvPr/>
        </p:nvSpPr>
        <p:spPr>
          <a:xfrm>
            <a:off x="2926080" y="5257800"/>
            <a:ext cx="64008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 × 50 menit (Teori + Demonstrasi)</a:t>
            </a:r>
            <a:endParaRPr lang="en-US" sz="1300" dirty="0"/>
          </a:p>
        </p:txBody>
      </p:sp>
      <p:sp>
        <p:nvSpPr>
          <p:cNvPr id="14" name="Text 12"/>
          <p:cNvSpPr txBox="1"/>
          <p:nvPr/>
        </p:nvSpPr>
        <p:spPr>
          <a:xfrm>
            <a:off x="548640" y="6217920"/>
            <a:ext cx="7315200" cy="365760"/>
          </a:xfrm>
          <a:prstGeom prst="rect">
            <a:avLst/>
          </a:prstGeom>
          <a:noFill/>
          <a:ln/>
        </p:spPr>
        <p:txBody>
          <a:bodyPr wrap="square" lIns="0" tIns="0" rIns="0" bIns="0" rtlCol="0" anchor="ctr"/>
          <a:lstStyle/>
          <a:p>
            <a:pPr indent="0" marL="0">
              <a:buNone/>
            </a:pPr>
            <a:r>
              <a:rPr lang="en-US" sz="1100" dirty="0">
                <a:solidFill>
                  <a:srgbClr val="6E8B98"/>
                </a:solidFill>
                <a:latin typeface="Calibri" pitchFamily="34" charset="0"/>
                <a:ea typeface="Calibri" pitchFamily="34" charset="-122"/>
                <a:cs typeface="Calibri" pitchFamily="34" charset="-120"/>
              </a:rPr>
              <a:t>Program Studi Teknik Informatika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300" b="1" spc="100" kern="0" dirty="0">
                <a:solidFill>
                  <a:srgbClr val="1C7293"/>
                </a:solidFill>
                <a:latin typeface="Calibri" pitchFamily="34" charset="0"/>
                <a:ea typeface="Calibri" pitchFamily="34" charset="-122"/>
                <a:cs typeface="Calibri" pitchFamily="34" charset="-120"/>
              </a:rPr>
              <a:t>CPMK-1</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0B3C5D"/>
                </a:solidFill>
                <a:latin typeface="Cambria" pitchFamily="34" charset="0"/>
                <a:ea typeface="Cambria" pitchFamily="34" charset="-122"/>
                <a:cs typeface="Cambria" pitchFamily="34" charset="-120"/>
              </a:rPr>
              <a:t>Tujuan Pembelajaran</a:t>
            </a:r>
            <a:endParaRPr lang="en-US" sz="3000" dirty="0"/>
          </a:p>
        </p:txBody>
      </p:sp>
      <p:sp>
        <p:nvSpPr>
          <p:cNvPr id="4" name="Shape 2"/>
          <p:cNvSpPr/>
          <p:nvPr/>
        </p:nvSpPr>
        <p:spPr>
          <a:xfrm>
            <a:off x="548640" y="1389888"/>
            <a:ext cx="822960" cy="41148"/>
          </a:xfrm>
          <a:prstGeom prst="rect">
            <a:avLst/>
          </a:prstGeom>
          <a:solidFill>
            <a:srgbClr val="F4A261"/>
          </a:solidFill>
          <a:ln/>
        </p:spPr>
      </p:sp>
      <p:sp>
        <p:nvSpPr>
          <p:cNvPr id="5" name="Text 3"/>
          <p:cNvSpPr txBox="1"/>
          <p:nvPr/>
        </p:nvSpPr>
        <p:spPr>
          <a:xfrm>
            <a:off x="548640" y="1600200"/>
            <a:ext cx="9144000" cy="365760"/>
          </a:xfrm>
          <a:prstGeom prst="rect">
            <a:avLst/>
          </a:prstGeom>
          <a:noFill/>
          <a:ln/>
        </p:spPr>
        <p:txBody>
          <a:bodyPr wrap="square" lIns="0" tIns="0" rIns="0" bIns="0" rtlCol="0" anchor="ctr"/>
          <a:lstStyle/>
          <a:p>
            <a:pPr indent="0" marL="0">
              <a:buNone/>
            </a:pPr>
            <a:r>
              <a:rPr lang="en-US" sz="1300" i="1" dirty="0">
                <a:solidFill>
                  <a:srgbClr val="5C6E76"/>
                </a:solidFill>
                <a:latin typeface="Calibri" pitchFamily="34" charset="0"/>
                <a:ea typeface="Calibri" pitchFamily="34" charset="-122"/>
                <a:cs typeface="Calibri" pitchFamily="34" charset="-120"/>
              </a:rPr>
              <a:t>Setelah mempelajari bab ini, mahasiswa diharapkan mampu:</a:t>
            </a:r>
            <a:endParaRPr lang="en-US" sz="1300" dirty="0"/>
          </a:p>
        </p:txBody>
      </p:sp>
      <p:sp>
        <p:nvSpPr>
          <p:cNvPr id="6" name="Shape 4"/>
          <p:cNvSpPr/>
          <p:nvPr/>
        </p:nvSpPr>
        <p:spPr>
          <a:xfrm>
            <a:off x="548640" y="2148840"/>
            <a:ext cx="420624" cy="420624"/>
          </a:xfrm>
          <a:prstGeom prst="ellipse">
            <a:avLst/>
          </a:prstGeom>
          <a:solidFill>
            <a:srgbClr val="0B3C5D"/>
          </a:solidFill>
          <a:ln/>
        </p:spPr>
      </p:sp>
      <p:sp>
        <p:nvSpPr>
          <p:cNvPr id="7" name="Text 5"/>
          <p:cNvSpPr txBox="1"/>
          <p:nvPr/>
        </p:nvSpPr>
        <p:spPr>
          <a:xfrm>
            <a:off x="548640" y="214884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188720" y="2093976"/>
            <a:ext cx="10424160" cy="749808"/>
          </a:xfrm>
          <a:prstGeom prst="rect">
            <a:avLst/>
          </a:prstGeom>
          <a:noFill/>
          <a:ln/>
        </p:spPr>
        <p:txBody>
          <a:bodyPr wrap="square" lIns="0" tIns="0" rIns="0" bIns="0" rtlCol="0" anchor="ctr"/>
          <a:lstStyle/>
          <a:p>
            <a:pPr indent="0" marL="0">
              <a:buNone/>
            </a:pPr>
            <a:r>
              <a:rPr lang="en-US" sz="1400" dirty="0">
                <a:solidFill>
                  <a:srgbClr val="1B2A32"/>
                </a:solidFill>
                <a:latin typeface="Calibri" pitchFamily="34" charset="0"/>
                <a:ea typeface="Calibri" pitchFamily="34" charset="-122"/>
                <a:cs typeface="Calibri" pitchFamily="34" charset="-120"/>
              </a:rPr>
              <a:t>Menjelaskan peran dan kontribusi statistika dalam pengambilan keputusan berbasis data pada bidang Teknik Informatika.</a:t>
            </a:r>
            <a:endParaRPr lang="en-US" sz="1400" dirty="0"/>
          </a:p>
        </p:txBody>
      </p:sp>
      <p:sp>
        <p:nvSpPr>
          <p:cNvPr id="9" name="Shape 7"/>
          <p:cNvSpPr/>
          <p:nvPr/>
        </p:nvSpPr>
        <p:spPr>
          <a:xfrm>
            <a:off x="548640" y="2990088"/>
            <a:ext cx="420624" cy="420624"/>
          </a:xfrm>
          <a:prstGeom prst="ellipse">
            <a:avLst/>
          </a:prstGeom>
          <a:solidFill>
            <a:srgbClr val="1C7293"/>
          </a:solidFill>
          <a:ln/>
        </p:spPr>
      </p:sp>
      <p:sp>
        <p:nvSpPr>
          <p:cNvPr id="10" name="Text 8"/>
          <p:cNvSpPr txBox="1"/>
          <p:nvPr/>
        </p:nvSpPr>
        <p:spPr>
          <a:xfrm>
            <a:off x="548640" y="299008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188720" y="2935224"/>
            <a:ext cx="10424160" cy="749808"/>
          </a:xfrm>
          <a:prstGeom prst="rect">
            <a:avLst/>
          </a:prstGeom>
          <a:noFill/>
          <a:ln/>
        </p:spPr>
        <p:txBody>
          <a:bodyPr wrap="square" lIns="0" tIns="0" rIns="0" bIns="0" rtlCol="0" anchor="ctr"/>
          <a:lstStyle/>
          <a:p>
            <a:pPr indent="0" marL="0">
              <a:buNone/>
            </a:pPr>
            <a:r>
              <a:rPr lang="en-US" sz="1400" dirty="0">
                <a:solidFill>
                  <a:srgbClr val="1B2A32"/>
                </a:solidFill>
                <a:latin typeface="Calibri" pitchFamily="34" charset="0"/>
                <a:ea typeface="Calibri" pitchFamily="34" charset="-122"/>
                <a:cs typeface="Calibri" pitchFamily="34" charset="-120"/>
              </a:rPr>
              <a:t>Melakukan instalasi dan konfigurasi perangkat lunak R serta lingkungan pengembangan RStudio secara mandiri.</a:t>
            </a:r>
            <a:endParaRPr lang="en-US" sz="1400" dirty="0"/>
          </a:p>
        </p:txBody>
      </p:sp>
      <p:sp>
        <p:nvSpPr>
          <p:cNvPr id="12" name="Shape 10"/>
          <p:cNvSpPr/>
          <p:nvPr/>
        </p:nvSpPr>
        <p:spPr>
          <a:xfrm>
            <a:off x="548640" y="3831336"/>
            <a:ext cx="420624" cy="420624"/>
          </a:xfrm>
          <a:prstGeom prst="ellipse">
            <a:avLst/>
          </a:prstGeom>
          <a:solidFill>
            <a:srgbClr val="0B3C5D"/>
          </a:solidFill>
          <a:ln/>
        </p:spPr>
      </p:sp>
      <p:sp>
        <p:nvSpPr>
          <p:cNvPr id="13" name="Text 11"/>
          <p:cNvSpPr txBox="1"/>
          <p:nvPr/>
        </p:nvSpPr>
        <p:spPr>
          <a:xfrm>
            <a:off x="548640" y="383133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188720" y="3776472"/>
            <a:ext cx="10424160" cy="749808"/>
          </a:xfrm>
          <a:prstGeom prst="rect">
            <a:avLst/>
          </a:prstGeom>
          <a:noFill/>
          <a:ln/>
        </p:spPr>
        <p:txBody>
          <a:bodyPr wrap="square" lIns="0" tIns="0" rIns="0" bIns="0" rtlCol="0" anchor="ctr"/>
          <a:lstStyle/>
          <a:p>
            <a:pPr indent="0" marL="0">
              <a:buNone/>
            </a:pPr>
            <a:r>
              <a:rPr lang="en-US" sz="1400" dirty="0">
                <a:solidFill>
                  <a:srgbClr val="1B2A32"/>
                </a:solidFill>
                <a:latin typeface="Calibri" pitchFamily="34" charset="0"/>
                <a:ea typeface="Calibri" pitchFamily="34" charset="-122"/>
                <a:cs typeface="Calibri" pitchFamily="34" charset="-120"/>
              </a:rPr>
              <a:t>Menuliskan sintaks dasar R meliputi variabel, operator, dan tipe data secara benar.</a:t>
            </a:r>
            <a:endParaRPr lang="en-US" sz="1400" dirty="0"/>
          </a:p>
        </p:txBody>
      </p:sp>
      <p:sp>
        <p:nvSpPr>
          <p:cNvPr id="15" name="Shape 13"/>
          <p:cNvSpPr/>
          <p:nvPr/>
        </p:nvSpPr>
        <p:spPr>
          <a:xfrm>
            <a:off x="548640" y="4672584"/>
            <a:ext cx="420624" cy="420624"/>
          </a:xfrm>
          <a:prstGeom prst="ellipse">
            <a:avLst/>
          </a:prstGeom>
          <a:solidFill>
            <a:srgbClr val="1C7293"/>
          </a:solidFill>
          <a:ln/>
        </p:spPr>
      </p:sp>
      <p:sp>
        <p:nvSpPr>
          <p:cNvPr id="16" name="Text 14"/>
          <p:cNvSpPr txBox="1"/>
          <p:nvPr/>
        </p:nvSpPr>
        <p:spPr>
          <a:xfrm>
            <a:off x="548640" y="46725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188720" y="4617720"/>
            <a:ext cx="10424160" cy="749808"/>
          </a:xfrm>
          <a:prstGeom prst="rect">
            <a:avLst/>
          </a:prstGeom>
          <a:noFill/>
          <a:ln/>
        </p:spPr>
        <p:txBody>
          <a:bodyPr wrap="square" lIns="0" tIns="0" rIns="0" bIns="0" rtlCol="0" anchor="ctr"/>
          <a:lstStyle/>
          <a:p>
            <a:pPr indent="0" marL="0">
              <a:buNone/>
            </a:pPr>
            <a:r>
              <a:rPr lang="en-US" sz="1400" dirty="0">
                <a:solidFill>
                  <a:srgbClr val="1B2A32"/>
                </a:solidFill>
                <a:latin typeface="Calibri" pitchFamily="34" charset="0"/>
                <a:ea typeface="Calibri" pitchFamily="34" charset="-122"/>
                <a:cs typeface="Calibri" pitchFamily="34" charset="-120"/>
              </a:rPr>
              <a:t>Membedakan dan mengonstruksi struktur data fundamental R (vector, matrix, array, dan data frame).</a:t>
            </a:r>
            <a:endParaRPr lang="en-US" sz="1400" dirty="0"/>
          </a:p>
        </p:txBody>
      </p:sp>
      <p:sp>
        <p:nvSpPr>
          <p:cNvPr id="18" name="Shape 16"/>
          <p:cNvSpPr/>
          <p:nvPr/>
        </p:nvSpPr>
        <p:spPr>
          <a:xfrm>
            <a:off x="548640" y="5513832"/>
            <a:ext cx="420624" cy="420624"/>
          </a:xfrm>
          <a:prstGeom prst="ellipse">
            <a:avLst/>
          </a:prstGeom>
          <a:solidFill>
            <a:srgbClr val="0B3C5D"/>
          </a:solidFill>
          <a:ln/>
        </p:spPr>
      </p:sp>
      <p:sp>
        <p:nvSpPr>
          <p:cNvPr id="19" name="Text 17"/>
          <p:cNvSpPr txBox="1"/>
          <p:nvPr/>
        </p:nvSpPr>
        <p:spPr>
          <a:xfrm>
            <a:off x="548640" y="55138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188720" y="5458968"/>
            <a:ext cx="10424160" cy="749808"/>
          </a:xfrm>
          <a:prstGeom prst="rect">
            <a:avLst/>
          </a:prstGeom>
          <a:noFill/>
          <a:ln/>
        </p:spPr>
        <p:txBody>
          <a:bodyPr wrap="square" lIns="0" tIns="0" rIns="0" bIns="0" rtlCol="0" anchor="ctr"/>
          <a:lstStyle/>
          <a:p>
            <a:pPr indent="0" marL="0">
              <a:buNone/>
            </a:pPr>
            <a:r>
              <a:rPr lang="en-US" sz="1400" dirty="0">
                <a:solidFill>
                  <a:srgbClr val="1B2A32"/>
                </a:solidFill>
                <a:latin typeface="Calibri" pitchFamily="34" charset="0"/>
                <a:ea typeface="Calibri" pitchFamily="34" charset="-122"/>
                <a:cs typeface="Calibri" pitchFamily="34" charset="-120"/>
              </a:rPr>
              <a:t>Melakukan impor dan ekspor data tabular (format .csv dan .xlsx) ke dalam dan dari lingkungan R.</a:t>
            </a:r>
            <a:endParaRPr lang="en-US" sz="1400" dirty="0"/>
          </a:p>
        </p:txBody>
      </p:sp>
      <p:sp>
        <p:nvSpPr>
          <p:cNvPr id="21" name="Text 19"/>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5C6E76"/>
                </a:solidFill>
                <a:latin typeface="Calibri" pitchFamily="34" charset="0"/>
                <a:ea typeface="Calibri" pitchFamily="34" charset="-122"/>
                <a:cs typeface="Calibri" pitchFamily="34" charset="-120"/>
              </a:rPr>
              <a:t>BAB 1 · PENGANTAR STATISTIK TEKNIK DAN LINGKUNGAN R</a:t>
            </a:r>
            <a:endParaRPr lang="en-US" sz="900" dirty="0"/>
          </a:p>
        </p:txBody>
      </p:sp>
      <p:sp>
        <p:nvSpPr>
          <p:cNvPr id="22" name="Text 20"/>
          <p:cNvSpPr txBox="1"/>
          <p:nvPr/>
        </p:nvSpPr>
        <p:spPr>
          <a:xfrm>
            <a:off x="10241280" y="6510528"/>
            <a:ext cx="1371600" cy="274320"/>
          </a:xfrm>
          <a:prstGeom prst="rect">
            <a:avLst/>
          </a:prstGeom>
          <a:noFill/>
          <a:ln/>
        </p:spPr>
        <p:txBody>
          <a:bodyPr wrap="square" lIns="0" tIns="0" rIns="0" bIns="0" rtlCol="0" anchor="ctr"/>
          <a:lstStyle/>
          <a:p>
            <a:pPr algn="r" indent="0" marL="0">
              <a:buNone/>
            </a:pPr>
            <a:r>
              <a:rPr lang="en-US" sz="900" dirty="0">
                <a:solidFill>
                  <a:srgbClr val="5C6E76"/>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300" b="1" spc="100" kern="0" dirty="0">
                <a:solidFill>
                  <a:srgbClr val="1C7293"/>
                </a:solidFill>
                <a:latin typeface="Calibri" pitchFamily="34" charset="0"/>
                <a:ea typeface="Calibri" pitchFamily="34" charset="-122"/>
                <a:cs typeface="Calibri" pitchFamily="34" charset="-120"/>
              </a:rPr>
              <a:t>SUB-BAB 1.1</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2400" b="1" dirty="0">
                <a:solidFill>
                  <a:srgbClr val="0B3C5D"/>
                </a:solidFill>
                <a:latin typeface="Cambria" pitchFamily="34" charset="0"/>
                <a:ea typeface="Cambria" pitchFamily="34" charset="-122"/>
                <a:cs typeface="Cambria" pitchFamily="34" charset="-120"/>
              </a:rPr>
              <a:t>Statistika: Fondasi Keputusan Berbasis Data di Bidang TI</a:t>
            </a:r>
            <a:endParaRPr lang="en-US" sz="2400" dirty="0"/>
          </a:p>
        </p:txBody>
      </p:sp>
      <p:sp>
        <p:nvSpPr>
          <p:cNvPr id="4" name="Shape 2"/>
          <p:cNvSpPr/>
          <p:nvPr/>
        </p:nvSpPr>
        <p:spPr>
          <a:xfrm>
            <a:off x="548640" y="1389888"/>
            <a:ext cx="822960" cy="41148"/>
          </a:xfrm>
          <a:prstGeom prst="rect">
            <a:avLst/>
          </a:prstGeom>
          <a:solidFill>
            <a:srgbClr val="F4A261"/>
          </a:solidFill>
          <a:ln/>
        </p:spPr>
      </p:sp>
      <p:sp>
        <p:nvSpPr>
          <p:cNvPr id="5" name="Text 3"/>
          <p:cNvSpPr txBox="1"/>
          <p:nvPr/>
        </p:nvSpPr>
        <p:spPr>
          <a:xfrm>
            <a:off x="548640" y="1874520"/>
            <a:ext cx="11064240" cy="777240"/>
          </a:xfrm>
          <a:prstGeom prst="rect">
            <a:avLst/>
          </a:prstGeom>
          <a:noFill/>
          <a:ln/>
        </p:spPr>
        <p:txBody>
          <a:bodyPr wrap="square" lIns="0" tIns="0" rIns="0" bIns="0" rtlCol="0" anchor="ctr"/>
          <a:lstStyle/>
          <a:p>
            <a:pPr indent="0" marL="0">
              <a:lnSpc>
                <a:spcPct val="115000"/>
              </a:lnSpc>
              <a:buNone/>
            </a:pPr>
            <a:r>
              <a:rPr lang="en-US" sz="1300" dirty="0">
                <a:solidFill>
                  <a:srgbClr val="1B2A32"/>
                </a:solidFill>
                <a:latin typeface="Calibri" pitchFamily="34" charset="0"/>
                <a:ea typeface="Calibri" pitchFamily="34" charset="-122"/>
                <a:cs typeface="Calibri" pitchFamily="34" charset="-120"/>
              </a:rPr>
              <a:t>Setiap permintaan server, interaksi aplikasi, dan pembacaan sensor IoT menghasilkan data dalam volume yang terus bertambah. Statistika mengubah data mentah tersebut menjadi informasi yang dapat dipertanggungjawabkan secara ilmiah untuk pengambilan keputusan.</a:t>
            </a:r>
            <a:endParaRPr lang="en-US" sz="1300" dirty="0"/>
          </a:p>
        </p:txBody>
      </p:sp>
      <p:sp>
        <p:nvSpPr>
          <p:cNvPr id="6" name="Shape 4"/>
          <p:cNvSpPr/>
          <p:nvPr/>
        </p:nvSpPr>
        <p:spPr>
          <a:xfrm>
            <a:off x="548640" y="2880360"/>
            <a:ext cx="2457450" cy="2834640"/>
          </a:xfrm>
          <a:prstGeom prst="roundRect">
            <a:avLst>
              <a:gd name="adj" fmla="val 2977"/>
            </a:avLst>
          </a:prstGeom>
          <a:solidFill>
            <a:srgbClr val="EAF4F4"/>
          </a:solidFill>
          <a:ln/>
        </p:spPr>
      </p:sp>
      <p:sp>
        <p:nvSpPr>
          <p:cNvPr id="7" name="Shape 5"/>
          <p:cNvSpPr/>
          <p:nvPr/>
        </p:nvSpPr>
        <p:spPr>
          <a:xfrm>
            <a:off x="749808" y="3108960"/>
            <a:ext cx="457200" cy="457200"/>
          </a:xfrm>
          <a:prstGeom prst="ellipse">
            <a:avLst/>
          </a:prstGeom>
          <a:solidFill>
            <a:srgbClr val="0B3C5D"/>
          </a:solidFill>
          <a:ln/>
        </p:spPr>
      </p:sp>
      <p:sp>
        <p:nvSpPr>
          <p:cNvPr id="8" name="Text 6"/>
          <p:cNvSpPr txBox="1"/>
          <p:nvPr/>
        </p:nvSpPr>
        <p:spPr>
          <a:xfrm>
            <a:off x="749808" y="31089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txBox="1"/>
          <p:nvPr/>
        </p:nvSpPr>
        <p:spPr>
          <a:xfrm>
            <a:off x="749808" y="3749040"/>
            <a:ext cx="2055114" cy="685800"/>
          </a:xfrm>
          <a:prstGeom prst="rect">
            <a:avLst/>
          </a:prstGeom>
          <a:noFill/>
          <a:ln/>
        </p:spPr>
        <p:txBody>
          <a:bodyPr wrap="square" lIns="0" tIns="0" rIns="0" bIns="0" rtlCol="0" anchor="ctr"/>
          <a:lstStyle/>
          <a:p>
            <a:pPr indent="0" marL="0">
              <a:lnSpc>
                <a:spcPct val="105000"/>
              </a:lnSpc>
              <a:buNone/>
            </a:pPr>
            <a:r>
              <a:rPr lang="en-US" sz="1450" b="1" dirty="0">
                <a:solidFill>
                  <a:srgbClr val="0B3C5D"/>
                </a:solidFill>
                <a:latin typeface="Cambria" pitchFamily="34" charset="0"/>
                <a:ea typeface="Cambria" pitchFamily="34" charset="-122"/>
                <a:cs typeface="Cambria" pitchFamily="34" charset="-120"/>
              </a:rPr>
              <a:t>Evaluasi Kinerja Sistem</a:t>
            </a:r>
            <a:endParaRPr lang="en-US" sz="1450" dirty="0"/>
          </a:p>
        </p:txBody>
      </p:sp>
      <p:sp>
        <p:nvSpPr>
          <p:cNvPr id="10" name="Text 8"/>
          <p:cNvSpPr txBox="1"/>
          <p:nvPr/>
        </p:nvSpPr>
        <p:spPr>
          <a:xfrm>
            <a:off x="749808" y="4389120"/>
            <a:ext cx="2055114" cy="1143000"/>
          </a:xfrm>
          <a:prstGeom prst="rect">
            <a:avLst/>
          </a:prstGeom>
          <a:noFill/>
          <a:ln/>
        </p:spPr>
        <p:txBody>
          <a:bodyPr wrap="square" lIns="0" tIns="0" rIns="0" bIns="0" rtlCol="0" anchor="ctr"/>
          <a:lstStyle/>
          <a:p>
            <a:pPr indent="0" marL="0">
              <a:lnSpc>
                <a:spcPct val="115000"/>
              </a:lnSpc>
              <a:buNone/>
            </a:pPr>
            <a:r>
              <a:rPr lang="en-US" sz="1100" dirty="0">
                <a:solidFill>
                  <a:srgbClr val="1B2A32"/>
                </a:solidFill>
                <a:latin typeface="Calibri" pitchFamily="34" charset="0"/>
                <a:ea typeface="Calibri" pitchFamily="34" charset="-122"/>
                <a:cs typeface="Calibri" pitchFamily="34" charset="-120"/>
              </a:rPr>
              <a:t>Menentukan apakah waktu respons rata-rata suatu aplikasi web masih memenuhi SLA.</a:t>
            </a:r>
            <a:endParaRPr lang="en-US" sz="1100" dirty="0"/>
          </a:p>
        </p:txBody>
      </p:sp>
      <p:sp>
        <p:nvSpPr>
          <p:cNvPr id="11" name="Shape 9"/>
          <p:cNvSpPr/>
          <p:nvPr/>
        </p:nvSpPr>
        <p:spPr>
          <a:xfrm>
            <a:off x="3417570" y="2880360"/>
            <a:ext cx="2457450" cy="2834640"/>
          </a:xfrm>
          <a:prstGeom prst="roundRect">
            <a:avLst>
              <a:gd name="adj" fmla="val 2977"/>
            </a:avLst>
          </a:prstGeom>
          <a:solidFill>
            <a:srgbClr val="EAF4F4"/>
          </a:solidFill>
          <a:ln/>
        </p:spPr>
      </p:sp>
      <p:sp>
        <p:nvSpPr>
          <p:cNvPr id="12" name="Shape 10"/>
          <p:cNvSpPr/>
          <p:nvPr/>
        </p:nvSpPr>
        <p:spPr>
          <a:xfrm>
            <a:off x="3618738" y="3108960"/>
            <a:ext cx="457200" cy="457200"/>
          </a:xfrm>
          <a:prstGeom prst="ellipse">
            <a:avLst/>
          </a:prstGeom>
          <a:solidFill>
            <a:srgbClr val="0B3C5D"/>
          </a:solidFill>
          <a:ln/>
        </p:spPr>
      </p:sp>
      <p:sp>
        <p:nvSpPr>
          <p:cNvPr id="13" name="Text 11"/>
          <p:cNvSpPr txBox="1"/>
          <p:nvPr/>
        </p:nvSpPr>
        <p:spPr>
          <a:xfrm>
            <a:off x="3618738" y="31089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2"/>
          <p:cNvSpPr txBox="1"/>
          <p:nvPr/>
        </p:nvSpPr>
        <p:spPr>
          <a:xfrm>
            <a:off x="3618738" y="3749040"/>
            <a:ext cx="2055114" cy="685800"/>
          </a:xfrm>
          <a:prstGeom prst="rect">
            <a:avLst/>
          </a:prstGeom>
          <a:noFill/>
          <a:ln/>
        </p:spPr>
        <p:txBody>
          <a:bodyPr wrap="square" lIns="0" tIns="0" rIns="0" bIns="0" rtlCol="0" anchor="ctr"/>
          <a:lstStyle/>
          <a:p>
            <a:pPr indent="0" marL="0">
              <a:lnSpc>
                <a:spcPct val="105000"/>
              </a:lnSpc>
              <a:buNone/>
            </a:pPr>
            <a:r>
              <a:rPr lang="en-US" sz="1450" b="1" dirty="0">
                <a:solidFill>
                  <a:srgbClr val="0B3C5D"/>
                </a:solidFill>
                <a:latin typeface="Cambria" pitchFamily="34" charset="0"/>
                <a:ea typeface="Cambria" pitchFamily="34" charset="-122"/>
                <a:cs typeface="Cambria" pitchFamily="34" charset="-120"/>
              </a:rPr>
              <a:t>Keamanan Jaringan</a:t>
            </a:r>
            <a:endParaRPr lang="en-US" sz="1450" dirty="0"/>
          </a:p>
        </p:txBody>
      </p:sp>
      <p:sp>
        <p:nvSpPr>
          <p:cNvPr id="15" name="Text 13"/>
          <p:cNvSpPr txBox="1"/>
          <p:nvPr/>
        </p:nvSpPr>
        <p:spPr>
          <a:xfrm>
            <a:off x="3618738" y="4389120"/>
            <a:ext cx="2055114" cy="1143000"/>
          </a:xfrm>
          <a:prstGeom prst="rect">
            <a:avLst/>
          </a:prstGeom>
          <a:noFill/>
          <a:ln/>
        </p:spPr>
        <p:txBody>
          <a:bodyPr wrap="square" lIns="0" tIns="0" rIns="0" bIns="0" rtlCol="0" anchor="ctr"/>
          <a:lstStyle/>
          <a:p>
            <a:pPr indent="0" marL="0">
              <a:lnSpc>
                <a:spcPct val="115000"/>
              </a:lnSpc>
              <a:buNone/>
            </a:pPr>
            <a:r>
              <a:rPr lang="en-US" sz="1100" dirty="0">
                <a:solidFill>
                  <a:srgbClr val="1B2A32"/>
                </a:solidFill>
                <a:latin typeface="Calibri" pitchFamily="34" charset="0"/>
                <a:ea typeface="Calibri" pitchFamily="34" charset="-122"/>
                <a:cs typeface="Calibri" pitchFamily="34" charset="-120"/>
              </a:rPr>
              <a:t>Mendeteksi pola trafik yang menyimpang secara statistik sebagai indikasi serangan.</a:t>
            </a:r>
            <a:endParaRPr lang="en-US" sz="1100" dirty="0"/>
          </a:p>
        </p:txBody>
      </p:sp>
      <p:sp>
        <p:nvSpPr>
          <p:cNvPr id="16" name="Shape 14"/>
          <p:cNvSpPr/>
          <p:nvPr/>
        </p:nvSpPr>
        <p:spPr>
          <a:xfrm>
            <a:off x="6286500" y="2880360"/>
            <a:ext cx="2457450" cy="2834640"/>
          </a:xfrm>
          <a:prstGeom prst="roundRect">
            <a:avLst>
              <a:gd name="adj" fmla="val 2977"/>
            </a:avLst>
          </a:prstGeom>
          <a:solidFill>
            <a:srgbClr val="EAF4F4"/>
          </a:solidFill>
          <a:ln/>
        </p:spPr>
      </p:sp>
      <p:sp>
        <p:nvSpPr>
          <p:cNvPr id="17" name="Shape 15"/>
          <p:cNvSpPr/>
          <p:nvPr/>
        </p:nvSpPr>
        <p:spPr>
          <a:xfrm>
            <a:off x="6487668" y="3108960"/>
            <a:ext cx="457200" cy="457200"/>
          </a:xfrm>
          <a:prstGeom prst="ellipse">
            <a:avLst/>
          </a:prstGeom>
          <a:solidFill>
            <a:srgbClr val="0B3C5D"/>
          </a:solidFill>
          <a:ln/>
        </p:spPr>
      </p:sp>
      <p:sp>
        <p:nvSpPr>
          <p:cNvPr id="18" name="Text 16"/>
          <p:cNvSpPr txBox="1"/>
          <p:nvPr/>
        </p:nvSpPr>
        <p:spPr>
          <a:xfrm>
            <a:off x="6487668" y="31089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9" name="Text 17"/>
          <p:cNvSpPr txBox="1"/>
          <p:nvPr/>
        </p:nvSpPr>
        <p:spPr>
          <a:xfrm>
            <a:off x="6487668" y="3749040"/>
            <a:ext cx="2055114" cy="685800"/>
          </a:xfrm>
          <a:prstGeom prst="rect">
            <a:avLst/>
          </a:prstGeom>
          <a:noFill/>
          <a:ln/>
        </p:spPr>
        <p:txBody>
          <a:bodyPr wrap="square" lIns="0" tIns="0" rIns="0" bIns="0" rtlCol="0" anchor="ctr"/>
          <a:lstStyle/>
          <a:p>
            <a:pPr indent="0" marL="0">
              <a:lnSpc>
                <a:spcPct val="105000"/>
              </a:lnSpc>
              <a:buNone/>
            </a:pPr>
            <a:r>
              <a:rPr lang="en-US" sz="1450" b="1" dirty="0">
                <a:solidFill>
                  <a:srgbClr val="0B3C5D"/>
                </a:solidFill>
                <a:latin typeface="Cambria" pitchFamily="34" charset="0"/>
                <a:ea typeface="Cambria" pitchFamily="34" charset="-122"/>
                <a:cs typeface="Cambria" pitchFamily="34" charset="-120"/>
              </a:rPr>
              <a:t>Pengembangan Sistem Cerdas</a:t>
            </a:r>
            <a:endParaRPr lang="en-US" sz="1450" dirty="0"/>
          </a:p>
        </p:txBody>
      </p:sp>
      <p:sp>
        <p:nvSpPr>
          <p:cNvPr id="20" name="Text 18"/>
          <p:cNvSpPr txBox="1"/>
          <p:nvPr/>
        </p:nvSpPr>
        <p:spPr>
          <a:xfrm>
            <a:off x="6487668" y="4389120"/>
            <a:ext cx="2055114" cy="1143000"/>
          </a:xfrm>
          <a:prstGeom prst="rect">
            <a:avLst/>
          </a:prstGeom>
          <a:noFill/>
          <a:ln/>
        </p:spPr>
        <p:txBody>
          <a:bodyPr wrap="square" lIns="0" tIns="0" rIns="0" bIns="0" rtlCol="0" anchor="ctr"/>
          <a:lstStyle/>
          <a:p>
            <a:pPr indent="0" marL="0">
              <a:lnSpc>
                <a:spcPct val="115000"/>
              </a:lnSpc>
              <a:buNone/>
            </a:pPr>
            <a:r>
              <a:rPr lang="en-US" sz="1100" dirty="0">
                <a:solidFill>
                  <a:srgbClr val="1B2A32"/>
                </a:solidFill>
                <a:latin typeface="Calibri" pitchFamily="34" charset="0"/>
                <a:ea typeface="Calibri" pitchFamily="34" charset="-122"/>
                <a:cs typeface="Calibri" pitchFamily="34" charset="-120"/>
              </a:rPr>
              <a:t>Algoritma machine learning dibangun di atas teori probabilitas dan inferensi statistik.</a:t>
            </a:r>
            <a:endParaRPr lang="en-US" sz="1100" dirty="0"/>
          </a:p>
        </p:txBody>
      </p:sp>
      <p:sp>
        <p:nvSpPr>
          <p:cNvPr id="21" name="Shape 19"/>
          <p:cNvSpPr/>
          <p:nvPr/>
        </p:nvSpPr>
        <p:spPr>
          <a:xfrm>
            <a:off x="9155430" y="2880360"/>
            <a:ext cx="2457450" cy="2834640"/>
          </a:xfrm>
          <a:prstGeom prst="roundRect">
            <a:avLst>
              <a:gd name="adj" fmla="val 2977"/>
            </a:avLst>
          </a:prstGeom>
          <a:solidFill>
            <a:srgbClr val="EAF4F4"/>
          </a:solidFill>
          <a:ln/>
        </p:spPr>
      </p:sp>
      <p:sp>
        <p:nvSpPr>
          <p:cNvPr id="22" name="Shape 20"/>
          <p:cNvSpPr/>
          <p:nvPr/>
        </p:nvSpPr>
        <p:spPr>
          <a:xfrm>
            <a:off x="9356598" y="3108960"/>
            <a:ext cx="457200" cy="457200"/>
          </a:xfrm>
          <a:prstGeom prst="ellipse">
            <a:avLst/>
          </a:prstGeom>
          <a:solidFill>
            <a:srgbClr val="0B3C5D"/>
          </a:solidFill>
          <a:ln/>
        </p:spPr>
      </p:sp>
      <p:sp>
        <p:nvSpPr>
          <p:cNvPr id="23" name="Text 21"/>
          <p:cNvSpPr txBox="1"/>
          <p:nvPr/>
        </p:nvSpPr>
        <p:spPr>
          <a:xfrm>
            <a:off x="9356598" y="31089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4" name="Text 22"/>
          <p:cNvSpPr txBox="1"/>
          <p:nvPr/>
        </p:nvSpPr>
        <p:spPr>
          <a:xfrm>
            <a:off x="9356598" y="3749040"/>
            <a:ext cx="2055114" cy="685800"/>
          </a:xfrm>
          <a:prstGeom prst="rect">
            <a:avLst/>
          </a:prstGeom>
          <a:noFill/>
          <a:ln/>
        </p:spPr>
        <p:txBody>
          <a:bodyPr wrap="square" lIns="0" tIns="0" rIns="0" bIns="0" rtlCol="0" anchor="ctr"/>
          <a:lstStyle/>
          <a:p>
            <a:pPr indent="0" marL="0">
              <a:lnSpc>
                <a:spcPct val="105000"/>
              </a:lnSpc>
              <a:buNone/>
            </a:pPr>
            <a:r>
              <a:rPr lang="en-US" sz="1450" b="1" dirty="0">
                <a:solidFill>
                  <a:srgbClr val="0B3C5D"/>
                </a:solidFill>
                <a:latin typeface="Cambria" pitchFamily="34" charset="0"/>
                <a:ea typeface="Cambria" pitchFamily="34" charset="-122"/>
                <a:cs typeface="Cambria" pitchFamily="34" charset="-120"/>
              </a:rPr>
              <a:t>Pengujian Berbasis Data</a:t>
            </a:r>
            <a:endParaRPr lang="en-US" sz="1450" dirty="0"/>
          </a:p>
        </p:txBody>
      </p:sp>
      <p:sp>
        <p:nvSpPr>
          <p:cNvPr id="25" name="Text 23"/>
          <p:cNvSpPr txBox="1"/>
          <p:nvPr/>
        </p:nvSpPr>
        <p:spPr>
          <a:xfrm>
            <a:off x="9356598" y="4389120"/>
            <a:ext cx="2055114" cy="1143000"/>
          </a:xfrm>
          <a:prstGeom prst="rect">
            <a:avLst/>
          </a:prstGeom>
          <a:noFill/>
          <a:ln/>
        </p:spPr>
        <p:txBody>
          <a:bodyPr wrap="square" lIns="0" tIns="0" rIns="0" bIns="0" rtlCol="0" anchor="ctr"/>
          <a:lstStyle/>
          <a:p>
            <a:pPr indent="0" marL="0">
              <a:lnSpc>
                <a:spcPct val="115000"/>
              </a:lnSpc>
              <a:buNone/>
            </a:pPr>
            <a:r>
              <a:rPr lang="en-US" sz="1100" dirty="0">
                <a:solidFill>
                  <a:srgbClr val="1B2A32"/>
                </a:solidFill>
                <a:latin typeface="Calibri" pitchFamily="34" charset="0"/>
                <a:ea typeface="Calibri" pitchFamily="34" charset="-122"/>
                <a:cs typeface="Calibri" pitchFamily="34" charset="-120"/>
              </a:rPr>
              <a:t>Membandingkan performa dua versi algoritma secara objektif melalui uji hipotesis.</a:t>
            </a:r>
            <a:endParaRPr lang="en-US" sz="1100" dirty="0"/>
          </a:p>
        </p:txBody>
      </p:sp>
      <p:sp>
        <p:nvSpPr>
          <p:cNvPr id="26" name="Text 24"/>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5C6E76"/>
                </a:solidFill>
                <a:latin typeface="Calibri" pitchFamily="34" charset="0"/>
                <a:ea typeface="Calibri" pitchFamily="34" charset="-122"/>
                <a:cs typeface="Calibri" pitchFamily="34" charset="-120"/>
              </a:rPr>
              <a:t>BAB 1 · PENGANTAR STATISTIK TEKNIK DAN LINGKUNGAN R</a:t>
            </a:r>
            <a:endParaRPr lang="en-US" sz="900" dirty="0"/>
          </a:p>
        </p:txBody>
      </p:sp>
      <p:sp>
        <p:nvSpPr>
          <p:cNvPr id="27" name="Text 25"/>
          <p:cNvSpPr txBox="1"/>
          <p:nvPr/>
        </p:nvSpPr>
        <p:spPr>
          <a:xfrm>
            <a:off x="10241280" y="6510528"/>
            <a:ext cx="1371600" cy="274320"/>
          </a:xfrm>
          <a:prstGeom prst="rect">
            <a:avLst/>
          </a:prstGeom>
          <a:noFill/>
          <a:ln/>
        </p:spPr>
        <p:txBody>
          <a:bodyPr wrap="square" lIns="0" tIns="0" rIns="0" bIns="0" rtlCol="0" anchor="ctr"/>
          <a:lstStyle/>
          <a:p>
            <a:pPr algn="r" indent="0" marL="0">
              <a:buNone/>
            </a:pPr>
            <a:r>
              <a:rPr lang="en-US" sz="900" dirty="0">
                <a:solidFill>
                  <a:srgbClr val="5C6E76"/>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300" b="1" spc="100" kern="0" dirty="0">
                <a:solidFill>
                  <a:srgbClr val="1C7293"/>
                </a:solidFill>
                <a:latin typeface="Calibri" pitchFamily="34" charset="0"/>
                <a:ea typeface="Calibri" pitchFamily="34" charset="-122"/>
                <a:cs typeface="Calibri" pitchFamily="34" charset="-120"/>
              </a:rPr>
              <a:t>SUB-BAB 1.2</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0B3C5D"/>
                </a:solidFill>
                <a:latin typeface="Cambria" pitchFamily="34" charset="0"/>
                <a:ea typeface="Cambria" pitchFamily="34" charset="-122"/>
                <a:cs typeface="Cambria" pitchFamily="34" charset="-120"/>
              </a:rPr>
              <a:t>Mengenal R dan Ekosistem RStudio</a:t>
            </a:r>
            <a:endParaRPr lang="en-US" sz="3000" dirty="0"/>
          </a:p>
        </p:txBody>
      </p:sp>
      <p:sp>
        <p:nvSpPr>
          <p:cNvPr id="4" name="Shape 2"/>
          <p:cNvSpPr/>
          <p:nvPr/>
        </p:nvSpPr>
        <p:spPr>
          <a:xfrm>
            <a:off x="548640" y="1389888"/>
            <a:ext cx="822960" cy="41148"/>
          </a:xfrm>
          <a:prstGeom prst="rect">
            <a:avLst/>
          </a:prstGeom>
          <a:solidFill>
            <a:srgbClr val="F4A261"/>
          </a:solidFill>
          <a:ln/>
        </p:spPr>
      </p:sp>
      <p:sp>
        <p:nvSpPr>
          <p:cNvPr id="5" name="Text 3"/>
          <p:cNvSpPr txBox="1"/>
          <p:nvPr/>
        </p:nvSpPr>
        <p:spPr>
          <a:xfrm>
            <a:off x="548640" y="1600200"/>
            <a:ext cx="11064240" cy="594360"/>
          </a:xfrm>
          <a:prstGeom prst="rect">
            <a:avLst/>
          </a:prstGeom>
          <a:noFill/>
          <a:ln/>
        </p:spPr>
        <p:txBody>
          <a:bodyPr wrap="square" lIns="0" tIns="0" rIns="0" bIns="0" rtlCol="0" anchor="ctr"/>
          <a:lstStyle/>
          <a:p>
            <a:pPr indent="0" marL="0">
              <a:lnSpc>
                <a:spcPct val="115000"/>
              </a:lnSpc>
              <a:buNone/>
            </a:pPr>
            <a:r>
              <a:rPr lang="en-US" sz="1250" dirty="0">
                <a:solidFill>
                  <a:srgbClr val="1B2A32"/>
                </a:solidFill>
                <a:latin typeface="Calibri" pitchFamily="34" charset="0"/>
                <a:ea typeface="Calibri" pitchFamily="34" charset="-122"/>
                <a:cs typeface="Calibri" pitchFamily="34" charset="-120"/>
              </a:rPr>
              <a:t>R dikembangkan oleh Ross Ihaka dan Robert Gentleman (Universitas Auckland), kini dikelola R Core Team di bawah lisensi GNU GPL. R dirancang khusus untuk manipulasi data, komputasi numerik, dan pembuatan grafik statistik.</a:t>
            </a:r>
            <a:endParaRPr lang="en-US" sz="1250" dirty="0"/>
          </a:p>
        </p:txBody>
      </p:sp>
      <p:sp>
        <p:nvSpPr>
          <p:cNvPr id="6" name="Shape 4"/>
          <p:cNvSpPr/>
          <p:nvPr/>
        </p:nvSpPr>
        <p:spPr>
          <a:xfrm>
            <a:off x="548640" y="2423160"/>
            <a:ext cx="5257800" cy="3200400"/>
          </a:xfrm>
          <a:prstGeom prst="roundRect">
            <a:avLst>
              <a:gd name="adj" fmla="val 2857"/>
            </a:avLst>
          </a:prstGeom>
          <a:solidFill>
            <a:srgbClr val="0B3C5D"/>
          </a:solidFill>
          <a:ln/>
        </p:spPr>
      </p:sp>
      <p:sp>
        <p:nvSpPr>
          <p:cNvPr id="7" name="Text 5"/>
          <p:cNvSpPr txBox="1"/>
          <p:nvPr/>
        </p:nvSpPr>
        <p:spPr>
          <a:xfrm>
            <a:off x="868680" y="2697480"/>
            <a:ext cx="1280160" cy="822960"/>
          </a:xfrm>
          <a:prstGeom prst="rect">
            <a:avLst/>
          </a:prstGeom>
          <a:noFill/>
          <a:ln/>
        </p:spPr>
        <p:txBody>
          <a:bodyPr wrap="square" lIns="0" tIns="0" rIns="0" bIns="0" rtlCol="0" anchor="ctr"/>
          <a:lstStyle/>
          <a:p>
            <a:pPr indent="0" marL="0">
              <a:buNone/>
            </a:pPr>
            <a:r>
              <a:rPr lang="en-US" sz="4200" b="1" dirty="0">
                <a:solidFill>
                  <a:srgbClr val="F4A261"/>
                </a:solidFill>
                <a:latin typeface="Cambria" pitchFamily="34" charset="0"/>
                <a:ea typeface="Cambria" pitchFamily="34" charset="-122"/>
                <a:cs typeface="Cambria" pitchFamily="34" charset="-120"/>
              </a:rPr>
              <a:t>R</a:t>
            </a:r>
            <a:endParaRPr lang="en-US" sz="4200" dirty="0"/>
          </a:p>
        </p:txBody>
      </p:sp>
      <p:sp>
        <p:nvSpPr>
          <p:cNvPr id="8" name="Text 6"/>
          <p:cNvSpPr txBox="1"/>
          <p:nvPr/>
        </p:nvSpPr>
        <p:spPr>
          <a:xfrm>
            <a:off x="868680" y="3474720"/>
            <a:ext cx="4617720" cy="365760"/>
          </a:xfrm>
          <a:prstGeom prst="rect">
            <a:avLst/>
          </a:prstGeom>
          <a:noFill/>
          <a:ln/>
        </p:spPr>
        <p:txBody>
          <a:bodyPr wrap="square" lIns="0" tIns="0" rIns="0" bIns="0" rtlCol="0" anchor="ctr"/>
          <a:lstStyle/>
          <a:p>
            <a:pPr indent="0" marL="0">
              <a:buNone/>
            </a:pPr>
            <a:r>
              <a:rPr lang="en-US" sz="1600" b="1" i="1" dirty="0">
                <a:solidFill>
                  <a:srgbClr val="CADCFC"/>
                </a:solidFill>
                <a:latin typeface="Cambria" pitchFamily="34" charset="0"/>
                <a:ea typeface="Cambria" pitchFamily="34" charset="-122"/>
                <a:cs typeface="Cambria" pitchFamily="34" charset="-120"/>
              </a:rPr>
              <a:t>"Mesin"</a:t>
            </a:r>
            <a:endParaRPr lang="en-US" sz="1600" dirty="0"/>
          </a:p>
        </p:txBody>
      </p:sp>
      <p:sp>
        <p:nvSpPr>
          <p:cNvPr id="9" name="Text 7"/>
          <p:cNvSpPr txBox="1"/>
          <p:nvPr/>
        </p:nvSpPr>
        <p:spPr>
          <a:xfrm>
            <a:off x="868680" y="3931920"/>
            <a:ext cx="4617720" cy="1463040"/>
          </a:xfrm>
          <a:prstGeom prst="rect">
            <a:avLst/>
          </a:prstGeom>
          <a:noFill/>
          <a:ln/>
        </p:spPr>
        <p:txBody>
          <a:bodyPr wrap="square" lIns="0" tIns="0" rIns="0" bIns="0" rtlCol="0" anchor="ctr"/>
          <a:lstStyle/>
          <a:p>
            <a:pPr indent="0" marL="0">
              <a:lnSpc>
                <a:spcPct val="120000"/>
              </a:lnSpc>
              <a:buNone/>
            </a:pPr>
            <a:r>
              <a:rPr lang="en-US" sz="1250" dirty="0">
                <a:solidFill>
                  <a:srgbClr val="E4EEF5"/>
                </a:solidFill>
                <a:latin typeface="Calibri" pitchFamily="34" charset="0"/>
                <a:ea typeface="Calibri" pitchFamily="34" charset="-122"/>
                <a:cs typeface="Calibri" pitchFamily="34" charset="-120"/>
              </a:rPr>
              <a:t>Bahasa pemrograman sekaligus interpreter yang benar-benar menjalankan seluruh perhitungan statistik.</a:t>
            </a:r>
            <a:endParaRPr lang="en-US" sz="1250" dirty="0"/>
          </a:p>
        </p:txBody>
      </p:sp>
      <p:sp>
        <p:nvSpPr>
          <p:cNvPr id="10" name="Shape 8"/>
          <p:cNvSpPr/>
          <p:nvPr/>
        </p:nvSpPr>
        <p:spPr>
          <a:xfrm>
            <a:off x="6355080" y="2423160"/>
            <a:ext cx="5257800" cy="3200400"/>
          </a:xfrm>
          <a:prstGeom prst="roundRect">
            <a:avLst>
              <a:gd name="adj" fmla="val 2857"/>
            </a:avLst>
          </a:prstGeom>
          <a:solidFill>
            <a:srgbClr val="1C7293"/>
          </a:solidFill>
          <a:ln/>
        </p:spPr>
      </p:sp>
      <p:sp>
        <p:nvSpPr>
          <p:cNvPr id="11" name="Text 9"/>
          <p:cNvSpPr txBox="1"/>
          <p:nvPr/>
        </p:nvSpPr>
        <p:spPr>
          <a:xfrm>
            <a:off x="6675120" y="2697480"/>
            <a:ext cx="470916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RStudio</a:t>
            </a:r>
            <a:endParaRPr lang="en-US" sz="2600" dirty="0"/>
          </a:p>
        </p:txBody>
      </p:sp>
      <p:sp>
        <p:nvSpPr>
          <p:cNvPr id="12" name="Text 10"/>
          <p:cNvSpPr txBox="1"/>
          <p:nvPr/>
        </p:nvSpPr>
        <p:spPr>
          <a:xfrm>
            <a:off x="6675120" y="3474720"/>
            <a:ext cx="4617720" cy="365760"/>
          </a:xfrm>
          <a:prstGeom prst="rect">
            <a:avLst/>
          </a:prstGeom>
          <a:noFill/>
          <a:ln/>
        </p:spPr>
        <p:txBody>
          <a:bodyPr wrap="square" lIns="0" tIns="0" rIns="0" bIns="0" rtlCol="0" anchor="ctr"/>
          <a:lstStyle/>
          <a:p>
            <a:pPr indent="0" marL="0">
              <a:buNone/>
            </a:pPr>
            <a:r>
              <a:rPr lang="en-US" sz="1600" b="1" i="1" dirty="0">
                <a:solidFill>
                  <a:srgbClr val="E7F5F2"/>
                </a:solidFill>
                <a:latin typeface="Cambria" pitchFamily="34" charset="0"/>
                <a:ea typeface="Cambria" pitchFamily="34" charset="-122"/>
                <a:cs typeface="Cambria" pitchFamily="34" charset="-120"/>
              </a:rPr>
              <a:t>"Dasbor Kemudi"</a:t>
            </a:r>
            <a:endParaRPr lang="en-US" sz="1600" dirty="0"/>
          </a:p>
        </p:txBody>
      </p:sp>
      <p:sp>
        <p:nvSpPr>
          <p:cNvPr id="13" name="Text 11"/>
          <p:cNvSpPr txBox="1"/>
          <p:nvPr/>
        </p:nvSpPr>
        <p:spPr>
          <a:xfrm>
            <a:off x="6675120" y="3931920"/>
            <a:ext cx="4617720" cy="1463040"/>
          </a:xfrm>
          <a:prstGeom prst="rect">
            <a:avLst/>
          </a:prstGeom>
          <a:noFill/>
          <a:ln/>
        </p:spPr>
        <p:txBody>
          <a:bodyPr wrap="square" lIns="0" tIns="0" rIns="0" bIns="0" rtlCol="0" anchor="ctr"/>
          <a:lstStyle/>
          <a:p>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Integrated Development Environment (IDE) yang menyediakan antarmuka grafis agar R lebih mudah dioperasikan.</a:t>
            </a:r>
            <a:endParaRPr lang="en-US" sz="1250" dirty="0"/>
          </a:p>
        </p:txBody>
      </p:sp>
      <p:sp>
        <p:nvSpPr>
          <p:cNvPr id="14" name="Text 12"/>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5C6E76"/>
                </a:solidFill>
                <a:latin typeface="Calibri" pitchFamily="34" charset="0"/>
                <a:ea typeface="Calibri" pitchFamily="34" charset="-122"/>
                <a:cs typeface="Calibri" pitchFamily="34" charset="-120"/>
              </a:rPr>
              <a:t>BAB 1 · PENGANTAR STATISTIK TEKNIK DAN LINGKUNGAN R</a:t>
            </a:r>
            <a:endParaRPr lang="en-US" sz="900" dirty="0"/>
          </a:p>
        </p:txBody>
      </p:sp>
      <p:sp>
        <p:nvSpPr>
          <p:cNvPr id="15" name="Text 13"/>
          <p:cNvSpPr txBox="1"/>
          <p:nvPr/>
        </p:nvSpPr>
        <p:spPr>
          <a:xfrm>
            <a:off x="10241280" y="6510528"/>
            <a:ext cx="1371600" cy="274320"/>
          </a:xfrm>
          <a:prstGeom prst="rect">
            <a:avLst/>
          </a:prstGeom>
          <a:noFill/>
          <a:ln/>
        </p:spPr>
        <p:txBody>
          <a:bodyPr wrap="square" lIns="0" tIns="0" rIns="0" bIns="0" rtlCol="0" anchor="ctr"/>
          <a:lstStyle/>
          <a:p>
            <a:pPr algn="r" indent="0" marL="0">
              <a:buNone/>
            </a:pPr>
            <a:r>
              <a:rPr lang="en-US" sz="900" dirty="0">
                <a:solidFill>
                  <a:srgbClr val="5C6E76"/>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300" b="1" spc="100" kern="0" dirty="0">
                <a:solidFill>
                  <a:srgbClr val="1C7293"/>
                </a:solidFill>
                <a:latin typeface="Calibri" pitchFamily="34" charset="0"/>
                <a:ea typeface="Calibri" pitchFamily="34" charset="-122"/>
                <a:cs typeface="Calibri" pitchFamily="34" charset="-120"/>
              </a:rPr>
              <a:t>SUB-BAB 1.2</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0B3C5D"/>
                </a:solidFill>
                <a:latin typeface="Cambria" pitchFamily="34" charset="0"/>
                <a:ea typeface="Cambria" pitchFamily="34" charset="-122"/>
                <a:cs typeface="Cambria" pitchFamily="34" charset="-120"/>
              </a:rPr>
              <a:t>Empat Panel Utama RStudio</a:t>
            </a:r>
            <a:endParaRPr lang="en-US" sz="3000" dirty="0"/>
          </a:p>
        </p:txBody>
      </p:sp>
      <p:sp>
        <p:nvSpPr>
          <p:cNvPr id="4" name="Shape 2"/>
          <p:cNvSpPr/>
          <p:nvPr/>
        </p:nvSpPr>
        <p:spPr>
          <a:xfrm>
            <a:off x="548640" y="1389888"/>
            <a:ext cx="822960" cy="41148"/>
          </a:xfrm>
          <a:prstGeom prst="rect">
            <a:avLst/>
          </a:prstGeom>
          <a:solidFill>
            <a:srgbClr val="F4A261"/>
          </a:solidFill>
          <a:ln/>
        </p:spPr>
      </p:sp>
      <p:sp>
        <p:nvSpPr>
          <p:cNvPr id="5" name="Shape 3"/>
          <p:cNvSpPr/>
          <p:nvPr/>
        </p:nvSpPr>
        <p:spPr>
          <a:xfrm>
            <a:off x="548640" y="1783080"/>
            <a:ext cx="5349240" cy="1965960"/>
          </a:xfrm>
          <a:prstGeom prst="roundRect">
            <a:avLst>
              <a:gd name="adj" fmla="val 3721"/>
            </a:avLst>
          </a:prstGeom>
          <a:solidFill>
            <a:srgbClr val="EAF4F4"/>
          </a:solidFill>
          <a:ln/>
        </p:spPr>
      </p:sp>
      <p:sp>
        <p:nvSpPr>
          <p:cNvPr id="6" name="Shape 4"/>
          <p:cNvSpPr/>
          <p:nvPr/>
        </p:nvSpPr>
        <p:spPr>
          <a:xfrm>
            <a:off x="777240" y="2011680"/>
            <a:ext cx="457200" cy="457200"/>
          </a:xfrm>
          <a:prstGeom prst="ellipse">
            <a:avLst/>
          </a:prstGeom>
          <a:solidFill>
            <a:srgbClr val="1C7293"/>
          </a:solidFill>
          <a:ln/>
        </p:spPr>
      </p:sp>
      <p:sp>
        <p:nvSpPr>
          <p:cNvPr id="7" name="Text 5"/>
          <p:cNvSpPr txBox="1"/>
          <p:nvPr/>
        </p:nvSpPr>
        <p:spPr>
          <a:xfrm>
            <a:off x="777240" y="2011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417320" y="1984248"/>
            <a:ext cx="4251960" cy="274320"/>
          </a:xfrm>
          <a:prstGeom prst="rect">
            <a:avLst/>
          </a:prstGeom>
          <a:noFill/>
          <a:ln/>
        </p:spPr>
        <p:txBody>
          <a:bodyPr wrap="square" lIns="0" tIns="0" rIns="0" bIns="0" rtlCol="0" anchor="ctr"/>
          <a:lstStyle/>
          <a:p>
            <a:pPr indent="0" marL="0">
              <a:buNone/>
            </a:pPr>
            <a:r>
              <a:rPr lang="en-US" sz="950" b="1" spc="100" kern="0" dirty="0">
                <a:solidFill>
                  <a:srgbClr val="5C6E76"/>
                </a:solidFill>
                <a:latin typeface="Calibri" pitchFamily="34" charset="0"/>
                <a:ea typeface="Calibri" pitchFamily="34" charset="-122"/>
                <a:cs typeface="Calibri" pitchFamily="34" charset="-120"/>
              </a:rPr>
              <a:t>KIRI ATAS</a:t>
            </a:r>
            <a:endParaRPr lang="en-US" sz="950" dirty="0"/>
          </a:p>
        </p:txBody>
      </p:sp>
      <p:sp>
        <p:nvSpPr>
          <p:cNvPr id="9" name="Text 7"/>
          <p:cNvSpPr txBox="1"/>
          <p:nvPr/>
        </p:nvSpPr>
        <p:spPr>
          <a:xfrm>
            <a:off x="1417320" y="2221992"/>
            <a:ext cx="4251960" cy="365760"/>
          </a:xfrm>
          <a:prstGeom prst="rect">
            <a:avLst/>
          </a:prstGeom>
          <a:noFill/>
          <a:ln/>
        </p:spPr>
        <p:txBody>
          <a:bodyPr wrap="square" lIns="0" tIns="0" rIns="0" bIns="0" rtlCol="0" anchor="ctr"/>
          <a:lstStyle/>
          <a:p>
            <a:pPr indent="0" marL="0">
              <a:buNone/>
            </a:pPr>
            <a:r>
              <a:rPr lang="en-US" sz="1600" b="1" dirty="0">
                <a:solidFill>
                  <a:srgbClr val="0B3C5D"/>
                </a:solidFill>
                <a:latin typeface="Cambria" pitchFamily="34" charset="0"/>
                <a:ea typeface="Cambria" pitchFamily="34" charset="-122"/>
                <a:cs typeface="Cambria" pitchFamily="34" charset="-120"/>
              </a:rPr>
              <a:t>Source Editor</a:t>
            </a:r>
            <a:endParaRPr lang="en-US" sz="1600" dirty="0"/>
          </a:p>
        </p:txBody>
      </p:sp>
      <p:sp>
        <p:nvSpPr>
          <p:cNvPr id="10" name="Text 8"/>
          <p:cNvSpPr txBox="1"/>
          <p:nvPr/>
        </p:nvSpPr>
        <p:spPr>
          <a:xfrm>
            <a:off x="777240" y="2651760"/>
            <a:ext cx="4892040" cy="960120"/>
          </a:xfrm>
          <a:prstGeom prst="rect">
            <a:avLst/>
          </a:prstGeom>
          <a:noFill/>
          <a:ln/>
        </p:spPr>
        <p:txBody>
          <a:bodyPr wrap="square" lIns="0" tIns="0" rIns="0" bIns="0" rtlCol="0" anchor="ctr"/>
          <a:lstStyle/>
          <a:p>
            <a:pPr indent="0" marL="0">
              <a:lnSpc>
                <a:spcPct val="115000"/>
              </a:lnSpc>
              <a:buNone/>
            </a:pPr>
            <a:r>
              <a:rPr lang="en-US" sz="1150" dirty="0">
                <a:solidFill>
                  <a:srgbClr val="1B2A32"/>
                </a:solidFill>
                <a:latin typeface="Calibri" pitchFamily="34" charset="0"/>
                <a:ea typeface="Calibri" pitchFamily="34" charset="-122"/>
                <a:cs typeface="Calibri" pitchFamily="34" charset="-120"/>
              </a:rPr>
              <a:t>Tempat menulis dan menyimpan skrip R (.R) maupun R Markdown (.Rmd) secara persisten.</a:t>
            </a:r>
            <a:endParaRPr lang="en-US" sz="1150" dirty="0"/>
          </a:p>
        </p:txBody>
      </p:sp>
      <p:sp>
        <p:nvSpPr>
          <p:cNvPr id="11" name="Shape 9"/>
          <p:cNvSpPr/>
          <p:nvPr/>
        </p:nvSpPr>
        <p:spPr>
          <a:xfrm>
            <a:off x="6263640" y="1783080"/>
            <a:ext cx="5349240" cy="1965960"/>
          </a:xfrm>
          <a:prstGeom prst="roundRect">
            <a:avLst>
              <a:gd name="adj" fmla="val 3721"/>
            </a:avLst>
          </a:prstGeom>
          <a:solidFill>
            <a:srgbClr val="FDF3E8"/>
          </a:solidFill>
          <a:ln/>
        </p:spPr>
      </p:sp>
      <p:sp>
        <p:nvSpPr>
          <p:cNvPr id="12" name="Shape 10"/>
          <p:cNvSpPr/>
          <p:nvPr/>
        </p:nvSpPr>
        <p:spPr>
          <a:xfrm>
            <a:off x="6492240" y="2011680"/>
            <a:ext cx="457200" cy="457200"/>
          </a:xfrm>
          <a:prstGeom prst="ellipse">
            <a:avLst/>
          </a:prstGeom>
          <a:solidFill>
            <a:srgbClr val="F4A261"/>
          </a:solidFill>
          <a:ln/>
        </p:spPr>
      </p:sp>
      <p:sp>
        <p:nvSpPr>
          <p:cNvPr id="13" name="Text 11"/>
          <p:cNvSpPr txBox="1"/>
          <p:nvPr/>
        </p:nvSpPr>
        <p:spPr>
          <a:xfrm>
            <a:off x="6492240" y="2011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2"/>
          <p:cNvSpPr txBox="1"/>
          <p:nvPr/>
        </p:nvSpPr>
        <p:spPr>
          <a:xfrm>
            <a:off x="7132320" y="1984248"/>
            <a:ext cx="4251960" cy="274320"/>
          </a:xfrm>
          <a:prstGeom prst="rect">
            <a:avLst/>
          </a:prstGeom>
          <a:noFill/>
          <a:ln/>
        </p:spPr>
        <p:txBody>
          <a:bodyPr wrap="square" lIns="0" tIns="0" rIns="0" bIns="0" rtlCol="0" anchor="ctr"/>
          <a:lstStyle/>
          <a:p>
            <a:pPr indent="0" marL="0">
              <a:buNone/>
            </a:pPr>
            <a:r>
              <a:rPr lang="en-US" sz="950" b="1" spc="100" kern="0" dirty="0">
                <a:solidFill>
                  <a:srgbClr val="5C6E76"/>
                </a:solidFill>
                <a:latin typeface="Calibri" pitchFamily="34" charset="0"/>
                <a:ea typeface="Calibri" pitchFamily="34" charset="-122"/>
                <a:cs typeface="Calibri" pitchFamily="34" charset="-120"/>
              </a:rPr>
              <a:t>KIRI BAWAH</a:t>
            </a:r>
            <a:endParaRPr lang="en-US" sz="950" dirty="0"/>
          </a:p>
        </p:txBody>
      </p:sp>
      <p:sp>
        <p:nvSpPr>
          <p:cNvPr id="15" name="Text 13"/>
          <p:cNvSpPr txBox="1"/>
          <p:nvPr/>
        </p:nvSpPr>
        <p:spPr>
          <a:xfrm>
            <a:off x="7132320" y="2221992"/>
            <a:ext cx="4251960" cy="365760"/>
          </a:xfrm>
          <a:prstGeom prst="rect">
            <a:avLst/>
          </a:prstGeom>
          <a:noFill/>
          <a:ln/>
        </p:spPr>
        <p:txBody>
          <a:bodyPr wrap="square" lIns="0" tIns="0" rIns="0" bIns="0" rtlCol="0" anchor="ctr"/>
          <a:lstStyle/>
          <a:p>
            <a:pPr indent="0" marL="0">
              <a:buNone/>
            </a:pPr>
            <a:r>
              <a:rPr lang="en-US" sz="1600" b="1" dirty="0">
                <a:solidFill>
                  <a:srgbClr val="0B3C5D"/>
                </a:solidFill>
                <a:latin typeface="Cambria" pitchFamily="34" charset="0"/>
                <a:ea typeface="Cambria" pitchFamily="34" charset="-122"/>
                <a:cs typeface="Cambria" pitchFamily="34" charset="-120"/>
              </a:rPr>
              <a:t>Console</a:t>
            </a:r>
            <a:endParaRPr lang="en-US" sz="1600" dirty="0"/>
          </a:p>
        </p:txBody>
      </p:sp>
      <p:sp>
        <p:nvSpPr>
          <p:cNvPr id="16" name="Text 14"/>
          <p:cNvSpPr txBox="1"/>
          <p:nvPr/>
        </p:nvSpPr>
        <p:spPr>
          <a:xfrm>
            <a:off x="6492240" y="2651760"/>
            <a:ext cx="4892040" cy="960120"/>
          </a:xfrm>
          <a:prstGeom prst="rect">
            <a:avLst/>
          </a:prstGeom>
          <a:noFill/>
          <a:ln/>
        </p:spPr>
        <p:txBody>
          <a:bodyPr wrap="square" lIns="0" tIns="0" rIns="0" bIns="0" rtlCol="0" anchor="ctr"/>
          <a:lstStyle/>
          <a:p>
            <a:pPr indent="0" marL="0">
              <a:lnSpc>
                <a:spcPct val="115000"/>
              </a:lnSpc>
              <a:buNone/>
            </a:pPr>
            <a:r>
              <a:rPr lang="en-US" sz="1150" dirty="0">
                <a:solidFill>
                  <a:srgbClr val="1B2A32"/>
                </a:solidFill>
                <a:latin typeface="Calibri" pitchFamily="34" charset="0"/>
                <a:ea typeface="Calibri" pitchFamily="34" charset="-122"/>
                <a:cs typeface="Calibri" pitchFamily="34" charset="-120"/>
              </a:rPr>
              <a:t>Tempat perintah R dieksekusi langsung (baris demi baris) dan hasilnya ditampilkan seketika.</a:t>
            </a:r>
            <a:endParaRPr lang="en-US" sz="1150" dirty="0"/>
          </a:p>
        </p:txBody>
      </p:sp>
      <p:sp>
        <p:nvSpPr>
          <p:cNvPr id="17" name="Shape 15"/>
          <p:cNvSpPr/>
          <p:nvPr/>
        </p:nvSpPr>
        <p:spPr>
          <a:xfrm>
            <a:off x="548640" y="4069080"/>
            <a:ext cx="5349240" cy="1965960"/>
          </a:xfrm>
          <a:prstGeom prst="roundRect">
            <a:avLst>
              <a:gd name="adj" fmla="val 3721"/>
            </a:avLst>
          </a:prstGeom>
          <a:solidFill>
            <a:srgbClr val="EAF4F4"/>
          </a:solidFill>
          <a:ln/>
        </p:spPr>
      </p:sp>
      <p:sp>
        <p:nvSpPr>
          <p:cNvPr id="18" name="Shape 16"/>
          <p:cNvSpPr/>
          <p:nvPr/>
        </p:nvSpPr>
        <p:spPr>
          <a:xfrm>
            <a:off x="777240" y="4297680"/>
            <a:ext cx="457200" cy="457200"/>
          </a:xfrm>
          <a:prstGeom prst="ellipse">
            <a:avLst/>
          </a:prstGeom>
          <a:solidFill>
            <a:srgbClr val="1C7293"/>
          </a:solidFill>
          <a:ln/>
        </p:spPr>
      </p:sp>
      <p:sp>
        <p:nvSpPr>
          <p:cNvPr id="19" name="Text 17"/>
          <p:cNvSpPr txBox="1"/>
          <p:nvPr/>
        </p:nvSpPr>
        <p:spPr>
          <a:xfrm>
            <a:off x="777240" y="4297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0" name="Text 18"/>
          <p:cNvSpPr txBox="1"/>
          <p:nvPr/>
        </p:nvSpPr>
        <p:spPr>
          <a:xfrm>
            <a:off x="1417320" y="4270248"/>
            <a:ext cx="4251960" cy="274320"/>
          </a:xfrm>
          <a:prstGeom prst="rect">
            <a:avLst/>
          </a:prstGeom>
          <a:noFill/>
          <a:ln/>
        </p:spPr>
        <p:txBody>
          <a:bodyPr wrap="square" lIns="0" tIns="0" rIns="0" bIns="0" rtlCol="0" anchor="ctr"/>
          <a:lstStyle/>
          <a:p>
            <a:pPr indent="0" marL="0">
              <a:buNone/>
            </a:pPr>
            <a:r>
              <a:rPr lang="en-US" sz="950" b="1" spc="100" kern="0" dirty="0">
                <a:solidFill>
                  <a:srgbClr val="5C6E76"/>
                </a:solidFill>
                <a:latin typeface="Calibri" pitchFamily="34" charset="0"/>
                <a:ea typeface="Calibri" pitchFamily="34" charset="-122"/>
                <a:cs typeface="Calibri" pitchFamily="34" charset="-120"/>
              </a:rPr>
              <a:t>KANAN ATAS</a:t>
            </a:r>
            <a:endParaRPr lang="en-US" sz="950" dirty="0"/>
          </a:p>
        </p:txBody>
      </p:sp>
      <p:sp>
        <p:nvSpPr>
          <p:cNvPr id="21" name="Text 19"/>
          <p:cNvSpPr txBox="1"/>
          <p:nvPr/>
        </p:nvSpPr>
        <p:spPr>
          <a:xfrm>
            <a:off x="1417320" y="4507992"/>
            <a:ext cx="4251960" cy="365760"/>
          </a:xfrm>
          <a:prstGeom prst="rect">
            <a:avLst/>
          </a:prstGeom>
          <a:noFill/>
          <a:ln/>
        </p:spPr>
        <p:txBody>
          <a:bodyPr wrap="square" lIns="0" tIns="0" rIns="0" bIns="0" rtlCol="0" anchor="ctr"/>
          <a:lstStyle/>
          <a:p>
            <a:pPr indent="0" marL="0">
              <a:buNone/>
            </a:pPr>
            <a:r>
              <a:rPr lang="en-US" sz="1600" b="1" dirty="0">
                <a:solidFill>
                  <a:srgbClr val="0B3C5D"/>
                </a:solidFill>
                <a:latin typeface="Cambria" pitchFamily="34" charset="0"/>
                <a:ea typeface="Cambria" pitchFamily="34" charset="-122"/>
                <a:cs typeface="Cambria" pitchFamily="34" charset="-120"/>
              </a:rPr>
              <a:t>Environment / History</a:t>
            </a:r>
            <a:endParaRPr lang="en-US" sz="1600" dirty="0"/>
          </a:p>
        </p:txBody>
      </p:sp>
      <p:sp>
        <p:nvSpPr>
          <p:cNvPr id="22" name="Text 20"/>
          <p:cNvSpPr txBox="1"/>
          <p:nvPr/>
        </p:nvSpPr>
        <p:spPr>
          <a:xfrm>
            <a:off x="777240" y="4937760"/>
            <a:ext cx="4892040" cy="960120"/>
          </a:xfrm>
          <a:prstGeom prst="rect">
            <a:avLst/>
          </a:prstGeom>
          <a:noFill/>
          <a:ln/>
        </p:spPr>
        <p:txBody>
          <a:bodyPr wrap="square" lIns="0" tIns="0" rIns="0" bIns="0" rtlCol="0" anchor="ctr"/>
          <a:lstStyle/>
          <a:p>
            <a:pPr indent="0" marL="0">
              <a:lnSpc>
                <a:spcPct val="115000"/>
              </a:lnSpc>
              <a:buNone/>
            </a:pPr>
            <a:r>
              <a:rPr lang="en-US" sz="1150" dirty="0">
                <a:solidFill>
                  <a:srgbClr val="1B2A32"/>
                </a:solidFill>
                <a:latin typeface="Calibri" pitchFamily="34" charset="0"/>
                <a:ea typeface="Calibri" pitchFamily="34" charset="-122"/>
                <a:cs typeface="Calibri" pitchFamily="34" charset="-120"/>
              </a:rPr>
              <a:t>Menampilkan objek aktif (variabel, data frame, fungsi) dan riwayat perintah yang pernah dijalankan.</a:t>
            </a:r>
            <a:endParaRPr lang="en-US" sz="1150" dirty="0"/>
          </a:p>
        </p:txBody>
      </p:sp>
      <p:sp>
        <p:nvSpPr>
          <p:cNvPr id="23" name="Shape 21"/>
          <p:cNvSpPr/>
          <p:nvPr/>
        </p:nvSpPr>
        <p:spPr>
          <a:xfrm>
            <a:off x="6263640" y="4069080"/>
            <a:ext cx="5349240" cy="1965960"/>
          </a:xfrm>
          <a:prstGeom prst="roundRect">
            <a:avLst>
              <a:gd name="adj" fmla="val 3721"/>
            </a:avLst>
          </a:prstGeom>
          <a:solidFill>
            <a:srgbClr val="FDF3E8"/>
          </a:solidFill>
          <a:ln/>
        </p:spPr>
      </p:sp>
      <p:sp>
        <p:nvSpPr>
          <p:cNvPr id="24" name="Shape 22"/>
          <p:cNvSpPr/>
          <p:nvPr/>
        </p:nvSpPr>
        <p:spPr>
          <a:xfrm>
            <a:off x="6492240" y="4297680"/>
            <a:ext cx="457200" cy="457200"/>
          </a:xfrm>
          <a:prstGeom prst="ellipse">
            <a:avLst/>
          </a:prstGeom>
          <a:solidFill>
            <a:srgbClr val="F4A261"/>
          </a:solidFill>
          <a:ln/>
        </p:spPr>
      </p:sp>
      <p:sp>
        <p:nvSpPr>
          <p:cNvPr id="25" name="Text 23"/>
          <p:cNvSpPr txBox="1"/>
          <p:nvPr/>
        </p:nvSpPr>
        <p:spPr>
          <a:xfrm>
            <a:off x="6492240" y="4297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6" name="Text 24"/>
          <p:cNvSpPr txBox="1"/>
          <p:nvPr/>
        </p:nvSpPr>
        <p:spPr>
          <a:xfrm>
            <a:off x="7132320" y="4270248"/>
            <a:ext cx="4251960" cy="274320"/>
          </a:xfrm>
          <a:prstGeom prst="rect">
            <a:avLst/>
          </a:prstGeom>
          <a:noFill/>
          <a:ln/>
        </p:spPr>
        <p:txBody>
          <a:bodyPr wrap="square" lIns="0" tIns="0" rIns="0" bIns="0" rtlCol="0" anchor="ctr"/>
          <a:lstStyle/>
          <a:p>
            <a:pPr indent="0" marL="0">
              <a:buNone/>
            </a:pPr>
            <a:r>
              <a:rPr lang="en-US" sz="950" b="1" spc="100" kern="0" dirty="0">
                <a:solidFill>
                  <a:srgbClr val="5C6E76"/>
                </a:solidFill>
                <a:latin typeface="Calibri" pitchFamily="34" charset="0"/>
                <a:ea typeface="Calibri" pitchFamily="34" charset="-122"/>
                <a:cs typeface="Calibri" pitchFamily="34" charset="-120"/>
              </a:rPr>
              <a:t>KANAN BAWAH</a:t>
            </a:r>
            <a:endParaRPr lang="en-US" sz="950" dirty="0"/>
          </a:p>
        </p:txBody>
      </p:sp>
      <p:sp>
        <p:nvSpPr>
          <p:cNvPr id="27" name="Text 25"/>
          <p:cNvSpPr txBox="1"/>
          <p:nvPr/>
        </p:nvSpPr>
        <p:spPr>
          <a:xfrm>
            <a:off x="7132320" y="4507992"/>
            <a:ext cx="4251960" cy="365760"/>
          </a:xfrm>
          <a:prstGeom prst="rect">
            <a:avLst/>
          </a:prstGeom>
          <a:noFill/>
          <a:ln/>
        </p:spPr>
        <p:txBody>
          <a:bodyPr wrap="square" lIns="0" tIns="0" rIns="0" bIns="0" rtlCol="0" anchor="ctr"/>
          <a:lstStyle/>
          <a:p>
            <a:pPr indent="0" marL="0">
              <a:buNone/>
            </a:pPr>
            <a:r>
              <a:rPr lang="en-US" sz="1600" b="1" dirty="0">
                <a:solidFill>
                  <a:srgbClr val="0B3C5D"/>
                </a:solidFill>
                <a:latin typeface="Cambria" pitchFamily="34" charset="0"/>
                <a:ea typeface="Cambria" pitchFamily="34" charset="-122"/>
                <a:cs typeface="Cambria" pitchFamily="34" charset="-120"/>
              </a:rPr>
              <a:t>Files / Plots / Packages / Help</a:t>
            </a:r>
            <a:endParaRPr lang="en-US" sz="1600" dirty="0"/>
          </a:p>
        </p:txBody>
      </p:sp>
      <p:sp>
        <p:nvSpPr>
          <p:cNvPr id="28" name="Text 26"/>
          <p:cNvSpPr txBox="1"/>
          <p:nvPr/>
        </p:nvSpPr>
        <p:spPr>
          <a:xfrm>
            <a:off x="6492240" y="4937760"/>
            <a:ext cx="4892040" cy="960120"/>
          </a:xfrm>
          <a:prstGeom prst="rect">
            <a:avLst/>
          </a:prstGeom>
          <a:noFill/>
          <a:ln/>
        </p:spPr>
        <p:txBody>
          <a:bodyPr wrap="square" lIns="0" tIns="0" rIns="0" bIns="0" rtlCol="0" anchor="ctr"/>
          <a:lstStyle/>
          <a:p>
            <a:pPr indent="0" marL="0">
              <a:lnSpc>
                <a:spcPct val="115000"/>
              </a:lnSpc>
              <a:buNone/>
            </a:pPr>
            <a:r>
              <a:rPr lang="en-US" sz="1150" dirty="0">
                <a:solidFill>
                  <a:srgbClr val="1B2A32"/>
                </a:solidFill>
                <a:latin typeface="Calibri" pitchFamily="34" charset="0"/>
                <a:ea typeface="Calibri" pitchFamily="34" charset="-122"/>
                <a:cs typeface="Calibri" pitchFamily="34" charset="-120"/>
              </a:rPr>
              <a:t>Panel multifungsi untuk navigasi berkas, grafik, manajemen package, dan dokumentasi.</a:t>
            </a:r>
            <a:endParaRPr lang="en-US" sz="1150" dirty="0"/>
          </a:p>
        </p:txBody>
      </p:sp>
      <p:sp>
        <p:nvSpPr>
          <p:cNvPr id="29" name="Text 27"/>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5C6E76"/>
                </a:solidFill>
                <a:latin typeface="Calibri" pitchFamily="34" charset="0"/>
                <a:ea typeface="Calibri" pitchFamily="34" charset="-122"/>
                <a:cs typeface="Calibri" pitchFamily="34" charset="-120"/>
              </a:rPr>
              <a:t>BAB 1 · PENGANTAR STATISTIK TEKNIK DAN LINGKUNGAN R</a:t>
            </a:r>
            <a:endParaRPr lang="en-US" sz="900" dirty="0"/>
          </a:p>
        </p:txBody>
      </p:sp>
      <p:sp>
        <p:nvSpPr>
          <p:cNvPr id="30" name="Text 28"/>
          <p:cNvSpPr txBox="1"/>
          <p:nvPr/>
        </p:nvSpPr>
        <p:spPr>
          <a:xfrm>
            <a:off x="10241280" y="6510528"/>
            <a:ext cx="1371600" cy="274320"/>
          </a:xfrm>
          <a:prstGeom prst="rect">
            <a:avLst/>
          </a:prstGeom>
          <a:noFill/>
          <a:ln/>
        </p:spPr>
        <p:txBody>
          <a:bodyPr wrap="square" lIns="0" tIns="0" rIns="0" bIns="0" rtlCol="0" anchor="ctr"/>
          <a:lstStyle/>
          <a:p>
            <a:pPr algn="r" indent="0" marL="0">
              <a:buNone/>
            </a:pPr>
            <a:r>
              <a:rPr lang="en-US" sz="900" dirty="0">
                <a:solidFill>
                  <a:srgbClr val="5C6E76"/>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300" b="1" spc="100" kern="0" dirty="0">
                <a:solidFill>
                  <a:srgbClr val="1C7293"/>
                </a:solidFill>
                <a:latin typeface="Calibri" pitchFamily="34" charset="0"/>
                <a:ea typeface="Calibri" pitchFamily="34" charset="-122"/>
                <a:cs typeface="Calibri" pitchFamily="34" charset="-120"/>
              </a:rPr>
              <a:t>SUB-BAB 1.3</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2400" b="1" dirty="0">
                <a:solidFill>
                  <a:srgbClr val="0B3C5D"/>
                </a:solidFill>
                <a:latin typeface="Cambria" pitchFamily="34" charset="0"/>
                <a:ea typeface="Cambria" pitchFamily="34" charset="-122"/>
                <a:cs typeface="Cambria" pitchFamily="34" charset="-120"/>
              </a:rPr>
              <a:t>Instalasi R, RStudio, dan Manajemen Package</a:t>
            </a:r>
            <a:endParaRPr lang="en-US" sz="2400" dirty="0"/>
          </a:p>
        </p:txBody>
      </p:sp>
      <p:sp>
        <p:nvSpPr>
          <p:cNvPr id="4" name="Shape 2"/>
          <p:cNvSpPr/>
          <p:nvPr/>
        </p:nvSpPr>
        <p:spPr>
          <a:xfrm>
            <a:off x="548640" y="1389888"/>
            <a:ext cx="822960" cy="41148"/>
          </a:xfrm>
          <a:prstGeom prst="rect">
            <a:avLst/>
          </a:prstGeom>
          <a:solidFill>
            <a:srgbClr val="F4A261"/>
          </a:solidFill>
          <a:ln/>
        </p:spPr>
      </p:sp>
      <p:sp>
        <p:nvSpPr>
          <p:cNvPr id="5" name="Shape 3"/>
          <p:cNvSpPr/>
          <p:nvPr/>
        </p:nvSpPr>
        <p:spPr>
          <a:xfrm>
            <a:off x="548640" y="1691640"/>
            <a:ext cx="3246120" cy="1417320"/>
          </a:xfrm>
          <a:prstGeom prst="roundRect">
            <a:avLst>
              <a:gd name="adj" fmla="val 5161"/>
            </a:avLst>
          </a:prstGeom>
          <a:solidFill>
            <a:srgbClr val="EAF4F4"/>
          </a:solidFill>
          <a:ln/>
        </p:spPr>
      </p:sp>
      <p:sp>
        <p:nvSpPr>
          <p:cNvPr id="6" name="Shape 4"/>
          <p:cNvSpPr/>
          <p:nvPr/>
        </p:nvSpPr>
        <p:spPr>
          <a:xfrm>
            <a:off x="749808" y="1892808"/>
            <a:ext cx="384048" cy="384048"/>
          </a:xfrm>
          <a:prstGeom prst="ellipse">
            <a:avLst/>
          </a:prstGeom>
          <a:solidFill>
            <a:srgbClr val="1C7293"/>
          </a:solidFill>
          <a:ln/>
        </p:spPr>
      </p:sp>
      <p:sp>
        <p:nvSpPr>
          <p:cNvPr id="7" name="Text 5"/>
          <p:cNvSpPr txBox="1"/>
          <p:nvPr/>
        </p:nvSpPr>
        <p:spPr>
          <a:xfrm>
            <a:off x="749808" y="18928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280160" y="1810512"/>
            <a:ext cx="2331720" cy="365760"/>
          </a:xfrm>
          <a:prstGeom prst="rect">
            <a:avLst/>
          </a:prstGeom>
          <a:noFill/>
          <a:ln/>
        </p:spPr>
        <p:txBody>
          <a:bodyPr wrap="square" lIns="0" tIns="0" rIns="0" bIns="0" rtlCol="0" anchor="ctr"/>
          <a:lstStyle/>
          <a:p>
            <a:pPr indent="0" marL="0">
              <a:buNone/>
            </a:pPr>
            <a:r>
              <a:rPr lang="en-US" sz="1450" b="1" dirty="0">
                <a:solidFill>
                  <a:srgbClr val="0B3C5D"/>
                </a:solidFill>
                <a:latin typeface="Cambria" pitchFamily="34" charset="0"/>
                <a:ea typeface="Cambria" pitchFamily="34" charset="-122"/>
                <a:cs typeface="Cambria" pitchFamily="34" charset="-120"/>
              </a:rPr>
              <a:t>Instal R</a:t>
            </a:r>
            <a:endParaRPr lang="en-US" sz="1450" dirty="0"/>
          </a:p>
        </p:txBody>
      </p:sp>
      <p:sp>
        <p:nvSpPr>
          <p:cNvPr id="9" name="Text 7"/>
          <p:cNvSpPr txBox="1"/>
          <p:nvPr/>
        </p:nvSpPr>
        <p:spPr>
          <a:xfrm>
            <a:off x="749808" y="2331720"/>
            <a:ext cx="2843784" cy="731520"/>
          </a:xfrm>
          <a:prstGeom prst="rect">
            <a:avLst/>
          </a:prstGeom>
          <a:noFill/>
          <a:ln/>
        </p:spPr>
        <p:txBody>
          <a:bodyPr wrap="square" lIns="0" tIns="0" rIns="0" bIns="0" rtlCol="0" anchor="ctr"/>
          <a:lstStyle/>
          <a:p>
            <a:pPr indent="0" marL="0">
              <a:lnSpc>
                <a:spcPct val="115000"/>
              </a:lnSpc>
              <a:buNone/>
            </a:pPr>
            <a:r>
              <a:rPr lang="en-US" sz="1050" dirty="0">
                <a:solidFill>
                  <a:srgbClr val="1B2A32"/>
                </a:solidFill>
                <a:latin typeface="Calibri" pitchFamily="34" charset="0"/>
                <a:ea typeface="Calibri" pitchFamily="34" charset="-122"/>
                <a:cs typeface="Calibri" pitchFamily="34" charset="-120"/>
              </a:rPr>
              <a:t>Unduh dan pasang R dari CRAN (cran.r-project.org) sesuai sistem operasi.</a:t>
            </a:r>
            <a:endParaRPr lang="en-US" sz="1050" dirty="0"/>
          </a:p>
        </p:txBody>
      </p:sp>
      <p:sp>
        <p:nvSpPr>
          <p:cNvPr id="10" name="Text 8"/>
          <p:cNvSpPr txBox="1"/>
          <p:nvPr/>
        </p:nvSpPr>
        <p:spPr>
          <a:xfrm>
            <a:off x="3813048" y="2148840"/>
            <a:ext cx="237744" cy="457200"/>
          </a:xfrm>
          <a:prstGeom prst="rect">
            <a:avLst/>
          </a:prstGeom>
          <a:noFill/>
          <a:ln/>
        </p:spPr>
        <p:txBody>
          <a:bodyPr wrap="square" lIns="0" tIns="0" rIns="0" bIns="0" rtlCol="0" anchor="ctr"/>
          <a:lstStyle/>
          <a:p>
            <a:pPr algn="ctr" indent="0" marL="0">
              <a:buNone/>
            </a:pPr>
            <a:r>
              <a:rPr lang="en-US" sz="2000" b="1" dirty="0">
                <a:solidFill>
                  <a:srgbClr val="F4A261"/>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4050792" y="1691640"/>
            <a:ext cx="3246120" cy="1417320"/>
          </a:xfrm>
          <a:prstGeom prst="roundRect">
            <a:avLst>
              <a:gd name="adj" fmla="val 5161"/>
            </a:avLst>
          </a:prstGeom>
          <a:solidFill>
            <a:srgbClr val="EAF4F4"/>
          </a:solidFill>
          <a:ln/>
        </p:spPr>
      </p:sp>
      <p:sp>
        <p:nvSpPr>
          <p:cNvPr id="12" name="Shape 10"/>
          <p:cNvSpPr/>
          <p:nvPr/>
        </p:nvSpPr>
        <p:spPr>
          <a:xfrm>
            <a:off x="4251960" y="1892808"/>
            <a:ext cx="384048" cy="384048"/>
          </a:xfrm>
          <a:prstGeom prst="ellipse">
            <a:avLst/>
          </a:prstGeom>
          <a:solidFill>
            <a:srgbClr val="1C7293"/>
          </a:solidFill>
          <a:ln/>
        </p:spPr>
      </p:sp>
      <p:sp>
        <p:nvSpPr>
          <p:cNvPr id="13" name="Text 11"/>
          <p:cNvSpPr txBox="1"/>
          <p:nvPr/>
        </p:nvSpPr>
        <p:spPr>
          <a:xfrm>
            <a:off x="4251960" y="18928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2"/>
          <p:cNvSpPr txBox="1"/>
          <p:nvPr/>
        </p:nvSpPr>
        <p:spPr>
          <a:xfrm>
            <a:off x="4782312" y="1810512"/>
            <a:ext cx="2331720" cy="365760"/>
          </a:xfrm>
          <a:prstGeom prst="rect">
            <a:avLst/>
          </a:prstGeom>
          <a:noFill/>
          <a:ln/>
        </p:spPr>
        <p:txBody>
          <a:bodyPr wrap="square" lIns="0" tIns="0" rIns="0" bIns="0" rtlCol="0" anchor="ctr"/>
          <a:lstStyle/>
          <a:p>
            <a:pPr indent="0" marL="0">
              <a:buNone/>
            </a:pPr>
            <a:r>
              <a:rPr lang="en-US" sz="1450" b="1" dirty="0">
                <a:solidFill>
                  <a:srgbClr val="0B3C5D"/>
                </a:solidFill>
                <a:latin typeface="Cambria" pitchFamily="34" charset="0"/>
                <a:ea typeface="Cambria" pitchFamily="34" charset="-122"/>
                <a:cs typeface="Cambria" pitchFamily="34" charset="-120"/>
              </a:rPr>
              <a:t>Instal RStudio</a:t>
            </a:r>
            <a:endParaRPr lang="en-US" sz="1450" dirty="0"/>
          </a:p>
        </p:txBody>
      </p:sp>
      <p:sp>
        <p:nvSpPr>
          <p:cNvPr id="15" name="Text 13"/>
          <p:cNvSpPr txBox="1"/>
          <p:nvPr/>
        </p:nvSpPr>
        <p:spPr>
          <a:xfrm>
            <a:off x="4251960" y="2331720"/>
            <a:ext cx="2843784" cy="731520"/>
          </a:xfrm>
          <a:prstGeom prst="rect">
            <a:avLst/>
          </a:prstGeom>
          <a:noFill/>
          <a:ln/>
        </p:spPr>
        <p:txBody>
          <a:bodyPr wrap="square" lIns="0" tIns="0" rIns="0" bIns="0" rtlCol="0" anchor="ctr"/>
          <a:lstStyle/>
          <a:p>
            <a:pPr indent="0" marL="0">
              <a:lnSpc>
                <a:spcPct val="115000"/>
              </a:lnSpc>
              <a:buNone/>
            </a:pPr>
            <a:r>
              <a:rPr lang="en-US" sz="1050" dirty="0">
                <a:solidFill>
                  <a:srgbClr val="1B2A32"/>
                </a:solidFill>
                <a:latin typeface="Calibri" pitchFamily="34" charset="0"/>
                <a:ea typeface="Calibri" pitchFamily="34" charset="-122"/>
                <a:cs typeface="Calibri" pitchFamily="34" charset="-120"/>
              </a:rPr>
              <a:t>Unduh RStudio Desktop dari posit.co — RStudio memanggil instalasi R yang sudah ada.</a:t>
            </a:r>
            <a:endParaRPr lang="en-US" sz="1050" dirty="0"/>
          </a:p>
        </p:txBody>
      </p:sp>
      <p:sp>
        <p:nvSpPr>
          <p:cNvPr id="16" name="Text 14"/>
          <p:cNvSpPr txBox="1"/>
          <p:nvPr/>
        </p:nvSpPr>
        <p:spPr>
          <a:xfrm>
            <a:off x="7315200" y="2148840"/>
            <a:ext cx="237744" cy="457200"/>
          </a:xfrm>
          <a:prstGeom prst="rect">
            <a:avLst/>
          </a:prstGeom>
          <a:noFill/>
          <a:ln/>
        </p:spPr>
        <p:txBody>
          <a:bodyPr wrap="square" lIns="0" tIns="0" rIns="0" bIns="0" rtlCol="0" anchor="ctr"/>
          <a:lstStyle/>
          <a:p>
            <a:pPr algn="ctr" indent="0" marL="0">
              <a:buNone/>
            </a:pPr>
            <a:r>
              <a:rPr lang="en-US" sz="2000" b="1" dirty="0">
                <a:solidFill>
                  <a:srgbClr val="F4A261"/>
                </a:solidFill>
                <a:latin typeface="Calibri" pitchFamily="34" charset="0"/>
                <a:ea typeface="Calibri" pitchFamily="34" charset="-122"/>
                <a:cs typeface="Calibri" pitchFamily="34" charset="-120"/>
              </a:rPr>
              <a:t>→</a:t>
            </a:r>
            <a:endParaRPr lang="en-US" sz="2000" dirty="0"/>
          </a:p>
        </p:txBody>
      </p:sp>
      <p:sp>
        <p:nvSpPr>
          <p:cNvPr id="17" name="Shape 15"/>
          <p:cNvSpPr/>
          <p:nvPr/>
        </p:nvSpPr>
        <p:spPr>
          <a:xfrm>
            <a:off x="7552944" y="1691640"/>
            <a:ext cx="3246120" cy="1417320"/>
          </a:xfrm>
          <a:prstGeom prst="roundRect">
            <a:avLst>
              <a:gd name="adj" fmla="val 5161"/>
            </a:avLst>
          </a:prstGeom>
          <a:solidFill>
            <a:srgbClr val="0B3C5D"/>
          </a:solidFill>
          <a:ln/>
        </p:spPr>
      </p:sp>
      <p:sp>
        <p:nvSpPr>
          <p:cNvPr id="18" name="Shape 16"/>
          <p:cNvSpPr/>
          <p:nvPr/>
        </p:nvSpPr>
        <p:spPr>
          <a:xfrm>
            <a:off x="7754112" y="1892808"/>
            <a:ext cx="384048" cy="384048"/>
          </a:xfrm>
          <a:prstGeom prst="ellipse">
            <a:avLst/>
          </a:prstGeom>
          <a:solidFill>
            <a:srgbClr val="F4A261"/>
          </a:solidFill>
          <a:ln/>
        </p:spPr>
      </p:sp>
      <p:sp>
        <p:nvSpPr>
          <p:cNvPr id="19" name="Text 17"/>
          <p:cNvSpPr txBox="1"/>
          <p:nvPr/>
        </p:nvSpPr>
        <p:spPr>
          <a:xfrm>
            <a:off x="7754112" y="1892808"/>
            <a:ext cx="384048" cy="384048"/>
          </a:xfrm>
          <a:prstGeom prst="rect">
            <a:avLst/>
          </a:prstGeom>
          <a:noFill/>
          <a:ln/>
        </p:spPr>
        <p:txBody>
          <a:bodyPr wrap="square" lIns="0" tIns="0" rIns="0" bIns="0" rtlCol="0" anchor="ctr"/>
          <a:lstStyle/>
          <a:p>
            <a:pPr algn="ctr" indent="0" marL="0">
              <a:buNone/>
            </a:pPr>
            <a:r>
              <a:rPr lang="en-US" sz="1400" b="1" dirty="0">
                <a:solidFill>
                  <a:srgbClr val="0B3C5D"/>
                </a:solidFill>
                <a:latin typeface="Cambria" pitchFamily="34" charset="0"/>
                <a:ea typeface="Cambria" pitchFamily="34" charset="-122"/>
                <a:cs typeface="Cambria" pitchFamily="34" charset="-120"/>
              </a:rPr>
              <a:t>3</a:t>
            </a:r>
            <a:endParaRPr lang="en-US" sz="1400" dirty="0"/>
          </a:p>
        </p:txBody>
      </p:sp>
      <p:sp>
        <p:nvSpPr>
          <p:cNvPr id="20" name="Text 18"/>
          <p:cNvSpPr txBox="1"/>
          <p:nvPr/>
        </p:nvSpPr>
        <p:spPr>
          <a:xfrm>
            <a:off x="8284464" y="1810512"/>
            <a:ext cx="233172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Kelola Package</a:t>
            </a:r>
            <a:endParaRPr lang="en-US" sz="1450" dirty="0"/>
          </a:p>
        </p:txBody>
      </p:sp>
      <p:sp>
        <p:nvSpPr>
          <p:cNvPr id="21" name="Text 19"/>
          <p:cNvSpPr txBox="1"/>
          <p:nvPr/>
        </p:nvSpPr>
        <p:spPr>
          <a:xfrm>
            <a:off x="7754112" y="2331720"/>
            <a:ext cx="2843784" cy="731520"/>
          </a:xfrm>
          <a:prstGeom prst="rect">
            <a:avLst/>
          </a:prstGeom>
          <a:noFill/>
          <a:ln/>
        </p:spPr>
        <p:txBody>
          <a:bodyPr wrap="square" lIns="0" tIns="0" rIns="0" bIns="0" rtlCol="0" anchor="ctr"/>
          <a:lstStyle/>
          <a:p>
            <a:pPr indent="0" marL="0">
              <a:lnSpc>
                <a:spcPct val="115000"/>
              </a:lnSpc>
              <a:buNone/>
            </a:pPr>
            <a:r>
              <a:rPr lang="en-US" sz="1050" dirty="0">
                <a:solidFill>
                  <a:srgbClr val="E4EEF5"/>
                </a:solidFill>
                <a:latin typeface="Calibri" pitchFamily="34" charset="0"/>
                <a:ea typeface="Calibri" pitchFamily="34" charset="-122"/>
                <a:cs typeface="Calibri" pitchFamily="34" charset="-120"/>
              </a:rPr>
              <a:t>install.packages() sekali per komputer; library() setiap sesi baru.</a:t>
            </a:r>
            <a:endParaRPr lang="en-US" sz="1050" dirty="0"/>
          </a:p>
        </p:txBody>
      </p:sp>
      <p:sp>
        <p:nvSpPr>
          <p:cNvPr id="22" name="Shape 20"/>
          <p:cNvSpPr/>
          <p:nvPr/>
        </p:nvSpPr>
        <p:spPr>
          <a:xfrm>
            <a:off x="548640" y="3429000"/>
            <a:ext cx="6949440" cy="2651760"/>
          </a:xfrm>
          <a:prstGeom prst="roundRect">
            <a:avLst>
              <a:gd name="adj" fmla="val 2759"/>
            </a:avLst>
          </a:prstGeom>
          <a:solidFill>
            <a:srgbClr val="16232B"/>
          </a:solidFill>
          <a:ln w="12700">
            <a:solidFill>
              <a:srgbClr val="0A1116"/>
            </a:solidFill>
            <a:prstDash val="solid"/>
          </a:ln>
          <a:effectLst>
            <a:outerShdw sx="100000" sy="100000" kx="0" ky="0" algn="bl" rotWithShape="0" blurRad="76200" dist="25400" dir="5400000">
              <a:srgbClr val="000000">
                <a:alpha val="25000"/>
              </a:srgbClr>
            </a:outerShdw>
          </a:effectLst>
        </p:spPr>
      </p:sp>
      <p:sp>
        <p:nvSpPr>
          <p:cNvPr id="23" name="Shape 21"/>
          <p:cNvSpPr/>
          <p:nvPr/>
        </p:nvSpPr>
        <p:spPr>
          <a:xfrm>
            <a:off x="713232" y="3557016"/>
            <a:ext cx="109728" cy="109728"/>
          </a:xfrm>
          <a:prstGeom prst="ellipse">
            <a:avLst/>
          </a:prstGeom>
          <a:solidFill>
            <a:srgbClr val="E06C75"/>
          </a:solidFill>
          <a:ln/>
        </p:spPr>
      </p:sp>
      <p:sp>
        <p:nvSpPr>
          <p:cNvPr id="24" name="Shape 22"/>
          <p:cNvSpPr/>
          <p:nvPr/>
        </p:nvSpPr>
        <p:spPr>
          <a:xfrm>
            <a:off x="914400" y="3557016"/>
            <a:ext cx="109728" cy="109728"/>
          </a:xfrm>
          <a:prstGeom prst="ellipse">
            <a:avLst/>
          </a:prstGeom>
          <a:solidFill>
            <a:srgbClr val="E5C07B"/>
          </a:solidFill>
          <a:ln/>
        </p:spPr>
      </p:sp>
      <p:sp>
        <p:nvSpPr>
          <p:cNvPr id="25" name="Shape 23"/>
          <p:cNvSpPr/>
          <p:nvPr/>
        </p:nvSpPr>
        <p:spPr>
          <a:xfrm>
            <a:off x="1115568" y="3557016"/>
            <a:ext cx="109728" cy="109728"/>
          </a:xfrm>
          <a:prstGeom prst="ellipse">
            <a:avLst/>
          </a:prstGeom>
          <a:solidFill>
            <a:srgbClr val="98C379"/>
          </a:solidFill>
          <a:ln/>
        </p:spPr>
      </p:sp>
      <p:sp>
        <p:nvSpPr>
          <p:cNvPr id="26" name="Text 24"/>
          <p:cNvSpPr txBox="1"/>
          <p:nvPr/>
        </p:nvSpPr>
        <p:spPr>
          <a:xfrm>
            <a:off x="1371600" y="3502152"/>
            <a:ext cx="5943600" cy="219456"/>
          </a:xfrm>
          <a:prstGeom prst="rect">
            <a:avLst/>
          </a:prstGeom>
          <a:noFill/>
          <a:ln/>
        </p:spPr>
        <p:txBody>
          <a:bodyPr wrap="square" lIns="0" tIns="0" rIns="0" bIns="0" rtlCol="0" anchor="ctr"/>
          <a:lstStyle/>
          <a:p>
            <a:pPr indent="0" marL="0">
              <a:buNone/>
            </a:pPr>
            <a:r>
              <a:rPr lang="en-US" sz="1000" dirty="0">
                <a:solidFill>
                  <a:srgbClr val="8B9AA3"/>
                </a:solidFill>
                <a:latin typeface="Courier New" pitchFamily="34" charset="0"/>
                <a:ea typeface="Courier New" pitchFamily="34" charset="-122"/>
                <a:cs typeface="Courier New" pitchFamily="34" charset="-120"/>
              </a:rPr>
              <a:t>Kode R 1.1</a:t>
            </a:r>
            <a:endParaRPr lang="en-US" sz="1000" dirty="0"/>
          </a:p>
        </p:txBody>
      </p:sp>
      <p:sp>
        <p:nvSpPr>
          <p:cNvPr id="27" name="Text 25"/>
          <p:cNvSpPr txBox="1"/>
          <p:nvPr/>
        </p:nvSpPr>
        <p:spPr>
          <a:xfrm>
            <a:off x="804672" y="3794760"/>
            <a:ext cx="6437376" cy="2148840"/>
          </a:xfrm>
          <a:prstGeom prst="rect">
            <a:avLst/>
          </a:prstGeom>
          <a:noFill/>
          <a:ln/>
        </p:spPr>
        <p:txBody>
          <a:bodyPr wrap="square" lIns="0" tIns="0" rIns="0" bIns="0" rtlCol="0" anchor="t"/>
          <a:lstStyle/>
          <a:p>
            <a:pPr indent="0" marL="0">
              <a:lnSpc>
                <a:spcPct val="118000"/>
              </a:lnSpc>
              <a:buNone/>
            </a:pPr>
            <a:r>
              <a:rPr lang="en-US" sz="1150" dirty="0">
                <a:solidFill>
                  <a:srgbClr val="6B8A94"/>
                </a:solidFill>
                <a:latin typeface="Courier New" pitchFamily="34" charset="0"/>
                <a:ea typeface="Courier New" pitchFamily="34" charset="-122"/>
                <a:cs typeface="Courier New" pitchFamily="34" charset="-120"/>
              </a:rPr>
              <a:t># Memeriksa versi R yang terpasang</a:t>
            </a:r>
            <a:endParaRPr lang="en-US" sz="1150" dirty="0"/>
          </a:p>
          <a:p>
            <a:pPr indent="0" marL="0">
              <a:lnSpc>
                <a:spcPct val="118000"/>
              </a:lnSpc>
              <a:buNone/>
            </a:pPr>
            <a:r>
              <a:rPr lang="en-US" sz="1150" dirty="0">
                <a:solidFill>
                  <a:srgbClr val="8FD694"/>
                </a:solidFill>
                <a:latin typeface="Courier New" pitchFamily="34" charset="0"/>
                <a:ea typeface="Courier New" pitchFamily="34" charset="-122"/>
                <a:cs typeface="Courier New" pitchFamily="34" charset="-120"/>
              </a:rPr>
              <a:t>R.version.string</a:t>
            </a:r>
            <a:endParaRPr lang="en-US" sz="1150" dirty="0"/>
          </a:p>
          <a:p>
            <a:pPr indent="0" marL="0">
              <a:lnSpc>
                <a:spcPct val="118000"/>
              </a:lnSpc>
              <a:buNone/>
            </a:pPr>
            <a:endParaRPr lang="en-US" sz="1150" dirty="0"/>
          </a:p>
          <a:p>
            <a:pPr indent="0" marL="0">
              <a:lnSpc>
                <a:spcPct val="118000"/>
              </a:lnSpc>
              <a:buNone/>
            </a:pPr>
            <a:r>
              <a:rPr lang="en-US" sz="1150" dirty="0">
                <a:solidFill>
                  <a:srgbClr val="6B8A94"/>
                </a:solidFill>
                <a:latin typeface="Courier New" pitchFamily="34" charset="0"/>
                <a:ea typeface="Courier New" pitchFamily="34" charset="-122"/>
                <a:cs typeface="Courier New" pitchFamily="34" charset="-120"/>
              </a:rPr>
              <a:t># Instalasi package dari CRAN (cukup satu kali)</a:t>
            </a:r>
            <a:endParaRPr lang="en-US" sz="1150" dirty="0"/>
          </a:p>
          <a:p>
            <a:pPr indent="0" marL="0">
              <a:lnSpc>
                <a:spcPct val="118000"/>
              </a:lnSpc>
              <a:buNone/>
            </a:pPr>
            <a:r>
              <a:rPr lang="en-US" sz="1150" dirty="0">
                <a:solidFill>
                  <a:srgbClr val="8FD694"/>
                </a:solidFill>
                <a:latin typeface="Courier New" pitchFamily="34" charset="0"/>
                <a:ea typeface="Courier New" pitchFamily="34" charset="-122"/>
                <a:cs typeface="Courier New" pitchFamily="34" charset="-120"/>
              </a:rPr>
              <a:t>install.packages(c("tidyverse", "readxl"))</a:t>
            </a:r>
            <a:endParaRPr lang="en-US" sz="1150" dirty="0"/>
          </a:p>
          <a:p>
            <a:pPr indent="0" marL="0">
              <a:lnSpc>
                <a:spcPct val="118000"/>
              </a:lnSpc>
              <a:buNone/>
            </a:pPr>
            <a:endParaRPr lang="en-US" sz="1150" dirty="0"/>
          </a:p>
          <a:p>
            <a:pPr indent="0" marL="0">
              <a:lnSpc>
                <a:spcPct val="118000"/>
              </a:lnSpc>
              <a:buNone/>
            </a:pPr>
            <a:r>
              <a:rPr lang="en-US" sz="1150" dirty="0">
                <a:solidFill>
                  <a:srgbClr val="6B8A94"/>
                </a:solidFill>
                <a:latin typeface="Courier New" pitchFamily="34" charset="0"/>
                <a:ea typeface="Courier New" pitchFamily="34" charset="-122"/>
                <a:cs typeface="Courier New" pitchFamily="34" charset="-120"/>
              </a:rPr>
              <a:t># Memuat package agar dapat digunakan pada sesi ini</a:t>
            </a:r>
            <a:endParaRPr lang="en-US" sz="1150" dirty="0"/>
          </a:p>
          <a:p>
            <a:pPr indent="0" marL="0">
              <a:lnSpc>
                <a:spcPct val="118000"/>
              </a:lnSpc>
              <a:buNone/>
            </a:pPr>
            <a:r>
              <a:rPr lang="en-US" sz="1150" dirty="0">
                <a:solidFill>
                  <a:srgbClr val="8FD694"/>
                </a:solidFill>
                <a:latin typeface="Courier New" pitchFamily="34" charset="0"/>
                <a:ea typeface="Courier New" pitchFamily="34" charset="-122"/>
                <a:cs typeface="Courier New" pitchFamily="34" charset="-120"/>
              </a:rPr>
              <a:t>library(tidyverse)</a:t>
            </a:r>
            <a:endParaRPr lang="en-US" sz="1150" dirty="0"/>
          </a:p>
          <a:p>
            <a:pPr indent="0" marL="0">
              <a:lnSpc>
                <a:spcPct val="118000"/>
              </a:lnSpc>
              <a:buNone/>
            </a:pPr>
            <a:r>
              <a:rPr lang="en-US" sz="1150" dirty="0">
                <a:solidFill>
                  <a:srgbClr val="8FD694"/>
                </a:solidFill>
                <a:latin typeface="Courier New" pitchFamily="34" charset="0"/>
                <a:ea typeface="Courier New" pitchFamily="34" charset="-122"/>
                <a:cs typeface="Courier New" pitchFamily="34" charset="-120"/>
              </a:rPr>
              <a:t>library(readxl)</a:t>
            </a:r>
            <a:endParaRPr lang="en-US" sz="1150" dirty="0"/>
          </a:p>
        </p:txBody>
      </p:sp>
      <p:sp>
        <p:nvSpPr>
          <p:cNvPr id="28" name="Shape 26"/>
          <p:cNvSpPr/>
          <p:nvPr/>
        </p:nvSpPr>
        <p:spPr>
          <a:xfrm>
            <a:off x="7772400" y="3429000"/>
            <a:ext cx="3840480" cy="2651760"/>
          </a:xfrm>
          <a:prstGeom prst="roundRect">
            <a:avLst>
              <a:gd name="adj" fmla="val 2759"/>
            </a:avLst>
          </a:prstGeom>
          <a:solidFill>
            <a:srgbClr val="FDF3E8"/>
          </a:solidFill>
          <a:ln/>
        </p:spPr>
      </p:sp>
      <p:sp>
        <p:nvSpPr>
          <p:cNvPr id="29" name="Text 27"/>
          <p:cNvSpPr txBox="1"/>
          <p:nvPr/>
        </p:nvSpPr>
        <p:spPr>
          <a:xfrm>
            <a:off x="8001000" y="3611880"/>
            <a:ext cx="3657600" cy="320040"/>
          </a:xfrm>
          <a:prstGeom prst="rect">
            <a:avLst/>
          </a:prstGeom>
          <a:noFill/>
          <a:ln/>
        </p:spPr>
        <p:txBody>
          <a:bodyPr wrap="square" lIns="0" tIns="0" rIns="0" bIns="0" rtlCol="0" anchor="ctr"/>
          <a:lstStyle/>
          <a:p>
            <a:pPr indent="0" marL="0">
              <a:buNone/>
            </a:pPr>
            <a:r>
              <a:rPr lang="en-US" sz="1150" b="1" dirty="0">
                <a:solidFill>
                  <a:srgbClr val="B5651D"/>
                </a:solidFill>
                <a:latin typeface="Calibri" pitchFamily="34" charset="0"/>
                <a:ea typeface="Calibri" pitchFamily="34" charset="-122"/>
                <a:cs typeface="Calibri" pitchFamily="34" charset="-120"/>
              </a:rPr>
              <a:t>⚠  Kesalahan Umum Pemula</a:t>
            </a:r>
            <a:endParaRPr lang="en-US" sz="1150" dirty="0"/>
          </a:p>
        </p:txBody>
      </p:sp>
      <p:sp>
        <p:nvSpPr>
          <p:cNvPr id="30" name="Text 28"/>
          <p:cNvSpPr txBox="1"/>
          <p:nvPr/>
        </p:nvSpPr>
        <p:spPr>
          <a:xfrm>
            <a:off x="8001000" y="3977640"/>
            <a:ext cx="3337560" cy="2011680"/>
          </a:xfrm>
          <a:prstGeom prst="rect">
            <a:avLst/>
          </a:prstGeom>
          <a:noFill/>
          <a:ln/>
        </p:spPr>
        <p:txBody>
          <a:bodyPr wrap="square" lIns="0" tIns="0" rIns="0" bIns="0" rtlCol="0" anchor="ctr"/>
          <a:lstStyle/>
          <a:p>
            <a:pPr indent="0" marL="0">
              <a:lnSpc>
                <a:spcPct val="120000"/>
              </a:lnSpc>
              <a:buNone/>
            </a:pPr>
            <a:r>
              <a:rPr lang="en-US" sz="1100" dirty="0">
                <a:solidFill>
                  <a:srgbClr val="1B2A32"/>
                </a:solidFill>
                <a:latin typeface="Calibri" pitchFamily="34" charset="0"/>
                <a:ea typeface="Calibri" pitchFamily="34" charset="-122"/>
                <a:cs typeface="Calibri" pitchFamily="34" charset="-120"/>
              </a:rPr>
              <a:t>install.packages() hanya perlu dijalankan satu kali per komputer. Memanggilnya berulang di dalam skrip yang sama memperlambat eksekusi secara tidak perlu — cukup gunakan library() setiap memulai sesi baru.</a:t>
            </a:r>
            <a:endParaRPr lang="en-US" sz="1100" dirty="0"/>
          </a:p>
        </p:txBody>
      </p:sp>
      <p:sp>
        <p:nvSpPr>
          <p:cNvPr id="31" name="Text 29"/>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5C6E76"/>
                </a:solidFill>
                <a:latin typeface="Calibri" pitchFamily="34" charset="0"/>
                <a:ea typeface="Calibri" pitchFamily="34" charset="-122"/>
                <a:cs typeface="Calibri" pitchFamily="34" charset="-120"/>
              </a:rPr>
              <a:t>BAB 1 · PENGANTAR STATISTIK TEKNIK DAN LINGKUNGAN R</a:t>
            </a:r>
            <a:endParaRPr lang="en-US" sz="900" dirty="0"/>
          </a:p>
        </p:txBody>
      </p:sp>
      <p:sp>
        <p:nvSpPr>
          <p:cNvPr id="32" name="Text 30"/>
          <p:cNvSpPr txBox="1"/>
          <p:nvPr/>
        </p:nvSpPr>
        <p:spPr>
          <a:xfrm>
            <a:off x="10241280" y="6510528"/>
            <a:ext cx="1371600" cy="274320"/>
          </a:xfrm>
          <a:prstGeom prst="rect">
            <a:avLst/>
          </a:prstGeom>
          <a:noFill/>
          <a:ln/>
        </p:spPr>
        <p:txBody>
          <a:bodyPr wrap="square" lIns="0" tIns="0" rIns="0" bIns="0" rtlCol="0" anchor="ctr"/>
          <a:lstStyle/>
          <a:p>
            <a:pPr algn="r" indent="0" marL="0">
              <a:buNone/>
            </a:pPr>
            <a:r>
              <a:rPr lang="en-US" sz="900" dirty="0">
                <a:solidFill>
                  <a:srgbClr val="5C6E76"/>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300" b="1" spc="100" kern="0" dirty="0">
                <a:solidFill>
                  <a:srgbClr val="1C7293"/>
                </a:solidFill>
                <a:latin typeface="Calibri" pitchFamily="34" charset="0"/>
                <a:ea typeface="Calibri" pitchFamily="34" charset="-122"/>
                <a:cs typeface="Calibri" pitchFamily="34" charset="-120"/>
              </a:rPr>
              <a:t>SUB-BAB 1.4</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0B3C5D"/>
                </a:solidFill>
                <a:latin typeface="Cambria" pitchFamily="34" charset="0"/>
                <a:ea typeface="Cambria" pitchFamily="34" charset="-122"/>
                <a:cs typeface="Cambria" pitchFamily="34" charset="-120"/>
              </a:rPr>
              <a:t>Sintaks Dasar R — Variabel dan Tipe Data</a:t>
            </a:r>
            <a:endParaRPr lang="en-US" sz="3000" dirty="0"/>
          </a:p>
        </p:txBody>
      </p:sp>
      <p:sp>
        <p:nvSpPr>
          <p:cNvPr id="4" name="Shape 2"/>
          <p:cNvSpPr/>
          <p:nvPr/>
        </p:nvSpPr>
        <p:spPr>
          <a:xfrm>
            <a:off x="548640" y="1389888"/>
            <a:ext cx="822960" cy="41148"/>
          </a:xfrm>
          <a:prstGeom prst="rect">
            <a:avLst/>
          </a:prstGeom>
          <a:solidFill>
            <a:srgbClr val="F4A261"/>
          </a:solidFill>
          <a:ln/>
        </p:spPr>
      </p:sp>
      <p:sp>
        <p:nvSpPr>
          <p:cNvPr id="5" name="Text 3"/>
          <p:cNvSpPr txBox="1"/>
          <p:nvPr/>
        </p:nvSpPr>
        <p:spPr>
          <a:xfrm>
            <a:off x="548640" y="1600200"/>
            <a:ext cx="11064240" cy="548640"/>
          </a:xfrm>
          <a:prstGeom prst="rect">
            <a:avLst/>
          </a:prstGeom>
          <a:noFill/>
          <a:ln/>
        </p:spPr>
        <p:txBody>
          <a:bodyPr wrap="square" lIns="0" tIns="0" rIns="0" bIns="0" rtlCol="0" anchor="ctr"/>
          <a:lstStyle/>
          <a:p>
            <a:pPr indent="0" marL="0">
              <a:lnSpc>
                <a:spcPct val="115000"/>
              </a:lnSpc>
              <a:buNone/>
            </a:pPr>
            <a:r>
              <a:rPr lang="en-US" sz="1250" dirty="0">
                <a:solidFill>
                  <a:srgbClr val="1B2A32"/>
                </a:solidFill>
                <a:latin typeface="Calibri" pitchFamily="34" charset="0"/>
                <a:ea typeface="Calibri" pitchFamily="34" charset="-122"/>
                <a:cs typeface="Calibri" pitchFamily="34" charset="-120"/>
              </a:rPr>
              <a:t>R menggunakan operator  &lt;-  sebagai operator penugasan standar dan bersifat case-sensitive (Nilai dan nilai adalah dua objek berbeda). Tanda pagar (#) menandai komentar.</a:t>
            </a:r>
            <a:endParaRPr lang="en-US" sz="1250" dirty="0"/>
          </a:p>
        </p:txBody>
      </p:sp>
      <p:sp>
        <p:nvSpPr>
          <p:cNvPr id="6" name="Shape 4"/>
          <p:cNvSpPr/>
          <p:nvPr/>
        </p:nvSpPr>
        <p:spPr>
          <a:xfrm>
            <a:off x="548640" y="2286000"/>
            <a:ext cx="6035040" cy="3566160"/>
          </a:xfrm>
          <a:prstGeom prst="roundRect">
            <a:avLst>
              <a:gd name="adj" fmla="val 2051"/>
            </a:avLst>
          </a:prstGeom>
          <a:solidFill>
            <a:srgbClr val="16232B"/>
          </a:solidFill>
          <a:ln w="12700">
            <a:solidFill>
              <a:srgbClr val="0A1116"/>
            </a:solidFill>
            <a:prstDash val="solid"/>
          </a:ln>
          <a:effectLst>
            <a:outerShdw sx="100000" sy="100000" kx="0" ky="0" algn="bl" rotWithShape="0" blurRad="76200" dist="25400" dir="5400000">
              <a:srgbClr val="000000">
                <a:alpha val="25000"/>
              </a:srgbClr>
            </a:outerShdw>
          </a:effectLst>
        </p:spPr>
      </p:sp>
      <p:sp>
        <p:nvSpPr>
          <p:cNvPr id="7" name="Shape 5"/>
          <p:cNvSpPr/>
          <p:nvPr/>
        </p:nvSpPr>
        <p:spPr>
          <a:xfrm>
            <a:off x="713232" y="2414016"/>
            <a:ext cx="109728" cy="109728"/>
          </a:xfrm>
          <a:prstGeom prst="ellipse">
            <a:avLst/>
          </a:prstGeom>
          <a:solidFill>
            <a:srgbClr val="E06C75"/>
          </a:solidFill>
          <a:ln/>
        </p:spPr>
      </p:sp>
      <p:sp>
        <p:nvSpPr>
          <p:cNvPr id="8" name="Shape 6"/>
          <p:cNvSpPr/>
          <p:nvPr/>
        </p:nvSpPr>
        <p:spPr>
          <a:xfrm>
            <a:off x="914400" y="2414016"/>
            <a:ext cx="109728" cy="109728"/>
          </a:xfrm>
          <a:prstGeom prst="ellipse">
            <a:avLst/>
          </a:prstGeom>
          <a:solidFill>
            <a:srgbClr val="E5C07B"/>
          </a:solidFill>
          <a:ln/>
        </p:spPr>
      </p:sp>
      <p:sp>
        <p:nvSpPr>
          <p:cNvPr id="9" name="Shape 7"/>
          <p:cNvSpPr/>
          <p:nvPr/>
        </p:nvSpPr>
        <p:spPr>
          <a:xfrm>
            <a:off x="1115568" y="2414016"/>
            <a:ext cx="109728" cy="109728"/>
          </a:xfrm>
          <a:prstGeom prst="ellipse">
            <a:avLst/>
          </a:prstGeom>
          <a:solidFill>
            <a:srgbClr val="98C379"/>
          </a:solidFill>
          <a:ln/>
        </p:spPr>
      </p:sp>
      <p:sp>
        <p:nvSpPr>
          <p:cNvPr id="10" name="Text 8"/>
          <p:cNvSpPr txBox="1"/>
          <p:nvPr/>
        </p:nvSpPr>
        <p:spPr>
          <a:xfrm>
            <a:off x="1371600" y="2359152"/>
            <a:ext cx="5029200" cy="219456"/>
          </a:xfrm>
          <a:prstGeom prst="rect">
            <a:avLst/>
          </a:prstGeom>
          <a:noFill/>
          <a:ln/>
        </p:spPr>
        <p:txBody>
          <a:bodyPr wrap="square" lIns="0" tIns="0" rIns="0" bIns="0" rtlCol="0" anchor="ctr"/>
          <a:lstStyle/>
          <a:p>
            <a:pPr indent="0" marL="0">
              <a:buNone/>
            </a:pPr>
            <a:r>
              <a:rPr lang="en-US" sz="1000" dirty="0">
                <a:solidFill>
                  <a:srgbClr val="8B9AA3"/>
                </a:solidFill>
                <a:latin typeface="Courier New" pitchFamily="34" charset="0"/>
                <a:ea typeface="Courier New" pitchFamily="34" charset="-122"/>
                <a:cs typeface="Courier New" pitchFamily="34" charset="-120"/>
              </a:rPr>
              <a:t>Kode R 1.2</a:t>
            </a:r>
            <a:endParaRPr lang="en-US" sz="1000" dirty="0"/>
          </a:p>
        </p:txBody>
      </p:sp>
      <p:sp>
        <p:nvSpPr>
          <p:cNvPr id="11" name="Text 9"/>
          <p:cNvSpPr txBox="1"/>
          <p:nvPr/>
        </p:nvSpPr>
        <p:spPr>
          <a:xfrm>
            <a:off x="804672" y="2651760"/>
            <a:ext cx="5522976" cy="3063240"/>
          </a:xfrm>
          <a:prstGeom prst="rect">
            <a:avLst/>
          </a:prstGeom>
          <a:noFill/>
          <a:ln/>
        </p:spPr>
        <p:txBody>
          <a:bodyPr wrap="square" lIns="0" tIns="0" rIns="0" bIns="0" rtlCol="0" anchor="t"/>
          <a:lstStyle/>
          <a:p>
            <a:pPr indent="0" marL="0">
              <a:lnSpc>
                <a:spcPct val="118000"/>
              </a:lnSpc>
              <a:buNone/>
            </a:pPr>
            <a:r>
              <a:rPr lang="en-US" sz="1100" dirty="0">
                <a:solidFill>
                  <a:srgbClr val="6B8A94"/>
                </a:solidFill>
                <a:latin typeface="Courier New" pitchFamily="34" charset="0"/>
                <a:ea typeface="Courier New" pitchFamily="34" charset="-122"/>
                <a:cs typeface="Courier New" pitchFamily="34" charset="-120"/>
              </a:rPr>
              <a:t># Mencatat metrik dasar sebuah server</a:t>
            </a:r>
            <a:endParaRPr lang="en-US" sz="1100" dirty="0"/>
          </a:p>
          <a:p>
            <a:pPr indent="0" marL="0">
              <a:lnSpc>
                <a:spcPct val="118000"/>
              </a:lnSpc>
              <a:buNone/>
            </a:pPr>
            <a:r>
              <a:rPr lang="en-US" sz="1100" dirty="0">
                <a:solidFill>
                  <a:srgbClr val="8FD694"/>
                </a:solidFill>
                <a:latin typeface="Courier New" pitchFamily="34" charset="0"/>
                <a:ea typeface="Courier New" pitchFamily="34" charset="-122"/>
                <a:cs typeface="Courier New" pitchFamily="34" charset="-120"/>
              </a:rPr>
              <a:t>nama_server &lt;- "SRV-WEB-01"   # character</a:t>
            </a:r>
            <a:endParaRPr lang="en-US" sz="1100" dirty="0"/>
          </a:p>
          <a:p>
            <a:pPr indent="0" marL="0">
              <a:lnSpc>
                <a:spcPct val="118000"/>
              </a:lnSpc>
              <a:buNone/>
            </a:pPr>
            <a:r>
              <a:rPr lang="en-US" sz="1100" dirty="0">
                <a:solidFill>
                  <a:srgbClr val="8FD694"/>
                </a:solidFill>
                <a:latin typeface="Courier New" pitchFamily="34" charset="0"/>
                <a:ea typeface="Courier New" pitchFamily="34" charset="-122"/>
                <a:cs typeface="Courier New" pitchFamily="34" charset="-120"/>
              </a:rPr>
              <a:t>jumlah_cpu  &lt;- 8              # numeric (double)</a:t>
            </a:r>
            <a:endParaRPr lang="en-US" sz="1100" dirty="0"/>
          </a:p>
          <a:p>
            <a:pPr indent="0" marL="0">
              <a:lnSpc>
                <a:spcPct val="118000"/>
              </a:lnSpc>
              <a:buNone/>
            </a:pPr>
            <a:r>
              <a:rPr lang="en-US" sz="1100" dirty="0">
                <a:solidFill>
                  <a:srgbClr val="8FD694"/>
                </a:solidFill>
                <a:latin typeface="Courier New" pitchFamily="34" charset="0"/>
                <a:ea typeface="Courier New" pitchFamily="34" charset="-122"/>
                <a:cs typeface="Courier New" pitchFamily="34" charset="-120"/>
              </a:rPr>
              <a:t>is_aktif    &lt;- TRUE           # logical</a:t>
            </a:r>
            <a:endParaRPr lang="en-US" sz="1100" dirty="0"/>
          </a:p>
          <a:p>
            <a:pPr indent="0" marL="0">
              <a:lnSpc>
                <a:spcPct val="118000"/>
              </a:lnSpc>
              <a:buNone/>
            </a:pPr>
            <a:r>
              <a:rPr lang="en-US" sz="1100" dirty="0">
                <a:solidFill>
                  <a:srgbClr val="8FD694"/>
                </a:solidFill>
                <a:latin typeface="Courier New" pitchFamily="34" charset="0"/>
                <a:ea typeface="Courier New" pitchFamily="34" charset="-122"/>
                <a:cs typeface="Courier New" pitchFamily="34" charset="-120"/>
              </a:rPr>
              <a:t>port_layanan &lt;- 8080L         # integer (L)</a:t>
            </a:r>
            <a:endParaRPr lang="en-US" sz="1100" dirty="0"/>
          </a:p>
          <a:p>
            <a:pPr indent="0" marL="0">
              <a:lnSpc>
                <a:spcPct val="118000"/>
              </a:lnSpc>
              <a:buNone/>
            </a:pPr>
            <a:endParaRPr lang="en-US" sz="1100" dirty="0"/>
          </a:p>
          <a:p>
            <a:pPr indent="0" marL="0">
              <a:lnSpc>
                <a:spcPct val="118000"/>
              </a:lnSpc>
              <a:buNone/>
            </a:pPr>
            <a:r>
              <a:rPr lang="en-US" sz="1100" dirty="0">
                <a:solidFill>
                  <a:srgbClr val="6B8A94"/>
                </a:solidFill>
                <a:latin typeface="Courier New" pitchFamily="34" charset="0"/>
                <a:ea typeface="Courier New" pitchFamily="34" charset="-122"/>
                <a:cs typeface="Courier New" pitchFamily="34" charset="-120"/>
              </a:rPr>
              <a:t># Menampilkan tipe data setiap objek</a:t>
            </a:r>
            <a:endParaRPr lang="en-US" sz="1100" dirty="0"/>
          </a:p>
          <a:p>
            <a:pPr indent="0" marL="0">
              <a:lnSpc>
                <a:spcPct val="118000"/>
              </a:lnSpc>
              <a:buNone/>
            </a:pPr>
            <a:r>
              <a:rPr lang="en-US" sz="1100" dirty="0">
                <a:solidFill>
                  <a:srgbClr val="8FD694"/>
                </a:solidFill>
                <a:latin typeface="Courier New" pitchFamily="34" charset="0"/>
                <a:ea typeface="Courier New" pitchFamily="34" charset="-122"/>
                <a:cs typeface="Courier New" pitchFamily="34" charset="-120"/>
              </a:rPr>
              <a:t>class(nama_server)</a:t>
            </a:r>
            <a:endParaRPr lang="en-US" sz="1100" dirty="0"/>
          </a:p>
          <a:p>
            <a:pPr indent="0" marL="0">
              <a:lnSpc>
                <a:spcPct val="118000"/>
              </a:lnSpc>
              <a:buNone/>
            </a:pPr>
            <a:r>
              <a:rPr lang="en-US" sz="1100" dirty="0">
                <a:solidFill>
                  <a:srgbClr val="8FD694"/>
                </a:solidFill>
                <a:latin typeface="Courier New" pitchFamily="34" charset="0"/>
                <a:ea typeface="Courier New" pitchFamily="34" charset="-122"/>
                <a:cs typeface="Courier New" pitchFamily="34" charset="-120"/>
              </a:rPr>
              <a:t>class(jumlah_cpu)</a:t>
            </a:r>
            <a:endParaRPr lang="en-US" sz="1100" dirty="0"/>
          </a:p>
          <a:p>
            <a:pPr indent="0" marL="0">
              <a:lnSpc>
                <a:spcPct val="118000"/>
              </a:lnSpc>
              <a:buNone/>
            </a:pPr>
            <a:r>
              <a:rPr lang="en-US" sz="1100" dirty="0">
                <a:solidFill>
                  <a:srgbClr val="8FD694"/>
                </a:solidFill>
                <a:latin typeface="Courier New" pitchFamily="34" charset="0"/>
                <a:ea typeface="Courier New" pitchFamily="34" charset="-122"/>
                <a:cs typeface="Courier New" pitchFamily="34" charset="-120"/>
              </a:rPr>
              <a:t>class(is_aktif)</a:t>
            </a:r>
            <a:endParaRPr lang="en-US" sz="1100" dirty="0"/>
          </a:p>
          <a:p>
            <a:pPr indent="0" marL="0">
              <a:lnSpc>
                <a:spcPct val="118000"/>
              </a:lnSpc>
              <a:buNone/>
            </a:pPr>
            <a:r>
              <a:rPr lang="en-US" sz="1100" dirty="0">
                <a:solidFill>
                  <a:srgbClr val="8FD694"/>
                </a:solidFill>
                <a:latin typeface="Courier New" pitchFamily="34" charset="0"/>
                <a:ea typeface="Courier New" pitchFamily="34" charset="-122"/>
                <a:cs typeface="Courier New" pitchFamily="34" charset="-120"/>
              </a:rPr>
              <a:t>class(port_layanan)</a:t>
            </a:r>
            <a:endParaRPr lang="en-US" sz="1100" dirty="0"/>
          </a:p>
        </p:txBody>
      </p:sp>
      <p:sp>
        <p:nvSpPr>
          <p:cNvPr id="12" name="Shape 10"/>
          <p:cNvSpPr/>
          <p:nvPr/>
        </p:nvSpPr>
        <p:spPr>
          <a:xfrm>
            <a:off x="6812280" y="2286000"/>
            <a:ext cx="4800600" cy="1600200"/>
          </a:xfrm>
          <a:prstGeom prst="roundRect">
            <a:avLst>
              <a:gd name="adj" fmla="val 3429"/>
            </a:avLst>
          </a:prstGeom>
          <a:solidFill>
            <a:srgbClr val="F3F6F5"/>
          </a:solidFill>
          <a:ln w="12700">
            <a:solidFill>
              <a:srgbClr val="CBD6D6"/>
            </a:solidFill>
            <a:prstDash val="solid"/>
          </a:ln>
        </p:spPr>
      </p:sp>
      <p:sp>
        <p:nvSpPr>
          <p:cNvPr id="13" name="Text 11"/>
          <p:cNvSpPr txBox="1"/>
          <p:nvPr/>
        </p:nvSpPr>
        <p:spPr>
          <a:xfrm>
            <a:off x="6976872" y="2359152"/>
            <a:ext cx="4471416" cy="182880"/>
          </a:xfrm>
          <a:prstGeom prst="rect">
            <a:avLst/>
          </a:prstGeom>
          <a:noFill/>
          <a:ln/>
        </p:spPr>
        <p:txBody>
          <a:bodyPr wrap="square" lIns="0" tIns="0" rIns="0" bIns="0" rtlCol="0" anchor="ctr"/>
          <a:lstStyle/>
          <a:p>
            <a:pPr indent="0" marL="0">
              <a:buNone/>
            </a:pPr>
            <a:r>
              <a:rPr lang="en-US" sz="850" b="1" spc="100" kern="0" dirty="0">
                <a:solidFill>
                  <a:srgbClr val="1C7293"/>
                </a:solidFill>
                <a:latin typeface="Calibri" pitchFamily="34" charset="0"/>
                <a:ea typeface="Calibri" pitchFamily="34" charset="-122"/>
                <a:cs typeface="Calibri" pitchFamily="34" charset="-120"/>
              </a:rPr>
              <a:t>OUTPUT</a:t>
            </a:r>
            <a:endParaRPr lang="en-US" sz="850" dirty="0"/>
          </a:p>
        </p:txBody>
      </p:sp>
      <p:sp>
        <p:nvSpPr>
          <p:cNvPr id="14" name="Text 12"/>
          <p:cNvSpPr txBox="1"/>
          <p:nvPr/>
        </p:nvSpPr>
        <p:spPr>
          <a:xfrm>
            <a:off x="6976872" y="2560320"/>
            <a:ext cx="4471416" cy="1216152"/>
          </a:xfrm>
          <a:prstGeom prst="rect">
            <a:avLst/>
          </a:prstGeom>
          <a:noFill/>
          <a:ln/>
        </p:spPr>
        <p:txBody>
          <a:bodyPr wrap="square" lIns="0" tIns="0" rIns="0" bIns="0" rtlCol="0" anchor="t"/>
          <a:lstStyle/>
          <a:p>
            <a:pPr indent="0" marL="0">
              <a:lnSpc>
                <a:spcPct val="110000"/>
              </a:lnSpc>
              <a:buNone/>
            </a:pPr>
            <a:r>
              <a:rPr lang="en-US" sz="1000" dirty="0">
                <a:solidFill>
                  <a:srgbClr val="2A3A3F"/>
                </a:solidFill>
                <a:latin typeface="Courier New" pitchFamily="34" charset="0"/>
                <a:ea typeface="Courier New" pitchFamily="34" charset="-122"/>
                <a:cs typeface="Courier New" pitchFamily="34" charset="-120"/>
              </a:rPr>
              <a:t>[1] "character"</a:t>
            </a:r>
            <a:endParaRPr lang="en-US" sz="1000" dirty="0"/>
          </a:p>
          <a:p>
            <a:pPr indent="0" marL="0">
              <a:lnSpc>
                <a:spcPct val="110000"/>
              </a:lnSpc>
              <a:buNone/>
            </a:pPr>
            <a:r>
              <a:rPr lang="en-US" sz="1000" dirty="0">
                <a:solidFill>
                  <a:srgbClr val="2A3A3F"/>
                </a:solidFill>
                <a:latin typeface="Courier New" pitchFamily="34" charset="0"/>
                <a:ea typeface="Courier New" pitchFamily="34" charset="-122"/>
                <a:cs typeface="Courier New" pitchFamily="34" charset="-120"/>
              </a:rPr>
              <a:t>[1] "numeric"</a:t>
            </a:r>
            <a:endParaRPr lang="en-US" sz="1000" dirty="0"/>
          </a:p>
          <a:p>
            <a:pPr indent="0" marL="0">
              <a:lnSpc>
                <a:spcPct val="110000"/>
              </a:lnSpc>
              <a:buNone/>
            </a:pPr>
            <a:r>
              <a:rPr lang="en-US" sz="1000" dirty="0">
                <a:solidFill>
                  <a:srgbClr val="2A3A3F"/>
                </a:solidFill>
                <a:latin typeface="Courier New" pitchFamily="34" charset="0"/>
                <a:ea typeface="Courier New" pitchFamily="34" charset="-122"/>
                <a:cs typeface="Courier New" pitchFamily="34" charset="-120"/>
              </a:rPr>
              <a:t>[1] "logical"</a:t>
            </a:r>
            <a:endParaRPr lang="en-US" sz="1000" dirty="0"/>
          </a:p>
          <a:p>
            <a:pPr indent="0" marL="0">
              <a:lnSpc>
                <a:spcPct val="110000"/>
              </a:lnSpc>
              <a:buNone/>
            </a:pPr>
            <a:r>
              <a:rPr lang="en-US" sz="1000" dirty="0">
                <a:solidFill>
                  <a:srgbClr val="2A3A3F"/>
                </a:solidFill>
                <a:latin typeface="Courier New" pitchFamily="34" charset="0"/>
                <a:ea typeface="Courier New" pitchFamily="34" charset="-122"/>
                <a:cs typeface="Courier New" pitchFamily="34" charset="-120"/>
              </a:rPr>
              <a:t>[1] "integer"</a:t>
            </a:r>
            <a:endParaRPr lang="en-US" sz="1000" dirty="0"/>
          </a:p>
        </p:txBody>
      </p:sp>
      <p:sp>
        <p:nvSpPr>
          <p:cNvPr id="15" name="Shape 13"/>
          <p:cNvSpPr/>
          <p:nvPr/>
        </p:nvSpPr>
        <p:spPr>
          <a:xfrm>
            <a:off x="6812280" y="4169664"/>
            <a:ext cx="128016" cy="128016"/>
          </a:xfrm>
          <a:prstGeom prst="rect">
            <a:avLst/>
          </a:prstGeom>
          <a:solidFill>
            <a:srgbClr val="0B3C5D"/>
          </a:solidFill>
          <a:ln/>
        </p:spPr>
      </p:sp>
      <p:sp>
        <p:nvSpPr>
          <p:cNvPr id="16" name="Text 14"/>
          <p:cNvSpPr txBox="1"/>
          <p:nvPr/>
        </p:nvSpPr>
        <p:spPr>
          <a:xfrm>
            <a:off x="7040880" y="4114800"/>
            <a:ext cx="1463040" cy="292608"/>
          </a:xfrm>
          <a:prstGeom prst="rect">
            <a:avLst/>
          </a:prstGeom>
          <a:noFill/>
          <a:ln/>
        </p:spPr>
        <p:txBody>
          <a:bodyPr wrap="square" lIns="0" tIns="0" rIns="0" bIns="0" rtlCol="0" anchor="ctr"/>
          <a:lstStyle/>
          <a:p>
            <a:pPr indent="0" marL="0">
              <a:buNone/>
            </a:pPr>
            <a:r>
              <a:rPr lang="en-US" sz="1100" b="1" dirty="0">
                <a:solidFill>
                  <a:srgbClr val="1B2A32"/>
                </a:solidFill>
                <a:latin typeface="Courier New" pitchFamily="34" charset="0"/>
                <a:ea typeface="Courier New" pitchFamily="34" charset="-122"/>
                <a:cs typeface="Courier New" pitchFamily="34" charset="-120"/>
              </a:rPr>
              <a:t>character</a:t>
            </a:r>
            <a:endParaRPr lang="en-US" sz="1100" dirty="0"/>
          </a:p>
        </p:txBody>
      </p:sp>
      <p:sp>
        <p:nvSpPr>
          <p:cNvPr id="17" name="Text 15"/>
          <p:cNvSpPr txBox="1"/>
          <p:nvPr/>
        </p:nvSpPr>
        <p:spPr>
          <a:xfrm>
            <a:off x="8412480" y="4114800"/>
            <a:ext cx="3200400" cy="292608"/>
          </a:xfrm>
          <a:prstGeom prst="rect">
            <a:avLst/>
          </a:prstGeom>
          <a:noFill/>
          <a:ln/>
        </p:spPr>
        <p:txBody>
          <a:bodyPr wrap="square" lIns="0" tIns="0" rIns="0" bIns="0" rtlCol="0" anchor="ctr"/>
          <a:lstStyle/>
          <a:p>
            <a:pPr indent="0" marL="0">
              <a:buNone/>
            </a:pPr>
            <a:r>
              <a:rPr lang="en-US" sz="1050" dirty="0">
                <a:solidFill>
                  <a:srgbClr val="5C6E76"/>
                </a:solidFill>
                <a:latin typeface="Calibri" pitchFamily="34" charset="0"/>
                <a:ea typeface="Calibri" pitchFamily="34" charset="-122"/>
                <a:cs typeface="Calibri" pitchFamily="34" charset="-120"/>
              </a:rPr>
              <a:t>Teks / string</a:t>
            </a:r>
            <a:endParaRPr lang="en-US" sz="1050" dirty="0"/>
          </a:p>
        </p:txBody>
      </p:sp>
      <p:sp>
        <p:nvSpPr>
          <p:cNvPr id="18" name="Shape 16"/>
          <p:cNvSpPr/>
          <p:nvPr/>
        </p:nvSpPr>
        <p:spPr>
          <a:xfrm>
            <a:off x="6812280" y="4553712"/>
            <a:ext cx="128016" cy="128016"/>
          </a:xfrm>
          <a:prstGeom prst="rect">
            <a:avLst/>
          </a:prstGeom>
          <a:solidFill>
            <a:srgbClr val="1C7293"/>
          </a:solidFill>
          <a:ln/>
        </p:spPr>
      </p:sp>
      <p:sp>
        <p:nvSpPr>
          <p:cNvPr id="19" name="Text 17"/>
          <p:cNvSpPr txBox="1"/>
          <p:nvPr/>
        </p:nvSpPr>
        <p:spPr>
          <a:xfrm>
            <a:off x="7040880" y="4498848"/>
            <a:ext cx="1463040" cy="292608"/>
          </a:xfrm>
          <a:prstGeom prst="rect">
            <a:avLst/>
          </a:prstGeom>
          <a:noFill/>
          <a:ln/>
        </p:spPr>
        <p:txBody>
          <a:bodyPr wrap="square" lIns="0" tIns="0" rIns="0" bIns="0" rtlCol="0" anchor="ctr"/>
          <a:lstStyle/>
          <a:p>
            <a:pPr indent="0" marL="0">
              <a:buNone/>
            </a:pPr>
            <a:r>
              <a:rPr lang="en-US" sz="1100" b="1" dirty="0">
                <a:solidFill>
                  <a:srgbClr val="1B2A32"/>
                </a:solidFill>
                <a:latin typeface="Courier New" pitchFamily="34" charset="0"/>
                <a:ea typeface="Courier New" pitchFamily="34" charset="-122"/>
                <a:cs typeface="Courier New" pitchFamily="34" charset="-120"/>
              </a:rPr>
              <a:t>numeric</a:t>
            </a:r>
            <a:endParaRPr lang="en-US" sz="1100" dirty="0"/>
          </a:p>
        </p:txBody>
      </p:sp>
      <p:sp>
        <p:nvSpPr>
          <p:cNvPr id="20" name="Text 18"/>
          <p:cNvSpPr txBox="1"/>
          <p:nvPr/>
        </p:nvSpPr>
        <p:spPr>
          <a:xfrm>
            <a:off x="8412480" y="4498848"/>
            <a:ext cx="3200400" cy="292608"/>
          </a:xfrm>
          <a:prstGeom prst="rect">
            <a:avLst/>
          </a:prstGeom>
          <a:noFill/>
          <a:ln/>
        </p:spPr>
        <p:txBody>
          <a:bodyPr wrap="square" lIns="0" tIns="0" rIns="0" bIns="0" rtlCol="0" anchor="ctr"/>
          <a:lstStyle/>
          <a:p>
            <a:pPr indent="0" marL="0">
              <a:buNone/>
            </a:pPr>
            <a:r>
              <a:rPr lang="en-US" sz="1050" dirty="0">
                <a:solidFill>
                  <a:srgbClr val="5C6E76"/>
                </a:solidFill>
                <a:latin typeface="Calibri" pitchFamily="34" charset="0"/>
                <a:ea typeface="Calibri" pitchFamily="34" charset="-122"/>
                <a:cs typeface="Calibri" pitchFamily="34" charset="-120"/>
              </a:rPr>
              <a:t>Angka desimal (double)</a:t>
            </a:r>
            <a:endParaRPr lang="en-US" sz="1050" dirty="0"/>
          </a:p>
        </p:txBody>
      </p:sp>
      <p:sp>
        <p:nvSpPr>
          <p:cNvPr id="21" name="Shape 19"/>
          <p:cNvSpPr/>
          <p:nvPr/>
        </p:nvSpPr>
        <p:spPr>
          <a:xfrm>
            <a:off x="6812280" y="4937760"/>
            <a:ext cx="128016" cy="128016"/>
          </a:xfrm>
          <a:prstGeom prst="rect">
            <a:avLst/>
          </a:prstGeom>
          <a:solidFill>
            <a:srgbClr val="F4A261"/>
          </a:solidFill>
          <a:ln/>
        </p:spPr>
      </p:sp>
      <p:sp>
        <p:nvSpPr>
          <p:cNvPr id="22" name="Text 20"/>
          <p:cNvSpPr txBox="1"/>
          <p:nvPr/>
        </p:nvSpPr>
        <p:spPr>
          <a:xfrm>
            <a:off x="7040880" y="4882896"/>
            <a:ext cx="1463040" cy="292608"/>
          </a:xfrm>
          <a:prstGeom prst="rect">
            <a:avLst/>
          </a:prstGeom>
          <a:noFill/>
          <a:ln/>
        </p:spPr>
        <p:txBody>
          <a:bodyPr wrap="square" lIns="0" tIns="0" rIns="0" bIns="0" rtlCol="0" anchor="ctr"/>
          <a:lstStyle/>
          <a:p>
            <a:pPr indent="0" marL="0">
              <a:buNone/>
            </a:pPr>
            <a:r>
              <a:rPr lang="en-US" sz="1100" b="1" dirty="0">
                <a:solidFill>
                  <a:srgbClr val="1B2A32"/>
                </a:solidFill>
                <a:latin typeface="Courier New" pitchFamily="34" charset="0"/>
                <a:ea typeface="Courier New" pitchFamily="34" charset="-122"/>
                <a:cs typeface="Courier New" pitchFamily="34" charset="-120"/>
              </a:rPr>
              <a:t>integer</a:t>
            </a:r>
            <a:endParaRPr lang="en-US" sz="1100" dirty="0"/>
          </a:p>
        </p:txBody>
      </p:sp>
      <p:sp>
        <p:nvSpPr>
          <p:cNvPr id="23" name="Text 21"/>
          <p:cNvSpPr txBox="1"/>
          <p:nvPr/>
        </p:nvSpPr>
        <p:spPr>
          <a:xfrm>
            <a:off x="8412480" y="4882896"/>
            <a:ext cx="3200400" cy="292608"/>
          </a:xfrm>
          <a:prstGeom prst="rect">
            <a:avLst/>
          </a:prstGeom>
          <a:noFill/>
          <a:ln/>
        </p:spPr>
        <p:txBody>
          <a:bodyPr wrap="square" lIns="0" tIns="0" rIns="0" bIns="0" rtlCol="0" anchor="ctr"/>
          <a:lstStyle/>
          <a:p>
            <a:pPr indent="0" marL="0">
              <a:buNone/>
            </a:pPr>
            <a:r>
              <a:rPr lang="en-US" sz="1050" dirty="0">
                <a:solidFill>
                  <a:srgbClr val="5C6E76"/>
                </a:solidFill>
                <a:latin typeface="Calibri" pitchFamily="34" charset="0"/>
                <a:ea typeface="Calibri" pitchFamily="34" charset="-122"/>
                <a:cs typeface="Calibri" pitchFamily="34" charset="-120"/>
              </a:rPr>
              <a:t>Bilangan bulat (akhiran L)</a:t>
            </a:r>
            <a:endParaRPr lang="en-US" sz="1050" dirty="0"/>
          </a:p>
        </p:txBody>
      </p:sp>
      <p:sp>
        <p:nvSpPr>
          <p:cNvPr id="24" name="Shape 22"/>
          <p:cNvSpPr/>
          <p:nvPr/>
        </p:nvSpPr>
        <p:spPr>
          <a:xfrm>
            <a:off x="6812280" y="5321808"/>
            <a:ext cx="128016" cy="128016"/>
          </a:xfrm>
          <a:prstGeom prst="rect">
            <a:avLst/>
          </a:prstGeom>
          <a:solidFill>
            <a:srgbClr val="6D2E46"/>
          </a:solidFill>
          <a:ln/>
        </p:spPr>
      </p:sp>
      <p:sp>
        <p:nvSpPr>
          <p:cNvPr id="25" name="Text 23"/>
          <p:cNvSpPr txBox="1"/>
          <p:nvPr/>
        </p:nvSpPr>
        <p:spPr>
          <a:xfrm>
            <a:off x="7040880" y="5266944"/>
            <a:ext cx="1463040" cy="292608"/>
          </a:xfrm>
          <a:prstGeom prst="rect">
            <a:avLst/>
          </a:prstGeom>
          <a:noFill/>
          <a:ln/>
        </p:spPr>
        <p:txBody>
          <a:bodyPr wrap="square" lIns="0" tIns="0" rIns="0" bIns="0" rtlCol="0" anchor="ctr"/>
          <a:lstStyle/>
          <a:p>
            <a:pPr indent="0" marL="0">
              <a:buNone/>
            </a:pPr>
            <a:r>
              <a:rPr lang="en-US" sz="1100" b="1" dirty="0">
                <a:solidFill>
                  <a:srgbClr val="1B2A32"/>
                </a:solidFill>
                <a:latin typeface="Courier New" pitchFamily="34" charset="0"/>
                <a:ea typeface="Courier New" pitchFamily="34" charset="-122"/>
                <a:cs typeface="Courier New" pitchFamily="34" charset="-120"/>
              </a:rPr>
              <a:t>logical</a:t>
            </a:r>
            <a:endParaRPr lang="en-US" sz="1100" dirty="0"/>
          </a:p>
        </p:txBody>
      </p:sp>
      <p:sp>
        <p:nvSpPr>
          <p:cNvPr id="26" name="Text 24"/>
          <p:cNvSpPr txBox="1"/>
          <p:nvPr/>
        </p:nvSpPr>
        <p:spPr>
          <a:xfrm>
            <a:off x="8412480" y="5266944"/>
            <a:ext cx="3200400" cy="292608"/>
          </a:xfrm>
          <a:prstGeom prst="rect">
            <a:avLst/>
          </a:prstGeom>
          <a:noFill/>
          <a:ln/>
        </p:spPr>
        <p:txBody>
          <a:bodyPr wrap="square" lIns="0" tIns="0" rIns="0" bIns="0" rtlCol="0" anchor="ctr"/>
          <a:lstStyle/>
          <a:p>
            <a:pPr indent="0" marL="0">
              <a:buNone/>
            </a:pPr>
            <a:r>
              <a:rPr lang="en-US" sz="1050" dirty="0">
                <a:solidFill>
                  <a:srgbClr val="5C6E76"/>
                </a:solidFill>
                <a:latin typeface="Calibri" pitchFamily="34" charset="0"/>
                <a:ea typeface="Calibri" pitchFamily="34" charset="-122"/>
                <a:cs typeface="Calibri" pitchFamily="34" charset="-120"/>
              </a:rPr>
              <a:t>TRUE / FALSE</a:t>
            </a:r>
            <a:endParaRPr lang="en-US" sz="1050" dirty="0"/>
          </a:p>
        </p:txBody>
      </p:sp>
      <p:sp>
        <p:nvSpPr>
          <p:cNvPr id="27" name="Text 25"/>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5C6E76"/>
                </a:solidFill>
                <a:latin typeface="Calibri" pitchFamily="34" charset="0"/>
                <a:ea typeface="Calibri" pitchFamily="34" charset="-122"/>
                <a:cs typeface="Calibri" pitchFamily="34" charset="-120"/>
              </a:rPr>
              <a:t>BAB 1 · PENGANTAR STATISTIK TEKNIK DAN LINGKUNGAN R</a:t>
            </a:r>
            <a:endParaRPr lang="en-US" sz="900" dirty="0"/>
          </a:p>
        </p:txBody>
      </p:sp>
      <p:sp>
        <p:nvSpPr>
          <p:cNvPr id="28" name="Text 26"/>
          <p:cNvSpPr txBox="1"/>
          <p:nvPr/>
        </p:nvSpPr>
        <p:spPr>
          <a:xfrm>
            <a:off x="10241280" y="6510528"/>
            <a:ext cx="1371600" cy="274320"/>
          </a:xfrm>
          <a:prstGeom prst="rect">
            <a:avLst/>
          </a:prstGeom>
          <a:noFill/>
          <a:ln/>
        </p:spPr>
        <p:txBody>
          <a:bodyPr wrap="square" lIns="0" tIns="0" rIns="0" bIns="0" rtlCol="0" anchor="ctr"/>
          <a:lstStyle/>
          <a:p>
            <a:pPr algn="r" indent="0" marL="0">
              <a:buNone/>
            </a:pPr>
            <a:r>
              <a:rPr lang="en-US" sz="900" dirty="0">
                <a:solidFill>
                  <a:srgbClr val="5C6E76"/>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300" b="1" spc="100" kern="0" dirty="0">
                <a:solidFill>
                  <a:srgbClr val="1C7293"/>
                </a:solidFill>
                <a:latin typeface="Calibri" pitchFamily="34" charset="0"/>
                <a:ea typeface="Calibri" pitchFamily="34" charset="-122"/>
                <a:cs typeface="Calibri" pitchFamily="34" charset="-120"/>
              </a:rPr>
              <a:t>SUB-BAB 1.4</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2400" b="1" dirty="0">
                <a:solidFill>
                  <a:srgbClr val="0B3C5D"/>
                </a:solidFill>
                <a:latin typeface="Cambria" pitchFamily="34" charset="0"/>
                <a:ea typeface="Cambria" pitchFamily="34" charset="-122"/>
                <a:cs typeface="Cambria" pitchFamily="34" charset="-120"/>
              </a:rPr>
              <a:t>Operator Aritmetika, Relasional, dan Logika</a:t>
            </a:r>
            <a:endParaRPr lang="en-US" sz="2400" dirty="0"/>
          </a:p>
        </p:txBody>
      </p:sp>
      <p:sp>
        <p:nvSpPr>
          <p:cNvPr id="4" name="Shape 2"/>
          <p:cNvSpPr/>
          <p:nvPr/>
        </p:nvSpPr>
        <p:spPr>
          <a:xfrm>
            <a:off x="548640" y="1389888"/>
            <a:ext cx="822960" cy="41148"/>
          </a:xfrm>
          <a:prstGeom prst="rect">
            <a:avLst/>
          </a:prstGeom>
          <a:solidFill>
            <a:srgbClr val="F4A261"/>
          </a:solidFill>
          <a:ln/>
        </p:spPr>
      </p:sp>
      <p:sp>
        <p:nvSpPr>
          <p:cNvPr id="5" name="Shape 3"/>
          <p:cNvSpPr/>
          <p:nvPr/>
        </p:nvSpPr>
        <p:spPr>
          <a:xfrm>
            <a:off x="548640" y="1691640"/>
            <a:ext cx="5394960" cy="457200"/>
          </a:xfrm>
          <a:prstGeom prst="roundRect">
            <a:avLst>
              <a:gd name="adj" fmla="val 12000"/>
            </a:avLst>
          </a:prstGeom>
          <a:solidFill>
            <a:srgbClr val="EAF4F4"/>
          </a:solidFill>
          <a:ln/>
        </p:spPr>
      </p:sp>
      <p:sp>
        <p:nvSpPr>
          <p:cNvPr id="6" name="Shape 4"/>
          <p:cNvSpPr/>
          <p:nvPr/>
        </p:nvSpPr>
        <p:spPr>
          <a:xfrm>
            <a:off x="548640" y="1691640"/>
            <a:ext cx="82296" cy="457200"/>
          </a:xfrm>
          <a:prstGeom prst="rect">
            <a:avLst/>
          </a:prstGeom>
          <a:solidFill>
            <a:srgbClr val="1C7293"/>
          </a:solidFill>
          <a:ln/>
        </p:spPr>
      </p:sp>
      <p:sp>
        <p:nvSpPr>
          <p:cNvPr id="7" name="Text 5"/>
          <p:cNvSpPr txBox="1"/>
          <p:nvPr/>
        </p:nvSpPr>
        <p:spPr>
          <a:xfrm>
            <a:off x="777240" y="1691640"/>
            <a:ext cx="1371600" cy="457200"/>
          </a:xfrm>
          <a:prstGeom prst="rect">
            <a:avLst/>
          </a:prstGeom>
          <a:noFill/>
          <a:ln/>
        </p:spPr>
        <p:txBody>
          <a:bodyPr wrap="square" lIns="0" tIns="0" rIns="0" bIns="0" rtlCol="0" anchor="ctr"/>
          <a:lstStyle/>
          <a:p>
            <a:pPr indent="0" marL="0">
              <a:buNone/>
            </a:pPr>
            <a:r>
              <a:rPr lang="en-US" sz="1300" b="1" dirty="0">
                <a:solidFill>
                  <a:srgbClr val="0B3C5D"/>
                </a:solidFill>
                <a:latin typeface="Cambria" pitchFamily="34" charset="0"/>
                <a:ea typeface="Cambria" pitchFamily="34" charset="-122"/>
                <a:cs typeface="Cambria" pitchFamily="34" charset="-120"/>
              </a:rPr>
              <a:t>Aritmetika</a:t>
            </a:r>
            <a:endParaRPr lang="en-US" sz="1300" dirty="0"/>
          </a:p>
        </p:txBody>
      </p:sp>
      <p:sp>
        <p:nvSpPr>
          <p:cNvPr id="8" name="Text 6"/>
          <p:cNvSpPr txBox="1"/>
          <p:nvPr/>
        </p:nvSpPr>
        <p:spPr>
          <a:xfrm>
            <a:off x="2194560" y="1691640"/>
            <a:ext cx="3611880" cy="457200"/>
          </a:xfrm>
          <a:prstGeom prst="rect">
            <a:avLst/>
          </a:prstGeom>
          <a:noFill/>
          <a:ln/>
        </p:spPr>
        <p:txBody>
          <a:bodyPr wrap="square" lIns="0" tIns="0" rIns="0" bIns="0" rtlCol="0" anchor="ctr"/>
          <a:lstStyle/>
          <a:p>
            <a:pPr indent="0" marL="0">
              <a:buNone/>
            </a:pPr>
            <a:r>
              <a:rPr lang="en-US" sz="1200" dirty="0">
                <a:solidFill>
                  <a:srgbClr val="1B2A32"/>
                </a:solidFill>
                <a:latin typeface="Courier New" pitchFamily="34" charset="0"/>
                <a:ea typeface="Courier New" pitchFamily="34" charset="-122"/>
                <a:cs typeface="Courier New" pitchFamily="34" charset="-120"/>
              </a:rPr>
              <a:t>+  -  *  /  ^  %%  %/%</a:t>
            </a:r>
            <a:endParaRPr lang="en-US" sz="1200" dirty="0"/>
          </a:p>
        </p:txBody>
      </p:sp>
      <p:sp>
        <p:nvSpPr>
          <p:cNvPr id="9" name="Shape 7"/>
          <p:cNvSpPr/>
          <p:nvPr/>
        </p:nvSpPr>
        <p:spPr>
          <a:xfrm>
            <a:off x="548640" y="2258568"/>
            <a:ext cx="5394960" cy="457200"/>
          </a:xfrm>
          <a:prstGeom prst="roundRect">
            <a:avLst>
              <a:gd name="adj" fmla="val 12000"/>
            </a:avLst>
          </a:prstGeom>
          <a:solidFill>
            <a:srgbClr val="EAF4F4"/>
          </a:solidFill>
          <a:ln/>
        </p:spPr>
      </p:sp>
      <p:sp>
        <p:nvSpPr>
          <p:cNvPr id="10" name="Shape 8"/>
          <p:cNvSpPr/>
          <p:nvPr/>
        </p:nvSpPr>
        <p:spPr>
          <a:xfrm>
            <a:off x="548640" y="2258568"/>
            <a:ext cx="82296" cy="457200"/>
          </a:xfrm>
          <a:prstGeom prst="rect">
            <a:avLst/>
          </a:prstGeom>
          <a:solidFill>
            <a:srgbClr val="0B3C5D"/>
          </a:solidFill>
          <a:ln/>
        </p:spPr>
      </p:sp>
      <p:sp>
        <p:nvSpPr>
          <p:cNvPr id="11" name="Text 9"/>
          <p:cNvSpPr txBox="1"/>
          <p:nvPr/>
        </p:nvSpPr>
        <p:spPr>
          <a:xfrm>
            <a:off x="777240" y="2258568"/>
            <a:ext cx="1371600" cy="457200"/>
          </a:xfrm>
          <a:prstGeom prst="rect">
            <a:avLst/>
          </a:prstGeom>
          <a:noFill/>
          <a:ln/>
        </p:spPr>
        <p:txBody>
          <a:bodyPr wrap="square" lIns="0" tIns="0" rIns="0" bIns="0" rtlCol="0" anchor="ctr"/>
          <a:lstStyle/>
          <a:p>
            <a:pPr indent="0" marL="0">
              <a:buNone/>
            </a:pPr>
            <a:r>
              <a:rPr lang="en-US" sz="1300" b="1" dirty="0">
                <a:solidFill>
                  <a:srgbClr val="0B3C5D"/>
                </a:solidFill>
                <a:latin typeface="Cambria" pitchFamily="34" charset="0"/>
                <a:ea typeface="Cambria" pitchFamily="34" charset="-122"/>
                <a:cs typeface="Cambria" pitchFamily="34" charset="-120"/>
              </a:rPr>
              <a:t>Relasional</a:t>
            </a:r>
            <a:endParaRPr lang="en-US" sz="1300" dirty="0"/>
          </a:p>
        </p:txBody>
      </p:sp>
      <p:sp>
        <p:nvSpPr>
          <p:cNvPr id="12" name="Text 10"/>
          <p:cNvSpPr txBox="1"/>
          <p:nvPr/>
        </p:nvSpPr>
        <p:spPr>
          <a:xfrm>
            <a:off x="2194560" y="2258568"/>
            <a:ext cx="3611880" cy="457200"/>
          </a:xfrm>
          <a:prstGeom prst="rect">
            <a:avLst/>
          </a:prstGeom>
          <a:noFill/>
          <a:ln/>
        </p:spPr>
        <p:txBody>
          <a:bodyPr wrap="square" lIns="0" tIns="0" rIns="0" bIns="0" rtlCol="0" anchor="ctr"/>
          <a:lstStyle/>
          <a:p>
            <a:pPr indent="0" marL="0">
              <a:buNone/>
            </a:pPr>
            <a:r>
              <a:rPr lang="en-US" sz="1200" dirty="0">
                <a:solidFill>
                  <a:srgbClr val="1B2A32"/>
                </a:solidFill>
                <a:latin typeface="Courier New" pitchFamily="34" charset="0"/>
                <a:ea typeface="Courier New" pitchFamily="34" charset="-122"/>
                <a:cs typeface="Courier New" pitchFamily="34" charset="-120"/>
              </a:rPr>
              <a:t>==  !=  &lt;  &gt;  &lt;=  &gt;=  →  logical</a:t>
            </a:r>
            <a:endParaRPr lang="en-US" sz="1200" dirty="0"/>
          </a:p>
        </p:txBody>
      </p:sp>
      <p:sp>
        <p:nvSpPr>
          <p:cNvPr id="13" name="Shape 11"/>
          <p:cNvSpPr/>
          <p:nvPr/>
        </p:nvSpPr>
        <p:spPr>
          <a:xfrm>
            <a:off x="548640" y="2825496"/>
            <a:ext cx="5394960" cy="457200"/>
          </a:xfrm>
          <a:prstGeom prst="roundRect">
            <a:avLst>
              <a:gd name="adj" fmla="val 12000"/>
            </a:avLst>
          </a:prstGeom>
          <a:solidFill>
            <a:srgbClr val="EAF4F4"/>
          </a:solidFill>
          <a:ln/>
        </p:spPr>
      </p:sp>
      <p:sp>
        <p:nvSpPr>
          <p:cNvPr id="14" name="Shape 12"/>
          <p:cNvSpPr/>
          <p:nvPr/>
        </p:nvSpPr>
        <p:spPr>
          <a:xfrm>
            <a:off x="548640" y="2825496"/>
            <a:ext cx="82296" cy="457200"/>
          </a:xfrm>
          <a:prstGeom prst="rect">
            <a:avLst/>
          </a:prstGeom>
          <a:solidFill>
            <a:srgbClr val="F4A261"/>
          </a:solidFill>
          <a:ln/>
        </p:spPr>
      </p:sp>
      <p:sp>
        <p:nvSpPr>
          <p:cNvPr id="15" name="Text 13"/>
          <p:cNvSpPr txBox="1"/>
          <p:nvPr/>
        </p:nvSpPr>
        <p:spPr>
          <a:xfrm>
            <a:off x="777240" y="2825496"/>
            <a:ext cx="1371600" cy="457200"/>
          </a:xfrm>
          <a:prstGeom prst="rect">
            <a:avLst/>
          </a:prstGeom>
          <a:noFill/>
          <a:ln/>
        </p:spPr>
        <p:txBody>
          <a:bodyPr wrap="square" lIns="0" tIns="0" rIns="0" bIns="0" rtlCol="0" anchor="ctr"/>
          <a:lstStyle/>
          <a:p>
            <a:pPr indent="0" marL="0">
              <a:buNone/>
            </a:pPr>
            <a:r>
              <a:rPr lang="en-US" sz="1300" b="1" dirty="0">
                <a:solidFill>
                  <a:srgbClr val="0B3C5D"/>
                </a:solidFill>
                <a:latin typeface="Cambria" pitchFamily="34" charset="0"/>
                <a:ea typeface="Cambria" pitchFamily="34" charset="-122"/>
                <a:cs typeface="Cambria" pitchFamily="34" charset="-120"/>
              </a:rPr>
              <a:t>Logika</a:t>
            </a:r>
            <a:endParaRPr lang="en-US" sz="1300" dirty="0"/>
          </a:p>
        </p:txBody>
      </p:sp>
      <p:sp>
        <p:nvSpPr>
          <p:cNvPr id="16" name="Text 14"/>
          <p:cNvSpPr txBox="1"/>
          <p:nvPr/>
        </p:nvSpPr>
        <p:spPr>
          <a:xfrm>
            <a:off x="2194560" y="2825496"/>
            <a:ext cx="3611880" cy="457200"/>
          </a:xfrm>
          <a:prstGeom prst="rect">
            <a:avLst/>
          </a:prstGeom>
          <a:noFill/>
          <a:ln/>
        </p:spPr>
        <p:txBody>
          <a:bodyPr wrap="square" lIns="0" tIns="0" rIns="0" bIns="0" rtlCol="0" anchor="ctr"/>
          <a:lstStyle/>
          <a:p>
            <a:pPr indent="0" marL="0">
              <a:buNone/>
            </a:pPr>
            <a:r>
              <a:rPr lang="en-US" sz="1200" dirty="0">
                <a:solidFill>
                  <a:srgbClr val="1B2A32"/>
                </a:solidFill>
                <a:latin typeface="Courier New" pitchFamily="34" charset="0"/>
                <a:ea typeface="Courier New" pitchFamily="34" charset="-122"/>
                <a:cs typeface="Courier New" pitchFamily="34" charset="-120"/>
              </a:rPr>
              <a:t>&amp;  |  !  → menggabungkan kondisi</a:t>
            </a:r>
            <a:endParaRPr lang="en-US" sz="1200" dirty="0"/>
          </a:p>
        </p:txBody>
      </p:sp>
      <p:sp>
        <p:nvSpPr>
          <p:cNvPr id="17" name="Shape 15"/>
          <p:cNvSpPr/>
          <p:nvPr/>
        </p:nvSpPr>
        <p:spPr>
          <a:xfrm>
            <a:off x="548640" y="3703320"/>
            <a:ext cx="5623560" cy="2606040"/>
          </a:xfrm>
          <a:prstGeom prst="roundRect">
            <a:avLst>
              <a:gd name="adj" fmla="val 2807"/>
            </a:avLst>
          </a:prstGeom>
          <a:solidFill>
            <a:srgbClr val="16232B"/>
          </a:solidFill>
          <a:ln w="12700">
            <a:solidFill>
              <a:srgbClr val="0A1116"/>
            </a:solidFill>
            <a:prstDash val="solid"/>
          </a:ln>
          <a:effectLst>
            <a:outerShdw sx="100000" sy="100000" kx="0" ky="0" algn="bl" rotWithShape="0" blurRad="76200" dist="25400" dir="5400000">
              <a:srgbClr val="000000">
                <a:alpha val="25000"/>
              </a:srgbClr>
            </a:outerShdw>
          </a:effectLst>
        </p:spPr>
      </p:sp>
      <p:sp>
        <p:nvSpPr>
          <p:cNvPr id="18" name="Shape 16"/>
          <p:cNvSpPr/>
          <p:nvPr/>
        </p:nvSpPr>
        <p:spPr>
          <a:xfrm>
            <a:off x="713232" y="3831336"/>
            <a:ext cx="109728" cy="109728"/>
          </a:xfrm>
          <a:prstGeom prst="ellipse">
            <a:avLst/>
          </a:prstGeom>
          <a:solidFill>
            <a:srgbClr val="E06C75"/>
          </a:solidFill>
          <a:ln/>
        </p:spPr>
      </p:sp>
      <p:sp>
        <p:nvSpPr>
          <p:cNvPr id="19" name="Shape 17"/>
          <p:cNvSpPr/>
          <p:nvPr/>
        </p:nvSpPr>
        <p:spPr>
          <a:xfrm>
            <a:off x="914400" y="3831336"/>
            <a:ext cx="109728" cy="109728"/>
          </a:xfrm>
          <a:prstGeom prst="ellipse">
            <a:avLst/>
          </a:prstGeom>
          <a:solidFill>
            <a:srgbClr val="E5C07B"/>
          </a:solidFill>
          <a:ln/>
        </p:spPr>
      </p:sp>
      <p:sp>
        <p:nvSpPr>
          <p:cNvPr id="20" name="Shape 18"/>
          <p:cNvSpPr/>
          <p:nvPr/>
        </p:nvSpPr>
        <p:spPr>
          <a:xfrm>
            <a:off x="1115568" y="3831336"/>
            <a:ext cx="109728" cy="109728"/>
          </a:xfrm>
          <a:prstGeom prst="ellipse">
            <a:avLst/>
          </a:prstGeom>
          <a:solidFill>
            <a:srgbClr val="98C379"/>
          </a:solidFill>
          <a:ln/>
        </p:spPr>
      </p:sp>
      <p:sp>
        <p:nvSpPr>
          <p:cNvPr id="21" name="Text 19"/>
          <p:cNvSpPr txBox="1"/>
          <p:nvPr/>
        </p:nvSpPr>
        <p:spPr>
          <a:xfrm>
            <a:off x="1371600" y="3776472"/>
            <a:ext cx="4617720" cy="219456"/>
          </a:xfrm>
          <a:prstGeom prst="rect">
            <a:avLst/>
          </a:prstGeom>
          <a:noFill/>
          <a:ln/>
        </p:spPr>
        <p:txBody>
          <a:bodyPr wrap="square" lIns="0" tIns="0" rIns="0" bIns="0" rtlCol="0" anchor="ctr"/>
          <a:lstStyle/>
          <a:p>
            <a:pPr indent="0" marL="0">
              <a:buNone/>
            </a:pPr>
            <a:r>
              <a:rPr lang="en-US" sz="1000" dirty="0">
                <a:solidFill>
                  <a:srgbClr val="8B9AA3"/>
                </a:solidFill>
                <a:latin typeface="Courier New" pitchFamily="34" charset="0"/>
                <a:ea typeface="Courier New" pitchFamily="34" charset="-122"/>
                <a:cs typeface="Courier New" pitchFamily="34" charset="-120"/>
              </a:rPr>
              <a:t>Kode R 1.3 — Studi Kasus Ambang Batas CPU</a:t>
            </a:r>
            <a:endParaRPr lang="en-US" sz="1000" dirty="0"/>
          </a:p>
        </p:txBody>
      </p:sp>
      <p:sp>
        <p:nvSpPr>
          <p:cNvPr id="22" name="Text 20"/>
          <p:cNvSpPr txBox="1"/>
          <p:nvPr/>
        </p:nvSpPr>
        <p:spPr>
          <a:xfrm>
            <a:off x="804672" y="4069080"/>
            <a:ext cx="5111496" cy="2103120"/>
          </a:xfrm>
          <a:prstGeom prst="rect">
            <a:avLst/>
          </a:prstGeom>
          <a:noFill/>
          <a:ln/>
        </p:spPr>
        <p:txBody>
          <a:bodyPr wrap="square" lIns="0" tIns="0" rIns="0" bIns="0" rtlCol="0" anchor="t"/>
          <a:lstStyle/>
          <a:p>
            <a:pPr indent="0" marL="0">
              <a:lnSpc>
                <a:spcPct val="118000"/>
              </a:lnSpc>
              <a:buNone/>
            </a:pPr>
            <a:r>
              <a:rPr lang="en-US" sz="1050" dirty="0">
                <a:solidFill>
                  <a:srgbClr val="8FD694"/>
                </a:solidFill>
                <a:latin typeface="Courier New" pitchFamily="34" charset="0"/>
                <a:ea typeface="Courier New" pitchFamily="34" charset="-122"/>
                <a:cs typeface="Courier New" pitchFamily="34" charset="-120"/>
              </a:rPr>
              <a:t>beban_cpu &lt;- 87</a:t>
            </a:r>
            <a:endParaRPr lang="en-US" sz="1050" dirty="0"/>
          </a:p>
          <a:p>
            <a:pPr indent="0" marL="0">
              <a:lnSpc>
                <a:spcPct val="118000"/>
              </a:lnSpc>
              <a:buNone/>
            </a:pPr>
            <a:r>
              <a:rPr lang="en-US" sz="1050" dirty="0">
                <a:solidFill>
                  <a:srgbClr val="8FD694"/>
                </a:solidFill>
                <a:latin typeface="Courier New" pitchFamily="34" charset="0"/>
                <a:ea typeface="Courier New" pitchFamily="34" charset="-122"/>
                <a:cs typeface="Courier New" pitchFamily="34" charset="-120"/>
              </a:rPr>
              <a:t>ambang_batas &lt;- 85</a:t>
            </a:r>
            <a:endParaRPr lang="en-US" sz="1050" dirty="0"/>
          </a:p>
          <a:p>
            <a:pPr indent="0" marL="0">
              <a:lnSpc>
                <a:spcPct val="118000"/>
              </a:lnSpc>
              <a:buNone/>
            </a:pPr>
            <a:endParaRPr lang="en-US" sz="1050" dirty="0"/>
          </a:p>
          <a:p>
            <a:pPr indent="0" marL="0">
              <a:lnSpc>
                <a:spcPct val="118000"/>
              </a:lnSpc>
              <a:buNone/>
            </a:pPr>
            <a:r>
              <a:rPr lang="en-US" sz="1050" dirty="0">
                <a:solidFill>
                  <a:srgbClr val="6B8A94"/>
                </a:solidFill>
                <a:latin typeface="Courier New" pitchFamily="34" charset="0"/>
                <a:ea typeface="Courier New" pitchFamily="34" charset="-122"/>
                <a:cs typeface="Courier New" pitchFamily="34" charset="-120"/>
              </a:rPr>
              <a:t># apakah beban CPU melebihi ambang batas?</a:t>
            </a:r>
            <a:endParaRPr lang="en-US" sz="1050" dirty="0"/>
          </a:p>
          <a:p>
            <a:pPr indent="0" marL="0">
              <a:lnSpc>
                <a:spcPct val="118000"/>
              </a:lnSpc>
              <a:buNone/>
            </a:pPr>
            <a:r>
              <a:rPr lang="en-US" sz="1050" dirty="0">
                <a:solidFill>
                  <a:srgbClr val="8FD694"/>
                </a:solidFill>
                <a:latin typeface="Courier New" pitchFamily="34" charset="0"/>
                <a:ea typeface="Courier New" pitchFamily="34" charset="-122"/>
                <a:cs typeface="Courier New" pitchFamily="34" charset="-120"/>
              </a:rPr>
              <a:t>beban_cpu &gt; ambang_batas</a:t>
            </a:r>
            <a:endParaRPr lang="en-US" sz="1050" dirty="0"/>
          </a:p>
          <a:p>
            <a:pPr indent="0" marL="0">
              <a:lnSpc>
                <a:spcPct val="118000"/>
              </a:lnSpc>
              <a:buNone/>
            </a:pPr>
            <a:endParaRPr lang="en-US" sz="1050" dirty="0"/>
          </a:p>
          <a:p>
            <a:pPr indent="0" marL="0">
              <a:lnSpc>
                <a:spcPct val="118000"/>
              </a:lnSpc>
              <a:buNone/>
            </a:pPr>
            <a:r>
              <a:rPr lang="en-US" sz="1050" dirty="0">
                <a:solidFill>
                  <a:srgbClr val="6B8A94"/>
                </a:solidFill>
                <a:latin typeface="Courier New" pitchFamily="34" charset="0"/>
                <a:ea typeface="Courier New" pitchFamily="34" charset="-122"/>
                <a:cs typeface="Courier New" pitchFamily="34" charset="-120"/>
              </a:rPr>
              <a:t># status kritis: beban tinggi DAN sisa &lt; 15%</a:t>
            </a:r>
            <a:endParaRPr lang="en-US" sz="1050" dirty="0"/>
          </a:p>
          <a:p>
            <a:pPr indent="0" marL="0">
              <a:lnSpc>
                <a:spcPct val="118000"/>
              </a:lnSpc>
              <a:buNone/>
            </a:pPr>
            <a:r>
              <a:rPr lang="en-US" sz="1050" dirty="0">
                <a:solidFill>
                  <a:srgbClr val="8FD694"/>
                </a:solidFill>
                <a:latin typeface="Courier New" pitchFamily="34" charset="0"/>
                <a:ea typeface="Courier New" pitchFamily="34" charset="-122"/>
                <a:cs typeface="Courier New" pitchFamily="34" charset="-120"/>
              </a:rPr>
              <a:t>sisa_kapasitas &lt;- 100 - beban_cpu</a:t>
            </a:r>
            <a:endParaRPr lang="en-US" sz="1050" dirty="0"/>
          </a:p>
          <a:p>
            <a:pPr indent="0" marL="0">
              <a:lnSpc>
                <a:spcPct val="118000"/>
              </a:lnSpc>
              <a:buNone/>
            </a:pPr>
            <a:r>
              <a:rPr lang="en-US" sz="1050" dirty="0">
                <a:solidFill>
                  <a:srgbClr val="8FD694"/>
                </a:solidFill>
                <a:latin typeface="Courier New" pitchFamily="34" charset="0"/>
                <a:ea typeface="Courier New" pitchFamily="34" charset="-122"/>
                <a:cs typeface="Courier New" pitchFamily="34" charset="-120"/>
              </a:rPr>
              <a:t>status_kritis &lt;- (beban_cpu &gt; ambang_batas) &amp;</a:t>
            </a:r>
            <a:endParaRPr lang="en-US" sz="1050" dirty="0"/>
          </a:p>
          <a:p>
            <a:pPr indent="0" marL="0">
              <a:lnSpc>
                <a:spcPct val="118000"/>
              </a:lnSpc>
              <a:buNone/>
            </a:pPr>
            <a:r>
              <a:rPr lang="en-US" sz="1050" dirty="0">
                <a:solidFill>
                  <a:srgbClr val="8FD694"/>
                </a:solidFill>
                <a:latin typeface="Courier New" pitchFamily="34" charset="0"/>
                <a:ea typeface="Courier New" pitchFamily="34" charset="-122"/>
                <a:cs typeface="Courier New" pitchFamily="34" charset="-120"/>
              </a:rPr>
              <a:t>                 (sisa_kapasitas &lt; 15)</a:t>
            </a:r>
            <a:endParaRPr lang="en-US" sz="1050" dirty="0"/>
          </a:p>
        </p:txBody>
      </p:sp>
      <p:sp>
        <p:nvSpPr>
          <p:cNvPr id="23" name="Shape 21"/>
          <p:cNvSpPr/>
          <p:nvPr/>
        </p:nvSpPr>
        <p:spPr>
          <a:xfrm>
            <a:off x="6400800" y="3703320"/>
            <a:ext cx="5212080" cy="2606040"/>
          </a:xfrm>
          <a:prstGeom prst="roundRect">
            <a:avLst>
              <a:gd name="adj" fmla="val 2105"/>
            </a:avLst>
          </a:prstGeom>
          <a:solidFill>
            <a:srgbClr val="F3F6F5"/>
          </a:solidFill>
          <a:ln w="12700">
            <a:solidFill>
              <a:srgbClr val="CBD6D6"/>
            </a:solidFill>
            <a:prstDash val="solid"/>
          </a:ln>
        </p:spPr>
      </p:sp>
      <p:sp>
        <p:nvSpPr>
          <p:cNvPr id="24" name="Text 22"/>
          <p:cNvSpPr txBox="1"/>
          <p:nvPr/>
        </p:nvSpPr>
        <p:spPr>
          <a:xfrm>
            <a:off x="6565392" y="3776472"/>
            <a:ext cx="4882896" cy="182880"/>
          </a:xfrm>
          <a:prstGeom prst="rect">
            <a:avLst/>
          </a:prstGeom>
          <a:noFill/>
          <a:ln/>
        </p:spPr>
        <p:txBody>
          <a:bodyPr wrap="square" lIns="0" tIns="0" rIns="0" bIns="0" rtlCol="0" anchor="ctr"/>
          <a:lstStyle/>
          <a:p>
            <a:pPr indent="0" marL="0">
              <a:buNone/>
            </a:pPr>
            <a:r>
              <a:rPr lang="en-US" sz="850" b="1" spc="100" kern="0" dirty="0">
                <a:solidFill>
                  <a:srgbClr val="1C7293"/>
                </a:solidFill>
                <a:latin typeface="Calibri" pitchFamily="34" charset="0"/>
                <a:ea typeface="Calibri" pitchFamily="34" charset="-122"/>
                <a:cs typeface="Calibri" pitchFamily="34" charset="-120"/>
              </a:rPr>
              <a:t>OUTPUT</a:t>
            </a:r>
            <a:endParaRPr lang="en-US" sz="850" dirty="0"/>
          </a:p>
        </p:txBody>
      </p:sp>
      <p:sp>
        <p:nvSpPr>
          <p:cNvPr id="25" name="Text 23"/>
          <p:cNvSpPr txBox="1"/>
          <p:nvPr/>
        </p:nvSpPr>
        <p:spPr>
          <a:xfrm>
            <a:off x="6565392" y="3977640"/>
            <a:ext cx="4882896" cy="2221992"/>
          </a:xfrm>
          <a:prstGeom prst="rect">
            <a:avLst/>
          </a:prstGeom>
          <a:noFill/>
          <a:ln/>
        </p:spPr>
        <p:txBody>
          <a:bodyPr wrap="square" lIns="0" tIns="0" rIns="0" bIns="0" rtlCol="0" anchor="t"/>
          <a:lstStyle/>
          <a:p>
            <a:pPr indent="0" marL="0">
              <a:lnSpc>
                <a:spcPct val="110000"/>
              </a:lnSpc>
              <a:buNone/>
            </a:pPr>
            <a:r>
              <a:rPr lang="en-US" sz="1000" dirty="0">
                <a:solidFill>
                  <a:srgbClr val="2A3A3F"/>
                </a:solidFill>
                <a:latin typeface="Courier New" pitchFamily="34" charset="0"/>
                <a:ea typeface="Courier New" pitchFamily="34" charset="-122"/>
                <a:cs typeface="Courier New" pitchFamily="34" charset="-120"/>
              </a:rPr>
              <a:t>beban_cpu &gt; ambang_batas</a:t>
            </a:r>
            <a:endParaRPr lang="en-US" sz="1000" dirty="0"/>
          </a:p>
          <a:p>
            <a:pPr indent="0" marL="0">
              <a:lnSpc>
                <a:spcPct val="110000"/>
              </a:lnSpc>
              <a:buNone/>
            </a:pPr>
            <a:r>
              <a:rPr lang="en-US" sz="1000" dirty="0">
                <a:solidFill>
                  <a:srgbClr val="2A3A3F"/>
                </a:solidFill>
                <a:latin typeface="Courier New" pitchFamily="34" charset="0"/>
                <a:ea typeface="Courier New" pitchFamily="34" charset="-122"/>
                <a:cs typeface="Courier New" pitchFamily="34" charset="-120"/>
              </a:rPr>
              <a:t>[1] TRUE</a:t>
            </a:r>
            <a:endParaRPr lang="en-US" sz="1000" dirty="0"/>
          </a:p>
          <a:p>
            <a:pPr indent="0" marL="0">
              <a:lnSpc>
                <a:spcPct val="110000"/>
              </a:lnSpc>
              <a:buNone/>
            </a:pPr>
            <a:endParaRPr lang="en-US" sz="1000" dirty="0"/>
          </a:p>
          <a:p>
            <a:pPr indent="0" marL="0">
              <a:lnSpc>
                <a:spcPct val="110000"/>
              </a:lnSpc>
              <a:buNone/>
            </a:pPr>
            <a:r>
              <a:rPr lang="en-US" sz="1000" dirty="0">
                <a:solidFill>
                  <a:srgbClr val="2A3A3F"/>
                </a:solidFill>
                <a:latin typeface="Courier New" pitchFamily="34" charset="0"/>
                <a:ea typeface="Courier New" pitchFamily="34" charset="-122"/>
                <a:cs typeface="Courier New" pitchFamily="34" charset="-120"/>
              </a:rPr>
              <a:t>sisa_kapasitas</a:t>
            </a:r>
            <a:endParaRPr lang="en-US" sz="1000" dirty="0"/>
          </a:p>
          <a:p>
            <a:pPr indent="0" marL="0">
              <a:lnSpc>
                <a:spcPct val="110000"/>
              </a:lnSpc>
              <a:buNone/>
            </a:pPr>
            <a:r>
              <a:rPr lang="en-US" sz="1000" dirty="0">
                <a:solidFill>
                  <a:srgbClr val="2A3A3F"/>
                </a:solidFill>
                <a:latin typeface="Courier New" pitchFamily="34" charset="0"/>
                <a:ea typeface="Courier New" pitchFamily="34" charset="-122"/>
                <a:cs typeface="Courier New" pitchFamily="34" charset="-120"/>
              </a:rPr>
              <a:t>[1] 13</a:t>
            </a:r>
            <a:endParaRPr lang="en-US" sz="1000" dirty="0"/>
          </a:p>
          <a:p>
            <a:pPr indent="0" marL="0">
              <a:lnSpc>
                <a:spcPct val="110000"/>
              </a:lnSpc>
              <a:buNone/>
            </a:pPr>
            <a:endParaRPr lang="en-US" sz="1000" dirty="0"/>
          </a:p>
          <a:p>
            <a:pPr indent="0" marL="0">
              <a:lnSpc>
                <a:spcPct val="110000"/>
              </a:lnSpc>
              <a:buNone/>
            </a:pPr>
            <a:r>
              <a:rPr lang="en-US" sz="1000" dirty="0">
                <a:solidFill>
                  <a:srgbClr val="2A3A3F"/>
                </a:solidFill>
                <a:latin typeface="Courier New" pitchFamily="34" charset="0"/>
                <a:ea typeface="Courier New" pitchFamily="34" charset="-122"/>
                <a:cs typeface="Courier New" pitchFamily="34" charset="-120"/>
              </a:rPr>
              <a:t>status_kritis</a:t>
            </a:r>
            <a:endParaRPr lang="en-US" sz="1000" dirty="0"/>
          </a:p>
          <a:p>
            <a:pPr indent="0" marL="0">
              <a:lnSpc>
                <a:spcPct val="110000"/>
              </a:lnSpc>
              <a:buNone/>
            </a:pPr>
            <a:r>
              <a:rPr lang="en-US" sz="1000" dirty="0">
                <a:solidFill>
                  <a:srgbClr val="2A3A3F"/>
                </a:solidFill>
                <a:latin typeface="Courier New" pitchFamily="34" charset="0"/>
                <a:ea typeface="Courier New" pitchFamily="34" charset="-122"/>
                <a:cs typeface="Courier New" pitchFamily="34" charset="-120"/>
              </a:rPr>
              <a:t>[1] TRUE</a:t>
            </a:r>
            <a:endParaRPr lang="en-US" sz="1000" dirty="0"/>
          </a:p>
        </p:txBody>
      </p:sp>
      <p:sp>
        <p:nvSpPr>
          <p:cNvPr id="26" name="Text 24"/>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5C6E76"/>
                </a:solidFill>
                <a:latin typeface="Calibri" pitchFamily="34" charset="0"/>
                <a:ea typeface="Calibri" pitchFamily="34" charset="-122"/>
                <a:cs typeface="Calibri" pitchFamily="34" charset="-120"/>
              </a:rPr>
              <a:t>BAB 1 · PENGANTAR STATISTIK TEKNIK DAN LINGKUNGAN R</a:t>
            </a:r>
            <a:endParaRPr lang="en-US" sz="900" dirty="0"/>
          </a:p>
        </p:txBody>
      </p:sp>
      <p:sp>
        <p:nvSpPr>
          <p:cNvPr id="27" name="Text 25"/>
          <p:cNvSpPr txBox="1"/>
          <p:nvPr/>
        </p:nvSpPr>
        <p:spPr>
          <a:xfrm>
            <a:off x="10241280" y="6510528"/>
            <a:ext cx="1371600" cy="274320"/>
          </a:xfrm>
          <a:prstGeom prst="rect">
            <a:avLst/>
          </a:prstGeom>
          <a:noFill/>
          <a:ln/>
        </p:spPr>
        <p:txBody>
          <a:bodyPr wrap="square" lIns="0" tIns="0" rIns="0" bIns="0" rtlCol="0" anchor="ctr"/>
          <a:lstStyle/>
          <a:p>
            <a:pPr algn="r" indent="0" marL="0">
              <a:buNone/>
            </a:pPr>
            <a:r>
              <a:rPr lang="en-US" sz="900" dirty="0">
                <a:solidFill>
                  <a:srgbClr val="5C6E76"/>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300" b="1" spc="100" kern="0" dirty="0">
                <a:solidFill>
                  <a:srgbClr val="1C7293"/>
                </a:solidFill>
                <a:latin typeface="Calibri" pitchFamily="34" charset="0"/>
                <a:ea typeface="Calibri" pitchFamily="34" charset="-122"/>
                <a:cs typeface="Calibri" pitchFamily="34" charset="-120"/>
              </a:rPr>
              <a:t>SUB-BAB 1.5</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0B3C5D"/>
                </a:solidFill>
                <a:latin typeface="Cambria" pitchFamily="34" charset="0"/>
                <a:ea typeface="Cambria" pitchFamily="34" charset="-122"/>
                <a:cs typeface="Cambria" pitchFamily="34" charset="-120"/>
              </a:rPr>
              <a:t>Struktur Data Fundamental R</a:t>
            </a:r>
            <a:endParaRPr lang="en-US" sz="3000" dirty="0"/>
          </a:p>
        </p:txBody>
      </p:sp>
      <p:sp>
        <p:nvSpPr>
          <p:cNvPr id="4" name="Shape 2"/>
          <p:cNvSpPr/>
          <p:nvPr/>
        </p:nvSpPr>
        <p:spPr>
          <a:xfrm>
            <a:off x="548640" y="1389888"/>
            <a:ext cx="822960" cy="41148"/>
          </a:xfrm>
          <a:prstGeom prst="rect">
            <a:avLst/>
          </a:prstGeom>
          <a:solidFill>
            <a:srgbClr val="F4A261"/>
          </a:solidFill>
          <a:ln/>
        </p:spPr>
      </p:sp>
      <p:sp>
        <p:nvSpPr>
          <p:cNvPr id="5" name="Shape 3"/>
          <p:cNvSpPr/>
          <p:nvPr/>
        </p:nvSpPr>
        <p:spPr>
          <a:xfrm>
            <a:off x="548640" y="1691640"/>
            <a:ext cx="2560320" cy="3200400"/>
          </a:xfrm>
          <a:prstGeom prst="roundRect">
            <a:avLst>
              <a:gd name="adj" fmla="val 2857"/>
            </a:avLst>
          </a:prstGeom>
          <a:solidFill>
            <a:srgbClr val="EAF4F4"/>
          </a:solidFill>
          <a:ln/>
        </p:spPr>
      </p:sp>
      <p:sp>
        <p:nvSpPr>
          <p:cNvPr id="6" name="Text 4"/>
          <p:cNvSpPr txBox="1"/>
          <p:nvPr/>
        </p:nvSpPr>
        <p:spPr>
          <a:xfrm>
            <a:off x="713232" y="1874520"/>
            <a:ext cx="2231136" cy="411480"/>
          </a:xfrm>
          <a:prstGeom prst="rect">
            <a:avLst/>
          </a:prstGeom>
          <a:noFill/>
          <a:ln/>
        </p:spPr>
        <p:txBody>
          <a:bodyPr wrap="square" lIns="0" tIns="0" rIns="0" bIns="0" rtlCol="0" anchor="ctr"/>
          <a:lstStyle/>
          <a:p>
            <a:pPr indent="0" marL="0">
              <a:buNone/>
            </a:pPr>
            <a:r>
              <a:rPr lang="en-US" sz="1700" b="1" dirty="0">
                <a:solidFill>
                  <a:srgbClr val="0B3C5D"/>
                </a:solidFill>
                <a:latin typeface="Cambria" pitchFamily="34" charset="0"/>
                <a:ea typeface="Cambria" pitchFamily="34" charset="-122"/>
                <a:cs typeface="Cambria" pitchFamily="34" charset="-120"/>
              </a:rPr>
              <a:t>Vector</a:t>
            </a:r>
            <a:endParaRPr lang="en-US" sz="1700" dirty="0"/>
          </a:p>
        </p:txBody>
      </p:sp>
      <p:sp>
        <p:nvSpPr>
          <p:cNvPr id="7" name="Shape 5"/>
          <p:cNvSpPr/>
          <p:nvPr/>
        </p:nvSpPr>
        <p:spPr>
          <a:xfrm>
            <a:off x="713232" y="2331720"/>
            <a:ext cx="457200" cy="32004"/>
          </a:xfrm>
          <a:prstGeom prst="rect">
            <a:avLst/>
          </a:prstGeom>
          <a:solidFill>
            <a:srgbClr val="1C7293"/>
          </a:solidFill>
          <a:ln/>
        </p:spPr>
      </p:sp>
      <p:sp>
        <p:nvSpPr>
          <p:cNvPr id="8" name="Text 6"/>
          <p:cNvSpPr txBox="1"/>
          <p:nvPr/>
        </p:nvSpPr>
        <p:spPr>
          <a:xfrm>
            <a:off x="713232" y="2487168"/>
            <a:ext cx="2231136" cy="228600"/>
          </a:xfrm>
          <a:prstGeom prst="rect">
            <a:avLst/>
          </a:prstGeom>
          <a:noFill/>
          <a:ln/>
        </p:spPr>
        <p:txBody>
          <a:bodyPr wrap="square" lIns="0" tIns="0" rIns="0" bIns="0" rtlCol="0" anchor="ctr"/>
          <a:lstStyle/>
          <a:p>
            <a:pPr indent="0" marL="0">
              <a:buNone/>
            </a:pPr>
            <a:r>
              <a:rPr lang="en-US" sz="850" b="1" spc="100" kern="0" dirty="0">
                <a:solidFill>
                  <a:srgbClr val="5C6E76"/>
                </a:solidFill>
                <a:latin typeface="Calibri" pitchFamily="34" charset="0"/>
                <a:ea typeface="Calibri" pitchFamily="34" charset="-122"/>
                <a:cs typeface="Calibri" pitchFamily="34" charset="-120"/>
              </a:rPr>
              <a:t>DIMENSI</a:t>
            </a:r>
            <a:endParaRPr lang="en-US" sz="850" dirty="0"/>
          </a:p>
        </p:txBody>
      </p:sp>
      <p:sp>
        <p:nvSpPr>
          <p:cNvPr id="9" name="Text 7"/>
          <p:cNvSpPr txBox="1"/>
          <p:nvPr/>
        </p:nvSpPr>
        <p:spPr>
          <a:xfrm>
            <a:off x="713232" y="2697480"/>
            <a:ext cx="2231136" cy="320040"/>
          </a:xfrm>
          <a:prstGeom prst="rect">
            <a:avLst/>
          </a:prstGeom>
          <a:noFill/>
          <a:ln/>
        </p:spPr>
        <p:txBody>
          <a:bodyPr wrap="square" lIns="0" tIns="0" rIns="0" bIns="0" rtlCol="0" anchor="ctr"/>
          <a:lstStyle/>
          <a:p>
            <a:pPr indent="0" marL="0">
              <a:buNone/>
            </a:pPr>
            <a:r>
              <a:rPr lang="en-US" sz="1250" b="1" dirty="0">
                <a:solidFill>
                  <a:srgbClr val="1B2A32"/>
                </a:solidFill>
                <a:latin typeface="Calibri" pitchFamily="34" charset="0"/>
                <a:ea typeface="Calibri" pitchFamily="34" charset="-122"/>
                <a:cs typeface="Calibri" pitchFamily="34" charset="-120"/>
              </a:rPr>
              <a:t>1 Dimensi</a:t>
            </a:r>
            <a:endParaRPr lang="en-US" sz="1250" dirty="0"/>
          </a:p>
        </p:txBody>
      </p:sp>
      <p:sp>
        <p:nvSpPr>
          <p:cNvPr id="10" name="Text 8"/>
          <p:cNvSpPr txBox="1"/>
          <p:nvPr/>
        </p:nvSpPr>
        <p:spPr>
          <a:xfrm>
            <a:off x="713232" y="3063240"/>
            <a:ext cx="2231136" cy="228600"/>
          </a:xfrm>
          <a:prstGeom prst="rect">
            <a:avLst/>
          </a:prstGeom>
          <a:noFill/>
          <a:ln/>
        </p:spPr>
        <p:txBody>
          <a:bodyPr wrap="square" lIns="0" tIns="0" rIns="0" bIns="0" rtlCol="0" anchor="ctr"/>
          <a:lstStyle/>
          <a:p>
            <a:pPr indent="0" marL="0">
              <a:buNone/>
            </a:pPr>
            <a:r>
              <a:rPr lang="en-US" sz="850" b="1" spc="100" kern="0" dirty="0">
                <a:solidFill>
                  <a:srgbClr val="5C6E76"/>
                </a:solidFill>
                <a:latin typeface="Calibri" pitchFamily="34" charset="0"/>
                <a:ea typeface="Calibri" pitchFamily="34" charset="-122"/>
                <a:cs typeface="Calibri" pitchFamily="34" charset="-120"/>
              </a:rPr>
              <a:t>HOMOGENITAS</a:t>
            </a:r>
            <a:endParaRPr lang="en-US" sz="850" dirty="0"/>
          </a:p>
        </p:txBody>
      </p:sp>
      <p:sp>
        <p:nvSpPr>
          <p:cNvPr id="11" name="Text 9"/>
          <p:cNvSpPr txBox="1"/>
          <p:nvPr/>
        </p:nvSpPr>
        <p:spPr>
          <a:xfrm>
            <a:off x="713232" y="3273552"/>
            <a:ext cx="2231136" cy="502920"/>
          </a:xfrm>
          <a:prstGeom prst="rect">
            <a:avLst/>
          </a:prstGeom>
          <a:noFill/>
          <a:ln/>
        </p:spPr>
        <p:txBody>
          <a:bodyPr wrap="square" lIns="0" tIns="0" rIns="0" bIns="0" rtlCol="0" anchor="ctr"/>
          <a:lstStyle/>
          <a:p>
            <a:pPr indent="0" marL="0">
              <a:lnSpc>
                <a:spcPct val="105000"/>
              </a:lnSpc>
              <a:buNone/>
            </a:pPr>
            <a:r>
              <a:rPr lang="en-US" sz="1250" b="1" dirty="0">
                <a:solidFill>
                  <a:srgbClr val="1B2A32"/>
                </a:solidFill>
                <a:latin typeface="Calibri" pitchFamily="34" charset="0"/>
                <a:ea typeface="Calibri" pitchFamily="34" charset="-122"/>
                <a:cs typeface="Calibri" pitchFamily="34" charset="-120"/>
              </a:rPr>
              <a:t>Homogen</a:t>
            </a:r>
            <a:endParaRPr lang="en-US" sz="1250" dirty="0"/>
          </a:p>
        </p:txBody>
      </p:sp>
      <p:sp>
        <p:nvSpPr>
          <p:cNvPr id="12" name="Text 10"/>
          <p:cNvSpPr txBox="1"/>
          <p:nvPr/>
        </p:nvSpPr>
        <p:spPr>
          <a:xfrm>
            <a:off x="713232" y="3977640"/>
            <a:ext cx="2231136" cy="822960"/>
          </a:xfrm>
          <a:prstGeom prst="rect">
            <a:avLst/>
          </a:prstGeom>
          <a:noFill/>
          <a:ln/>
        </p:spPr>
        <p:txBody>
          <a:bodyPr wrap="square" lIns="0" tIns="0" rIns="0" bIns="0" rtlCol="0" anchor="ctr"/>
          <a:lstStyle/>
          <a:p>
            <a:pPr indent="0" marL="0">
              <a:lnSpc>
                <a:spcPct val="115000"/>
              </a:lnSpc>
              <a:buNone/>
            </a:pPr>
            <a:r>
              <a:rPr lang="en-US" sz="1000" i="1" dirty="0">
                <a:solidFill>
                  <a:srgbClr val="5C6E76"/>
                </a:solidFill>
                <a:latin typeface="Calibri" pitchFamily="34" charset="0"/>
                <a:ea typeface="Calibri" pitchFamily="34" charset="-122"/>
                <a:cs typeface="Calibri" pitchFamily="34" charset="-120"/>
              </a:rPr>
              <a:t>Waktu respons 6× pengujian API</a:t>
            </a:r>
            <a:endParaRPr lang="en-US" sz="1000" dirty="0"/>
          </a:p>
        </p:txBody>
      </p:sp>
      <p:sp>
        <p:nvSpPr>
          <p:cNvPr id="13" name="Shape 11"/>
          <p:cNvSpPr/>
          <p:nvPr/>
        </p:nvSpPr>
        <p:spPr>
          <a:xfrm>
            <a:off x="3383280" y="1691640"/>
            <a:ext cx="2560320" cy="3200400"/>
          </a:xfrm>
          <a:prstGeom prst="roundRect">
            <a:avLst>
              <a:gd name="adj" fmla="val 2857"/>
            </a:avLst>
          </a:prstGeom>
          <a:solidFill>
            <a:srgbClr val="EAF4F4"/>
          </a:solidFill>
          <a:ln/>
        </p:spPr>
      </p:sp>
      <p:sp>
        <p:nvSpPr>
          <p:cNvPr id="14" name="Text 12"/>
          <p:cNvSpPr txBox="1"/>
          <p:nvPr/>
        </p:nvSpPr>
        <p:spPr>
          <a:xfrm>
            <a:off x="3547872" y="1874520"/>
            <a:ext cx="2231136" cy="411480"/>
          </a:xfrm>
          <a:prstGeom prst="rect">
            <a:avLst/>
          </a:prstGeom>
          <a:noFill/>
          <a:ln/>
        </p:spPr>
        <p:txBody>
          <a:bodyPr wrap="square" lIns="0" tIns="0" rIns="0" bIns="0" rtlCol="0" anchor="ctr"/>
          <a:lstStyle/>
          <a:p>
            <a:pPr indent="0" marL="0">
              <a:buNone/>
            </a:pPr>
            <a:r>
              <a:rPr lang="en-US" sz="1700" b="1" dirty="0">
                <a:solidFill>
                  <a:srgbClr val="0B3C5D"/>
                </a:solidFill>
                <a:latin typeface="Cambria" pitchFamily="34" charset="0"/>
                <a:ea typeface="Cambria" pitchFamily="34" charset="-122"/>
                <a:cs typeface="Cambria" pitchFamily="34" charset="-120"/>
              </a:rPr>
              <a:t>Matrix</a:t>
            </a:r>
            <a:endParaRPr lang="en-US" sz="1700" dirty="0"/>
          </a:p>
        </p:txBody>
      </p:sp>
      <p:sp>
        <p:nvSpPr>
          <p:cNvPr id="15" name="Shape 13"/>
          <p:cNvSpPr/>
          <p:nvPr/>
        </p:nvSpPr>
        <p:spPr>
          <a:xfrm>
            <a:off x="3547872" y="2331720"/>
            <a:ext cx="457200" cy="32004"/>
          </a:xfrm>
          <a:prstGeom prst="rect">
            <a:avLst/>
          </a:prstGeom>
          <a:solidFill>
            <a:srgbClr val="1C7293"/>
          </a:solidFill>
          <a:ln/>
        </p:spPr>
      </p:sp>
      <p:sp>
        <p:nvSpPr>
          <p:cNvPr id="16" name="Text 14"/>
          <p:cNvSpPr txBox="1"/>
          <p:nvPr/>
        </p:nvSpPr>
        <p:spPr>
          <a:xfrm>
            <a:off x="3547872" y="2487168"/>
            <a:ext cx="2231136" cy="228600"/>
          </a:xfrm>
          <a:prstGeom prst="rect">
            <a:avLst/>
          </a:prstGeom>
          <a:noFill/>
          <a:ln/>
        </p:spPr>
        <p:txBody>
          <a:bodyPr wrap="square" lIns="0" tIns="0" rIns="0" bIns="0" rtlCol="0" anchor="ctr"/>
          <a:lstStyle/>
          <a:p>
            <a:pPr indent="0" marL="0">
              <a:buNone/>
            </a:pPr>
            <a:r>
              <a:rPr lang="en-US" sz="850" b="1" spc="100" kern="0" dirty="0">
                <a:solidFill>
                  <a:srgbClr val="5C6E76"/>
                </a:solidFill>
                <a:latin typeface="Calibri" pitchFamily="34" charset="0"/>
                <a:ea typeface="Calibri" pitchFamily="34" charset="-122"/>
                <a:cs typeface="Calibri" pitchFamily="34" charset="-120"/>
              </a:rPr>
              <a:t>DIMENSI</a:t>
            </a:r>
            <a:endParaRPr lang="en-US" sz="850" dirty="0"/>
          </a:p>
        </p:txBody>
      </p:sp>
      <p:sp>
        <p:nvSpPr>
          <p:cNvPr id="17" name="Text 15"/>
          <p:cNvSpPr txBox="1"/>
          <p:nvPr/>
        </p:nvSpPr>
        <p:spPr>
          <a:xfrm>
            <a:off x="3547872" y="2697480"/>
            <a:ext cx="2231136" cy="320040"/>
          </a:xfrm>
          <a:prstGeom prst="rect">
            <a:avLst/>
          </a:prstGeom>
          <a:noFill/>
          <a:ln/>
        </p:spPr>
        <p:txBody>
          <a:bodyPr wrap="square" lIns="0" tIns="0" rIns="0" bIns="0" rtlCol="0" anchor="ctr"/>
          <a:lstStyle/>
          <a:p>
            <a:pPr indent="0" marL="0">
              <a:buNone/>
            </a:pPr>
            <a:r>
              <a:rPr lang="en-US" sz="1250" b="1" dirty="0">
                <a:solidFill>
                  <a:srgbClr val="1B2A32"/>
                </a:solidFill>
                <a:latin typeface="Calibri" pitchFamily="34" charset="0"/>
                <a:ea typeface="Calibri" pitchFamily="34" charset="-122"/>
                <a:cs typeface="Calibri" pitchFamily="34" charset="-120"/>
              </a:rPr>
              <a:t>2 Dimensi</a:t>
            </a:r>
            <a:endParaRPr lang="en-US" sz="1250" dirty="0"/>
          </a:p>
        </p:txBody>
      </p:sp>
      <p:sp>
        <p:nvSpPr>
          <p:cNvPr id="18" name="Text 16"/>
          <p:cNvSpPr txBox="1"/>
          <p:nvPr/>
        </p:nvSpPr>
        <p:spPr>
          <a:xfrm>
            <a:off x="3547872" y="3063240"/>
            <a:ext cx="2231136" cy="228600"/>
          </a:xfrm>
          <a:prstGeom prst="rect">
            <a:avLst/>
          </a:prstGeom>
          <a:noFill/>
          <a:ln/>
        </p:spPr>
        <p:txBody>
          <a:bodyPr wrap="square" lIns="0" tIns="0" rIns="0" bIns="0" rtlCol="0" anchor="ctr"/>
          <a:lstStyle/>
          <a:p>
            <a:pPr indent="0" marL="0">
              <a:buNone/>
            </a:pPr>
            <a:r>
              <a:rPr lang="en-US" sz="850" b="1" spc="100" kern="0" dirty="0">
                <a:solidFill>
                  <a:srgbClr val="5C6E76"/>
                </a:solidFill>
                <a:latin typeface="Calibri" pitchFamily="34" charset="0"/>
                <a:ea typeface="Calibri" pitchFamily="34" charset="-122"/>
                <a:cs typeface="Calibri" pitchFamily="34" charset="-120"/>
              </a:rPr>
              <a:t>HOMOGENITAS</a:t>
            </a:r>
            <a:endParaRPr lang="en-US" sz="850" dirty="0"/>
          </a:p>
        </p:txBody>
      </p:sp>
      <p:sp>
        <p:nvSpPr>
          <p:cNvPr id="19" name="Text 17"/>
          <p:cNvSpPr txBox="1"/>
          <p:nvPr/>
        </p:nvSpPr>
        <p:spPr>
          <a:xfrm>
            <a:off x="3547872" y="3273552"/>
            <a:ext cx="2231136" cy="502920"/>
          </a:xfrm>
          <a:prstGeom prst="rect">
            <a:avLst/>
          </a:prstGeom>
          <a:noFill/>
          <a:ln/>
        </p:spPr>
        <p:txBody>
          <a:bodyPr wrap="square" lIns="0" tIns="0" rIns="0" bIns="0" rtlCol="0" anchor="ctr"/>
          <a:lstStyle/>
          <a:p>
            <a:pPr indent="0" marL="0">
              <a:lnSpc>
                <a:spcPct val="105000"/>
              </a:lnSpc>
              <a:buNone/>
            </a:pPr>
            <a:r>
              <a:rPr lang="en-US" sz="1250" b="1" dirty="0">
                <a:solidFill>
                  <a:srgbClr val="1B2A32"/>
                </a:solidFill>
                <a:latin typeface="Calibri" pitchFamily="34" charset="0"/>
                <a:ea typeface="Calibri" pitchFamily="34" charset="-122"/>
                <a:cs typeface="Calibri" pitchFamily="34" charset="-120"/>
              </a:rPr>
              <a:t>Homogen</a:t>
            </a:r>
            <a:endParaRPr lang="en-US" sz="1250" dirty="0"/>
          </a:p>
        </p:txBody>
      </p:sp>
      <p:sp>
        <p:nvSpPr>
          <p:cNvPr id="20" name="Text 18"/>
          <p:cNvSpPr txBox="1"/>
          <p:nvPr/>
        </p:nvSpPr>
        <p:spPr>
          <a:xfrm>
            <a:off x="3547872" y="3977640"/>
            <a:ext cx="2231136" cy="822960"/>
          </a:xfrm>
          <a:prstGeom prst="rect">
            <a:avLst/>
          </a:prstGeom>
          <a:noFill/>
          <a:ln/>
        </p:spPr>
        <p:txBody>
          <a:bodyPr wrap="square" lIns="0" tIns="0" rIns="0" bIns="0" rtlCol="0" anchor="ctr"/>
          <a:lstStyle/>
          <a:p>
            <a:pPr indent="0" marL="0">
              <a:lnSpc>
                <a:spcPct val="115000"/>
              </a:lnSpc>
              <a:buNone/>
            </a:pPr>
            <a:r>
              <a:rPr lang="en-US" sz="1000" i="1" dirty="0">
                <a:solidFill>
                  <a:srgbClr val="5C6E76"/>
                </a:solidFill>
                <a:latin typeface="Calibri" pitchFamily="34" charset="0"/>
                <a:ea typeface="Calibri" pitchFamily="34" charset="-122"/>
                <a:cs typeface="Calibri" pitchFamily="34" charset="-120"/>
              </a:rPr>
              <a:t>Respons 3 server × 4 pengujian</a:t>
            </a:r>
            <a:endParaRPr lang="en-US" sz="1000" dirty="0"/>
          </a:p>
        </p:txBody>
      </p:sp>
      <p:sp>
        <p:nvSpPr>
          <p:cNvPr id="21" name="Shape 19"/>
          <p:cNvSpPr/>
          <p:nvPr/>
        </p:nvSpPr>
        <p:spPr>
          <a:xfrm>
            <a:off x="6217920" y="1691640"/>
            <a:ext cx="2560320" cy="3200400"/>
          </a:xfrm>
          <a:prstGeom prst="roundRect">
            <a:avLst>
              <a:gd name="adj" fmla="val 2857"/>
            </a:avLst>
          </a:prstGeom>
          <a:solidFill>
            <a:srgbClr val="EAF4F4"/>
          </a:solidFill>
          <a:ln/>
        </p:spPr>
      </p:sp>
      <p:sp>
        <p:nvSpPr>
          <p:cNvPr id="22" name="Text 20"/>
          <p:cNvSpPr txBox="1"/>
          <p:nvPr/>
        </p:nvSpPr>
        <p:spPr>
          <a:xfrm>
            <a:off x="6382512" y="1874520"/>
            <a:ext cx="2231136" cy="411480"/>
          </a:xfrm>
          <a:prstGeom prst="rect">
            <a:avLst/>
          </a:prstGeom>
          <a:noFill/>
          <a:ln/>
        </p:spPr>
        <p:txBody>
          <a:bodyPr wrap="square" lIns="0" tIns="0" rIns="0" bIns="0" rtlCol="0" anchor="ctr"/>
          <a:lstStyle/>
          <a:p>
            <a:pPr indent="0" marL="0">
              <a:buNone/>
            </a:pPr>
            <a:r>
              <a:rPr lang="en-US" sz="1700" b="1" dirty="0">
                <a:solidFill>
                  <a:srgbClr val="0B3C5D"/>
                </a:solidFill>
                <a:latin typeface="Cambria" pitchFamily="34" charset="0"/>
                <a:ea typeface="Cambria" pitchFamily="34" charset="-122"/>
                <a:cs typeface="Cambria" pitchFamily="34" charset="-120"/>
              </a:rPr>
              <a:t>Array</a:t>
            </a:r>
            <a:endParaRPr lang="en-US" sz="1700" dirty="0"/>
          </a:p>
        </p:txBody>
      </p:sp>
      <p:sp>
        <p:nvSpPr>
          <p:cNvPr id="23" name="Shape 21"/>
          <p:cNvSpPr/>
          <p:nvPr/>
        </p:nvSpPr>
        <p:spPr>
          <a:xfrm>
            <a:off x="6382512" y="2331720"/>
            <a:ext cx="457200" cy="32004"/>
          </a:xfrm>
          <a:prstGeom prst="rect">
            <a:avLst/>
          </a:prstGeom>
          <a:solidFill>
            <a:srgbClr val="1C7293"/>
          </a:solidFill>
          <a:ln/>
        </p:spPr>
      </p:sp>
      <p:sp>
        <p:nvSpPr>
          <p:cNvPr id="24" name="Text 22"/>
          <p:cNvSpPr txBox="1"/>
          <p:nvPr/>
        </p:nvSpPr>
        <p:spPr>
          <a:xfrm>
            <a:off x="6382512" y="2487168"/>
            <a:ext cx="2231136" cy="228600"/>
          </a:xfrm>
          <a:prstGeom prst="rect">
            <a:avLst/>
          </a:prstGeom>
          <a:noFill/>
          <a:ln/>
        </p:spPr>
        <p:txBody>
          <a:bodyPr wrap="square" lIns="0" tIns="0" rIns="0" bIns="0" rtlCol="0" anchor="ctr"/>
          <a:lstStyle/>
          <a:p>
            <a:pPr indent="0" marL="0">
              <a:buNone/>
            </a:pPr>
            <a:r>
              <a:rPr lang="en-US" sz="850" b="1" spc="100" kern="0" dirty="0">
                <a:solidFill>
                  <a:srgbClr val="5C6E76"/>
                </a:solidFill>
                <a:latin typeface="Calibri" pitchFamily="34" charset="0"/>
                <a:ea typeface="Calibri" pitchFamily="34" charset="-122"/>
                <a:cs typeface="Calibri" pitchFamily="34" charset="-120"/>
              </a:rPr>
              <a:t>DIMENSI</a:t>
            </a:r>
            <a:endParaRPr lang="en-US" sz="850" dirty="0"/>
          </a:p>
        </p:txBody>
      </p:sp>
      <p:sp>
        <p:nvSpPr>
          <p:cNvPr id="25" name="Text 23"/>
          <p:cNvSpPr txBox="1"/>
          <p:nvPr/>
        </p:nvSpPr>
        <p:spPr>
          <a:xfrm>
            <a:off x="6382512" y="2697480"/>
            <a:ext cx="2231136" cy="320040"/>
          </a:xfrm>
          <a:prstGeom prst="rect">
            <a:avLst/>
          </a:prstGeom>
          <a:noFill/>
          <a:ln/>
        </p:spPr>
        <p:txBody>
          <a:bodyPr wrap="square" lIns="0" tIns="0" rIns="0" bIns="0" rtlCol="0" anchor="ctr"/>
          <a:lstStyle/>
          <a:p>
            <a:pPr indent="0" marL="0">
              <a:buNone/>
            </a:pPr>
            <a:r>
              <a:rPr lang="en-US" sz="1250" b="1" dirty="0">
                <a:solidFill>
                  <a:srgbClr val="1B2A32"/>
                </a:solidFill>
                <a:latin typeface="Calibri" pitchFamily="34" charset="0"/>
                <a:ea typeface="Calibri" pitchFamily="34" charset="-122"/>
                <a:cs typeface="Calibri" pitchFamily="34" charset="-120"/>
              </a:rPr>
              <a:t>&gt; 2 Dimensi</a:t>
            </a:r>
            <a:endParaRPr lang="en-US" sz="1250" dirty="0"/>
          </a:p>
        </p:txBody>
      </p:sp>
      <p:sp>
        <p:nvSpPr>
          <p:cNvPr id="26" name="Text 24"/>
          <p:cNvSpPr txBox="1"/>
          <p:nvPr/>
        </p:nvSpPr>
        <p:spPr>
          <a:xfrm>
            <a:off x="6382512" y="3063240"/>
            <a:ext cx="2231136" cy="228600"/>
          </a:xfrm>
          <a:prstGeom prst="rect">
            <a:avLst/>
          </a:prstGeom>
          <a:noFill/>
          <a:ln/>
        </p:spPr>
        <p:txBody>
          <a:bodyPr wrap="square" lIns="0" tIns="0" rIns="0" bIns="0" rtlCol="0" anchor="ctr"/>
          <a:lstStyle/>
          <a:p>
            <a:pPr indent="0" marL="0">
              <a:buNone/>
            </a:pPr>
            <a:r>
              <a:rPr lang="en-US" sz="850" b="1" spc="100" kern="0" dirty="0">
                <a:solidFill>
                  <a:srgbClr val="5C6E76"/>
                </a:solidFill>
                <a:latin typeface="Calibri" pitchFamily="34" charset="0"/>
                <a:ea typeface="Calibri" pitchFamily="34" charset="-122"/>
                <a:cs typeface="Calibri" pitchFamily="34" charset="-120"/>
              </a:rPr>
              <a:t>HOMOGENITAS</a:t>
            </a:r>
            <a:endParaRPr lang="en-US" sz="850" dirty="0"/>
          </a:p>
        </p:txBody>
      </p:sp>
      <p:sp>
        <p:nvSpPr>
          <p:cNvPr id="27" name="Text 25"/>
          <p:cNvSpPr txBox="1"/>
          <p:nvPr/>
        </p:nvSpPr>
        <p:spPr>
          <a:xfrm>
            <a:off x="6382512" y="3273552"/>
            <a:ext cx="2231136" cy="502920"/>
          </a:xfrm>
          <a:prstGeom prst="rect">
            <a:avLst/>
          </a:prstGeom>
          <a:noFill/>
          <a:ln/>
        </p:spPr>
        <p:txBody>
          <a:bodyPr wrap="square" lIns="0" tIns="0" rIns="0" bIns="0" rtlCol="0" anchor="ctr"/>
          <a:lstStyle/>
          <a:p>
            <a:pPr indent="0" marL="0">
              <a:lnSpc>
                <a:spcPct val="105000"/>
              </a:lnSpc>
              <a:buNone/>
            </a:pPr>
            <a:r>
              <a:rPr lang="en-US" sz="1250" b="1" dirty="0">
                <a:solidFill>
                  <a:srgbClr val="1B2A32"/>
                </a:solidFill>
                <a:latin typeface="Calibri" pitchFamily="34" charset="0"/>
                <a:ea typeface="Calibri" pitchFamily="34" charset="-122"/>
                <a:cs typeface="Calibri" pitchFamily="34" charset="-120"/>
              </a:rPr>
              <a:t>Homogen</a:t>
            </a:r>
            <a:endParaRPr lang="en-US" sz="1250" dirty="0"/>
          </a:p>
        </p:txBody>
      </p:sp>
      <p:sp>
        <p:nvSpPr>
          <p:cNvPr id="28" name="Text 26"/>
          <p:cNvSpPr txBox="1"/>
          <p:nvPr/>
        </p:nvSpPr>
        <p:spPr>
          <a:xfrm>
            <a:off x="6382512" y="3977640"/>
            <a:ext cx="2231136" cy="822960"/>
          </a:xfrm>
          <a:prstGeom prst="rect">
            <a:avLst/>
          </a:prstGeom>
          <a:noFill/>
          <a:ln/>
        </p:spPr>
        <p:txBody>
          <a:bodyPr wrap="square" lIns="0" tIns="0" rIns="0" bIns="0" rtlCol="0" anchor="ctr"/>
          <a:lstStyle/>
          <a:p>
            <a:pPr indent="0" marL="0">
              <a:lnSpc>
                <a:spcPct val="115000"/>
              </a:lnSpc>
              <a:buNone/>
            </a:pPr>
            <a:r>
              <a:rPr lang="en-US" sz="1000" i="1" dirty="0">
                <a:solidFill>
                  <a:srgbClr val="5C6E76"/>
                </a:solidFill>
                <a:latin typeface="Calibri" pitchFamily="34" charset="0"/>
                <a:ea typeface="Calibri" pitchFamily="34" charset="-122"/>
                <a:cs typeface="Calibri" pitchFamily="34" charset="-120"/>
              </a:rPr>
              <a:t>Generalisasi matrix multi-dimensi</a:t>
            </a:r>
            <a:endParaRPr lang="en-US" sz="1000" dirty="0"/>
          </a:p>
        </p:txBody>
      </p:sp>
      <p:sp>
        <p:nvSpPr>
          <p:cNvPr id="29" name="Shape 27"/>
          <p:cNvSpPr/>
          <p:nvPr/>
        </p:nvSpPr>
        <p:spPr>
          <a:xfrm>
            <a:off x="9052560" y="1691640"/>
            <a:ext cx="2560320" cy="3200400"/>
          </a:xfrm>
          <a:prstGeom prst="roundRect">
            <a:avLst>
              <a:gd name="adj" fmla="val 2857"/>
            </a:avLst>
          </a:prstGeom>
          <a:solidFill>
            <a:srgbClr val="0B3C5D"/>
          </a:solidFill>
          <a:ln/>
        </p:spPr>
      </p:sp>
      <p:sp>
        <p:nvSpPr>
          <p:cNvPr id="30" name="Text 28"/>
          <p:cNvSpPr txBox="1"/>
          <p:nvPr/>
        </p:nvSpPr>
        <p:spPr>
          <a:xfrm>
            <a:off x="9217152" y="1874520"/>
            <a:ext cx="2231136" cy="411480"/>
          </a:xfrm>
          <a:prstGeom prst="rect">
            <a:avLst/>
          </a:prstGeom>
          <a:noFill/>
          <a:ln/>
        </p:spPr>
        <p:txBody>
          <a:bodyPr wrap="square" lIns="0" tIns="0" rIns="0" bIns="0" rtlCol="0" anchor="ctr"/>
          <a:lstStyle/>
          <a:p>
            <a:pPr indent="0" marL="0">
              <a:buNone/>
            </a:pPr>
            <a:r>
              <a:rPr lang="en-US" sz="1700" b="1" dirty="0">
                <a:solidFill>
                  <a:srgbClr val="F4A261"/>
                </a:solidFill>
                <a:latin typeface="Cambria" pitchFamily="34" charset="0"/>
                <a:ea typeface="Cambria" pitchFamily="34" charset="-122"/>
                <a:cs typeface="Cambria" pitchFamily="34" charset="-120"/>
              </a:rPr>
              <a:t>Data Frame</a:t>
            </a:r>
            <a:endParaRPr lang="en-US" sz="1700" dirty="0"/>
          </a:p>
        </p:txBody>
      </p:sp>
      <p:sp>
        <p:nvSpPr>
          <p:cNvPr id="31" name="Shape 29"/>
          <p:cNvSpPr/>
          <p:nvPr/>
        </p:nvSpPr>
        <p:spPr>
          <a:xfrm>
            <a:off x="9217152" y="2331720"/>
            <a:ext cx="457200" cy="32004"/>
          </a:xfrm>
          <a:prstGeom prst="rect">
            <a:avLst/>
          </a:prstGeom>
          <a:solidFill>
            <a:srgbClr val="F4A261"/>
          </a:solidFill>
          <a:ln/>
        </p:spPr>
      </p:sp>
      <p:sp>
        <p:nvSpPr>
          <p:cNvPr id="32" name="Text 30"/>
          <p:cNvSpPr txBox="1"/>
          <p:nvPr/>
        </p:nvSpPr>
        <p:spPr>
          <a:xfrm>
            <a:off x="9217152" y="2487168"/>
            <a:ext cx="2231136" cy="228600"/>
          </a:xfrm>
          <a:prstGeom prst="rect">
            <a:avLst/>
          </a:prstGeom>
          <a:noFill/>
          <a:ln/>
        </p:spPr>
        <p:txBody>
          <a:bodyPr wrap="square" lIns="0" tIns="0" rIns="0" bIns="0" rtlCol="0" anchor="ctr"/>
          <a:lstStyle/>
          <a:p>
            <a:pPr indent="0" marL="0">
              <a:buNone/>
            </a:pPr>
            <a:r>
              <a:rPr lang="en-US" sz="850" b="1" spc="100" kern="0" dirty="0">
                <a:solidFill>
                  <a:srgbClr val="9FB8C7"/>
                </a:solidFill>
                <a:latin typeface="Calibri" pitchFamily="34" charset="0"/>
                <a:ea typeface="Calibri" pitchFamily="34" charset="-122"/>
                <a:cs typeface="Calibri" pitchFamily="34" charset="-120"/>
              </a:rPr>
              <a:t>DIMENSI</a:t>
            </a:r>
            <a:endParaRPr lang="en-US" sz="850" dirty="0"/>
          </a:p>
        </p:txBody>
      </p:sp>
      <p:sp>
        <p:nvSpPr>
          <p:cNvPr id="33" name="Text 31"/>
          <p:cNvSpPr txBox="1"/>
          <p:nvPr/>
        </p:nvSpPr>
        <p:spPr>
          <a:xfrm>
            <a:off x="9217152" y="2697480"/>
            <a:ext cx="2231136"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2 Dimensi</a:t>
            </a:r>
            <a:endParaRPr lang="en-US" sz="1250" dirty="0"/>
          </a:p>
        </p:txBody>
      </p:sp>
      <p:sp>
        <p:nvSpPr>
          <p:cNvPr id="34" name="Text 32"/>
          <p:cNvSpPr txBox="1"/>
          <p:nvPr/>
        </p:nvSpPr>
        <p:spPr>
          <a:xfrm>
            <a:off x="9217152" y="3063240"/>
            <a:ext cx="2231136" cy="228600"/>
          </a:xfrm>
          <a:prstGeom prst="rect">
            <a:avLst/>
          </a:prstGeom>
          <a:noFill/>
          <a:ln/>
        </p:spPr>
        <p:txBody>
          <a:bodyPr wrap="square" lIns="0" tIns="0" rIns="0" bIns="0" rtlCol="0" anchor="ctr"/>
          <a:lstStyle/>
          <a:p>
            <a:pPr indent="0" marL="0">
              <a:buNone/>
            </a:pPr>
            <a:r>
              <a:rPr lang="en-US" sz="850" b="1" spc="100" kern="0" dirty="0">
                <a:solidFill>
                  <a:srgbClr val="9FB8C7"/>
                </a:solidFill>
                <a:latin typeface="Calibri" pitchFamily="34" charset="0"/>
                <a:ea typeface="Calibri" pitchFamily="34" charset="-122"/>
                <a:cs typeface="Calibri" pitchFamily="34" charset="-120"/>
              </a:rPr>
              <a:t>HOMOGENITAS</a:t>
            </a:r>
            <a:endParaRPr lang="en-US" sz="850" dirty="0"/>
          </a:p>
        </p:txBody>
      </p:sp>
      <p:sp>
        <p:nvSpPr>
          <p:cNvPr id="35" name="Text 33"/>
          <p:cNvSpPr txBox="1"/>
          <p:nvPr/>
        </p:nvSpPr>
        <p:spPr>
          <a:xfrm>
            <a:off x="9217152" y="3273552"/>
            <a:ext cx="2231136" cy="502920"/>
          </a:xfrm>
          <a:prstGeom prst="rect">
            <a:avLst/>
          </a:prstGeom>
          <a:noFill/>
          <a:ln/>
        </p:spPr>
        <p:txBody>
          <a:bodyPr wrap="square" lIns="0" tIns="0" rIns="0" bIns="0" rtlCol="0" anchor="ctr"/>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Heterogen antar-kolom</a:t>
            </a:r>
            <a:endParaRPr lang="en-US" sz="1250" dirty="0"/>
          </a:p>
        </p:txBody>
      </p:sp>
      <p:sp>
        <p:nvSpPr>
          <p:cNvPr id="36" name="Text 34"/>
          <p:cNvSpPr txBox="1"/>
          <p:nvPr/>
        </p:nvSpPr>
        <p:spPr>
          <a:xfrm>
            <a:off x="9217152" y="3977640"/>
            <a:ext cx="2231136" cy="822960"/>
          </a:xfrm>
          <a:prstGeom prst="rect">
            <a:avLst/>
          </a:prstGeom>
          <a:noFill/>
          <a:ln/>
        </p:spPr>
        <p:txBody>
          <a:bodyPr wrap="square" lIns="0" tIns="0" rIns="0" bIns="0" rtlCol="0" anchor="ctr"/>
          <a:lstStyle/>
          <a:p>
            <a:pPr indent="0" marL="0">
              <a:lnSpc>
                <a:spcPct val="115000"/>
              </a:lnSpc>
              <a:buNone/>
            </a:pPr>
            <a:r>
              <a:rPr lang="en-US" sz="1000" i="1" dirty="0">
                <a:solidFill>
                  <a:srgbClr val="CADCFC"/>
                </a:solidFill>
                <a:latin typeface="Calibri" pitchFamily="34" charset="0"/>
                <a:ea typeface="Calibri" pitchFamily="34" charset="-122"/>
                <a:cs typeface="Calibri" pitchFamily="34" charset="-120"/>
              </a:rPr>
              <a:t>Tabel: nama, tipe server, status</a:t>
            </a:r>
            <a:endParaRPr lang="en-US" sz="1000" dirty="0"/>
          </a:p>
        </p:txBody>
      </p:sp>
      <p:sp>
        <p:nvSpPr>
          <p:cNvPr id="37" name="Text 35"/>
          <p:cNvSpPr txBox="1"/>
          <p:nvPr/>
        </p:nvSpPr>
        <p:spPr>
          <a:xfrm>
            <a:off x="548640" y="5074920"/>
            <a:ext cx="11064240" cy="457200"/>
          </a:xfrm>
          <a:prstGeom prst="rect">
            <a:avLst/>
          </a:prstGeom>
          <a:noFill/>
          <a:ln/>
        </p:spPr>
        <p:txBody>
          <a:bodyPr wrap="square" lIns="0" tIns="0" rIns="0" bIns="0" rtlCol="0" anchor="ctr"/>
          <a:lstStyle/>
          <a:p>
            <a:pPr indent="0" marL="0">
              <a:buNone/>
            </a:pPr>
            <a:r>
              <a:rPr lang="en-US" sz="1150" i="1" dirty="0">
                <a:solidFill>
                  <a:srgbClr val="1C7293"/>
                </a:solidFill>
                <a:latin typeface="Calibri" pitchFamily="34" charset="0"/>
                <a:ea typeface="Calibri" pitchFamily="34" charset="-122"/>
                <a:cs typeface="Calibri" pitchFamily="34" charset="-120"/>
              </a:rPr>
              <a:t>Data frame paling sering digunakan untuk merepresentasikan dataset dalam analisis statistik, karena setiap kolom dapat menyimpan tipe data berbeda.</a:t>
            </a:r>
            <a:endParaRPr lang="en-US" sz="1150" dirty="0"/>
          </a:p>
        </p:txBody>
      </p:sp>
      <p:sp>
        <p:nvSpPr>
          <p:cNvPr id="38" name="Text 36"/>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5C6E76"/>
                </a:solidFill>
                <a:latin typeface="Calibri" pitchFamily="34" charset="0"/>
                <a:ea typeface="Calibri" pitchFamily="34" charset="-122"/>
                <a:cs typeface="Calibri" pitchFamily="34" charset="-120"/>
              </a:rPr>
              <a:t>BAB 1 · PENGANTAR STATISTIK TEKNIK DAN LINGKUNGAN R</a:t>
            </a:r>
            <a:endParaRPr lang="en-US" sz="900" dirty="0"/>
          </a:p>
        </p:txBody>
      </p:sp>
      <p:sp>
        <p:nvSpPr>
          <p:cNvPr id="39" name="Text 37"/>
          <p:cNvSpPr txBox="1"/>
          <p:nvPr/>
        </p:nvSpPr>
        <p:spPr>
          <a:xfrm>
            <a:off x="10241280" y="6510528"/>
            <a:ext cx="1371600" cy="274320"/>
          </a:xfrm>
          <a:prstGeom prst="rect">
            <a:avLst/>
          </a:prstGeom>
          <a:noFill/>
          <a:ln/>
        </p:spPr>
        <p:txBody>
          <a:bodyPr wrap="square" lIns="0" tIns="0" rIns="0" bIns="0" rtlCol="0" anchor="ctr"/>
          <a:lstStyle/>
          <a:p>
            <a:pPr algn="r" indent="0" marL="0">
              <a:buNone/>
            </a:pPr>
            <a:r>
              <a:rPr lang="en-US" sz="900" dirty="0">
                <a:solidFill>
                  <a:srgbClr val="5C6E76"/>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300" b="1" spc="100" kern="0" dirty="0">
                <a:solidFill>
                  <a:srgbClr val="1C7293"/>
                </a:solidFill>
                <a:latin typeface="Calibri" pitchFamily="34" charset="0"/>
                <a:ea typeface="Calibri" pitchFamily="34" charset="-122"/>
                <a:cs typeface="Calibri" pitchFamily="34" charset="-120"/>
              </a:rPr>
              <a:t>SUB-BAB 1.5</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0B3C5D"/>
                </a:solidFill>
                <a:latin typeface="Cambria" pitchFamily="34" charset="0"/>
                <a:ea typeface="Cambria" pitchFamily="34" charset="-122"/>
                <a:cs typeface="Cambria" pitchFamily="34" charset="-120"/>
              </a:rPr>
              <a:t>Konstruksi Struktur Data — Contoh Kode</a:t>
            </a:r>
            <a:endParaRPr lang="en-US" sz="3000" dirty="0"/>
          </a:p>
        </p:txBody>
      </p:sp>
      <p:sp>
        <p:nvSpPr>
          <p:cNvPr id="4" name="Shape 2"/>
          <p:cNvSpPr/>
          <p:nvPr/>
        </p:nvSpPr>
        <p:spPr>
          <a:xfrm>
            <a:off x="548640" y="1389888"/>
            <a:ext cx="822960" cy="41148"/>
          </a:xfrm>
          <a:prstGeom prst="rect">
            <a:avLst/>
          </a:prstGeom>
          <a:solidFill>
            <a:srgbClr val="F4A261"/>
          </a:solidFill>
          <a:ln/>
        </p:spPr>
      </p:sp>
      <p:sp>
        <p:nvSpPr>
          <p:cNvPr id="5" name="Shape 3"/>
          <p:cNvSpPr/>
          <p:nvPr/>
        </p:nvSpPr>
        <p:spPr>
          <a:xfrm>
            <a:off x="548640" y="1691640"/>
            <a:ext cx="6492240" cy="4114800"/>
          </a:xfrm>
          <a:prstGeom prst="roundRect">
            <a:avLst>
              <a:gd name="adj" fmla="val 1778"/>
            </a:avLst>
          </a:prstGeom>
          <a:solidFill>
            <a:srgbClr val="16232B"/>
          </a:solidFill>
          <a:ln w="12700">
            <a:solidFill>
              <a:srgbClr val="0A1116"/>
            </a:solidFill>
            <a:prstDash val="solid"/>
          </a:ln>
          <a:effectLst>
            <a:outerShdw sx="100000" sy="100000" kx="0" ky="0" algn="bl" rotWithShape="0" blurRad="76200" dist="25400" dir="5400000">
              <a:srgbClr val="000000">
                <a:alpha val="25000"/>
              </a:srgbClr>
            </a:outerShdw>
          </a:effectLst>
        </p:spPr>
      </p:sp>
      <p:sp>
        <p:nvSpPr>
          <p:cNvPr id="6" name="Shape 4"/>
          <p:cNvSpPr/>
          <p:nvPr/>
        </p:nvSpPr>
        <p:spPr>
          <a:xfrm>
            <a:off x="713232" y="1819656"/>
            <a:ext cx="109728" cy="109728"/>
          </a:xfrm>
          <a:prstGeom prst="ellipse">
            <a:avLst/>
          </a:prstGeom>
          <a:solidFill>
            <a:srgbClr val="E06C75"/>
          </a:solidFill>
          <a:ln/>
        </p:spPr>
      </p:sp>
      <p:sp>
        <p:nvSpPr>
          <p:cNvPr id="7" name="Shape 5"/>
          <p:cNvSpPr/>
          <p:nvPr/>
        </p:nvSpPr>
        <p:spPr>
          <a:xfrm>
            <a:off x="914400" y="1819656"/>
            <a:ext cx="109728" cy="109728"/>
          </a:xfrm>
          <a:prstGeom prst="ellipse">
            <a:avLst/>
          </a:prstGeom>
          <a:solidFill>
            <a:srgbClr val="E5C07B"/>
          </a:solidFill>
          <a:ln/>
        </p:spPr>
      </p:sp>
      <p:sp>
        <p:nvSpPr>
          <p:cNvPr id="8" name="Shape 6"/>
          <p:cNvSpPr/>
          <p:nvPr/>
        </p:nvSpPr>
        <p:spPr>
          <a:xfrm>
            <a:off x="1115568" y="1819656"/>
            <a:ext cx="109728" cy="109728"/>
          </a:xfrm>
          <a:prstGeom prst="ellipse">
            <a:avLst/>
          </a:prstGeom>
          <a:solidFill>
            <a:srgbClr val="98C379"/>
          </a:solidFill>
          <a:ln/>
        </p:spPr>
      </p:sp>
      <p:sp>
        <p:nvSpPr>
          <p:cNvPr id="9" name="Text 7"/>
          <p:cNvSpPr txBox="1"/>
          <p:nvPr/>
        </p:nvSpPr>
        <p:spPr>
          <a:xfrm>
            <a:off x="1371600" y="1764792"/>
            <a:ext cx="5486400" cy="219456"/>
          </a:xfrm>
          <a:prstGeom prst="rect">
            <a:avLst/>
          </a:prstGeom>
          <a:noFill/>
          <a:ln/>
        </p:spPr>
        <p:txBody>
          <a:bodyPr wrap="square" lIns="0" tIns="0" rIns="0" bIns="0" rtlCol="0" anchor="ctr"/>
          <a:lstStyle/>
          <a:p>
            <a:pPr indent="0" marL="0">
              <a:buNone/>
            </a:pPr>
            <a:r>
              <a:rPr lang="en-US" sz="1000" dirty="0">
                <a:solidFill>
                  <a:srgbClr val="8B9AA3"/>
                </a:solidFill>
                <a:latin typeface="Courier New" pitchFamily="34" charset="0"/>
                <a:ea typeface="Courier New" pitchFamily="34" charset="-122"/>
                <a:cs typeface="Courier New" pitchFamily="34" charset="-120"/>
              </a:rPr>
              <a:t>Kode R 1.4</a:t>
            </a:r>
            <a:endParaRPr lang="en-US" sz="1000" dirty="0"/>
          </a:p>
        </p:txBody>
      </p:sp>
      <p:sp>
        <p:nvSpPr>
          <p:cNvPr id="10" name="Text 8"/>
          <p:cNvSpPr txBox="1"/>
          <p:nvPr/>
        </p:nvSpPr>
        <p:spPr>
          <a:xfrm>
            <a:off x="804672" y="2057400"/>
            <a:ext cx="5980176" cy="3611880"/>
          </a:xfrm>
          <a:prstGeom prst="rect">
            <a:avLst/>
          </a:prstGeom>
          <a:noFill/>
          <a:ln/>
        </p:spPr>
        <p:txBody>
          <a:bodyPr wrap="square" lIns="0" tIns="0" rIns="0" bIns="0" rtlCol="0" anchor="t"/>
          <a:lstStyle/>
          <a:p>
            <a:pPr indent="0" marL="0">
              <a:lnSpc>
                <a:spcPct val="118000"/>
              </a:lnSpc>
              <a:buNone/>
            </a:pPr>
            <a:r>
              <a:rPr lang="en-US" sz="1100" dirty="0">
                <a:solidFill>
                  <a:srgbClr val="6B8A94"/>
                </a:solidFill>
                <a:latin typeface="Courier New" pitchFamily="34" charset="0"/>
                <a:ea typeface="Courier New" pitchFamily="34" charset="-122"/>
                <a:cs typeface="Courier New" pitchFamily="34" charset="-120"/>
              </a:rPr>
              <a:t># VECTOR: waktu respons (ms) dari 6 pengujian API</a:t>
            </a:r>
            <a:endParaRPr lang="en-US" sz="1100" dirty="0"/>
          </a:p>
          <a:p>
            <a:pPr indent="0" marL="0">
              <a:lnSpc>
                <a:spcPct val="118000"/>
              </a:lnSpc>
              <a:buNone/>
            </a:pPr>
            <a:r>
              <a:rPr lang="en-US" sz="1100" dirty="0">
                <a:solidFill>
                  <a:srgbClr val="8FD694"/>
                </a:solidFill>
                <a:latin typeface="Courier New" pitchFamily="34" charset="0"/>
                <a:ea typeface="Courier New" pitchFamily="34" charset="-122"/>
                <a:cs typeface="Courier New" pitchFamily="34" charset="-120"/>
              </a:rPr>
              <a:t>waktu_respons &lt;- c(120, 135, 118, 142, 129, 150)</a:t>
            </a:r>
            <a:endParaRPr lang="en-US" sz="1100" dirty="0"/>
          </a:p>
          <a:p>
            <a:pPr indent="0" marL="0">
              <a:lnSpc>
                <a:spcPct val="118000"/>
              </a:lnSpc>
              <a:buNone/>
            </a:pPr>
            <a:endParaRPr lang="en-US" sz="1100" dirty="0"/>
          </a:p>
          <a:p>
            <a:pPr indent="0" marL="0">
              <a:lnSpc>
                <a:spcPct val="118000"/>
              </a:lnSpc>
              <a:buNone/>
            </a:pPr>
            <a:r>
              <a:rPr lang="en-US" sz="1100" dirty="0">
                <a:solidFill>
                  <a:srgbClr val="6B8A94"/>
                </a:solidFill>
                <a:latin typeface="Courier New" pitchFamily="34" charset="0"/>
                <a:ea typeface="Courier New" pitchFamily="34" charset="-122"/>
                <a:cs typeface="Courier New" pitchFamily="34" charset="-120"/>
              </a:rPr>
              <a:t># DATA FRAME: struktur tabular heterogen</a:t>
            </a:r>
            <a:endParaRPr lang="en-US" sz="1100" dirty="0"/>
          </a:p>
          <a:p>
            <a:pPr indent="0" marL="0">
              <a:lnSpc>
                <a:spcPct val="118000"/>
              </a:lnSpc>
              <a:buNone/>
            </a:pPr>
            <a:r>
              <a:rPr lang="en-US" sz="1100" dirty="0">
                <a:solidFill>
                  <a:srgbClr val="8FD694"/>
                </a:solidFill>
                <a:latin typeface="Courier New" pitchFamily="34" charset="0"/>
                <a:ea typeface="Courier New" pitchFamily="34" charset="-122"/>
                <a:cs typeface="Courier New" pitchFamily="34" charset="-120"/>
              </a:rPr>
              <a:t>df_server &lt;- data.frame(</a:t>
            </a:r>
            <a:endParaRPr lang="en-US" sz="1100" dirty="0"/>
          </a:p>
          <a:p>
            <a:pPr indent="0" marL="0">
              <a:lnSpc>
                <a:spcPct val="118000"/>
              </a:lnSpc>
              <a:buNone/>
            </a:pPr>
            <a:r>
              <a:rPr lang="en-US" sz="1100" dirty="0">
                <a:solidFill>
                  <a:srgbClr val="8FD694"/>
                </a:solidFill>
                <a:latin typeface="Courier New" pitchFamily="34" charset="0"/>
                <a:ea typeface="Courier New" pitchFamily="34" charset="-122"/>
                <a:cs typeface="Courier New" pitchFamily="34" charset="-120"/>
              </a:rPr>
              <a:t>  nama_server = c("SRV-01","SRV-02","SRV-03"),</a:t>
            </a:r>
            <a:endParaRPr lang="en-US" sz="1100" dirty="0"/>
          </a:p>
          <a:p>
            <a:pPr indent="0" marL="0">
              <a:lnSpc>
                <a:spcPct val="118000"/>
              </a:lnSpc>
              <a:buNone/>
            </a:pPr>
            <a:r>
              <a:rPr lang="en-US" sz="1100" dirty="0">
                <a:solidFill>
                  <a:srgbClr val="8FD694"/>
                </a:solidFill>
                <a:latin typeface="Courier New" pitchFamily="34" charset="0"/>
                <a:ea typeface="Courier New" pitchFamily="34" charset="-122"/>
                <a:cs typeface="Courier New" pitchFamily="34" charset="-120"/>
              </a:rPr>
              <a:t>  cpu_core    = c(8, 16, 8),</a:t>
            </a:r>
            <a:endParaRPr lang="en-US" sz="1100" dirty="0"/>
          </a:p>
          <a:p>
            <a:pPr indent="0" marL="0">
              <a:lnSpc>
                <a:spcPct val="118000"/>
              </a:lnSpc>
              <a:buNone/>
            </a:pPr>
            <a:r>
              <a:rPr lang="en-US" sz="1100" dirty="0">
                <a:solidFill>
                  <a:srgbClr val="8FD694"/>
                </a:solidFill>
                <a:latin typeface="Courier New" pitchFamily="34" charset="0"/>
                <a:ea typeface="Courier New" pitchFamily="34" charset="-122"/>
                <a:cs typeface="Courier New" pitchFamily="34" charset="-120"/>
              </a:rPr>
              <a:t>  is_aktif    = c(TRUE, TRUE, FALSE),</a:t>
            </a:r>
            <a:endParaRPr lang="en-US" sz="1100" dirty="0"/>
          </a:p>
          <a:p>
            <a:pPr indent="0" marL="0">
              <a:lnSpc>
                <a:spcPct val="118000"/>
              </a:lnSpc>
              <a:buNone/>
            </a:pPr>
            <a:r>
              <a:rPr lang="en-US" sz="1100" dirty="0">
                <a:solidFill>
                  <a:srgbClr val="8FD694"/>
                </a:solidFill>
                <a:latin typeface="Courier New" pitchFamily="34" charset="0"/>
                <a:ea typeface="Courier New" pitchFamily="34" charset="-122"/>
                <a:cs typeface="Courier New" pitchFamily="34" charset="-120"/>
              </a:rPr>
              <a:t>  rata_respons = c(128.75, 103.5, 163.75)</a:t>
            </a:r>
            <a:endParaRPr lang="en-US" sz="1100" dirty="0"/>
          </a:p>
          <a:p>
            <a:pPr indent="0" marL="0">
              <a:lnSpc>
                <a:spcPct val="118000"/>
              </a:lnSpc>
              <a:buNone/>
            </a:pPr>
            <a:r>
              <a:rPr lang="en-US" sz="1100" dirty="0">
                <a:solidFill>
                  <a:srgbClr val="8FD694"/>
                </a:solidFill>
                <a:latin typeface="Courier New" pitchFamily="34" charset="0"/>
                <a:ea typeface="Courier New" pitchFamily="34" charset="-122"/>
                <a:cs typeface="Courier New" pitchFamily="34" charset="-120"/>
              </a:rPr>
              <a:t>)</a:t>
            </a:r>
            <a:endParaRPr lang="en-US" sz="1100" dirty="0"/>
          </a:p>
          <a:p>
            <a:pPr indent="0" marL="0">
              <a:lnSpc>
                <a:spcPct val="118000"/>
              </a:lnSpc>
              <a:buNone/>
            </a:pPr>
            <a:r>
              <a:rPr lang="en-US" sz="1100" dirty="0">
                <a:solidFill>
                  <a:srgbClr val="8FD694"/>
                </a:solidFill>
                <a:latin typeface="Courier New" pitchFamily="34" charset="0"/>
                <a:ea typeface="Courier New" pitchFamily="34" charset="-122"/>
                <a:cs typeface="Courier New" pitchFamily="34" charset="-120"/>
              </a:rPr>
              <a:t>str(df_server)</a:t>
            </a:r>
            <a:endParaRPr lang="en-US" sz="1100" dirty="0"/>
          </a:p>
        </p:txBody>
      </p:sp>
      <p:sp>
        <p:nvSpPr>
          <p:cNvPr id="11" name="Shape 9"/>
          <p:cNvSpPr/>
          <p:nvPr/>
        </p:nvSpPr>
        <p:spPr>
          <a:xfrm>
            <a:off x="7269480" y="1691640"/>
            <a:ext cx="4343400" cy="4114800"/>
          </a:xfrm>
          <a:prstGeom prst="roundRect">
            <a:avLst>
              <a:gd name="adj" fmla="val 1778"/>
            </a:avLst>
          </a:prstGeom>
          <a:solidFill>
            <a:srgbClr val="FDF3E8"/>
          </a:solidFill>
          <a:ln/>
        </p:spPr>
      </p:sp>
      <p:sp>
        <p:nvSpPr>
          <p:cNvPr id="12" name="Text 10"/>
          <p:cNvSpPr txBox="1"/>
          <p:nvPr/>
        </p:nvSpPr>
        <p:spPr>
          <a:xfrm>
            <a:off x="7498080" y="1920240"/>
            <a:ext cx="3886200" cy="274320"/>
          </a:xfrm>
          <a:prstGeom prst="rect">
            <a:avLst/>
          </a:prstGeom>
          <a:noFill/>
          <a:ln/>
        </p:spPr>
        <p:txBody>
          <a:bodyPr wrap="square" lIns="0" tIns="0" rIns="0" bIns="0" rtlCol="0" anchor="ctr"/>
          <a:lstStyle/>
          <a:p>
            <a:pPr indent="0" marL="0">
              <a:buNone/>
            </a:pPr>
            <a:r>
              <a:rPr lang="en-US" sz="1100" b="1" spc="50" kern="0" dirty="0">
                <a:solidFill>
                  <a:srgbClr val="B5651D"/>
                </a:solidFill>
                <a:latin typeface="Calibri" pitchFamily="34" charset="0"/>
                <a:ea typeface="Calibri" pitchFamily="34" charset="-122"/>
                <a:cs typeface="Calibri" pitchFamily="34" charset="-120"/>
              </a:rPr>
              <a:t>MENGAPA str() PENTING?</a:t>
            </a:r>
            <a:endParaRPr lang="en-US" sz="1100" dirty="0"/>
          </a:p>
        </p:txBody>
      </p:sp>
      <p:sp>
        <p:nvSpPr>
          <p:cNvPr id="13" name="Text 11"/>
          <p:cNvSpPr txBox="1"/>
          <p:nvPr/>
        </p:nvSpPr>
        <p:spPr>
          <a:xfrm>
            <a:off x="7498080" y="2286000"/>
            <a:ext cx="3886200" cy="3291840"/>
          </a:xfrm>
          <a:prstGeom prst="rect">
            <a:avLst/>
          </a:prstGeom>
          <a:noFill/>
          <a:ln/>
        </p:spPr>
        <p:txBody>
          <a:bodyPr wrap="square" lIns="0" tIns="0" rIns="0" bIns="0" rtlCol="0" anchor="ctr"/>
          <a:lstStyle/>
          <a:p>
            <a:pPr indent="0" marL="0">
              <a:lnSpc>
                <a:spcPct val="125000"/>
              </a:lnSpc>
              <a:buNone/>
            </a:pPr>
            <a:r>
              <a:rPr lang="en-US" sz="1150" dirty="0">
                <a:solidFill>
                  <a:srgbClr val="1B2A32"/>
                </a:solidFill>
                <a:latin typeface="Calibri" pitchFamily="34" charset="0"/>
                <a:ea typeface="Calibri" pitchFamily="34" charset="-122"/>
                <a:cs typeface="Calibri" pitchFamily="34" charset="-120"/>
              </a:rPr>
              <a:t>str() menampilkan ringkasan struktur suatu objek — jumlah observasi, jumlah variabel, tipe data setiap kolom, dan contoh nilainya.</a:t>
            </a:r>
            <a:endParaRPr lang="en-US" sz="1150" dirty="0"/>
          </a:p>
          <a:p>
            <a:pPr indent="0" marL="0">
              <a:lnSpc>
                <a:spcPct val="125000"/>
              </a:lnSpc>
              <a:buNone/>
            </a:pPr>
            <a:endParaRPr lang="en-US" sz="1150" dirty="0"/>
          </a:p>
          <a:p>
            <a:pPr indent="0" marL="0">
              <a:lnSpc>
                <a:spcPct val="125000"/>
              </a:lnSpc>
              <a:buNone/>
            </a:pPr>
            <a:r>
              <a:rPr lang="en-US" sz="1150" dirty="0">
                <a:solidFill>
                  <a:srgbClr val="1B2A32"/>
                </a:solidFill>
                <a:latin typeface="Calibri" pitchFamily="34" charset="0"/>
                <a:ea typeface="Calibri" pitchFamily="34" charset="-122"/>
                <a:cs typeface="Calibri" pitchFamily="34" charset="-120"/>
              </a:rPr>
              <a:t>Menjalankan str() setiap kali memuat dataset baru membantu mendeteksi kesalahan tipe data sejak dini, sebelum merambat ke tahap analisis yang lebih kompleks.</a:t>
            </a:r>
            <a:endParaRPr lang="en-US" sz="1150" dirty="0"/>
          </a:p>
        </p:txBody>
      </p:sp>
      <p:sp>
        <p:nvSpPr>
          <p:cNvPr id="14" name="Text 12"/>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5C6E76"/>
                </a:solidFill>
                <a:latin typeface="Calibri" pitchFamily="34" charset="0"/>
                <a:ea typeface="Calibri" pitchFamily="34" charset="-122"/>
                <a:cs typeface="Calibri" pitchFamily="34" charset="-120"/>
              </a:rPr>
              <a:t>BAB 1 · PENGANTAR STATISTIK TEKNIK DAN LINGKUNGAN R</a:t>
            </a:r>
            <a:endParaRPr lang="en-US" sz="900" dirty="0"/>
          </a:p>
        </p:txBody>
      </p:sp>
      <p:sp>
        <p:nvSpPr>
          <p:cNvPr id="15" name="Text 13"/>
          <p:cNvSpPr txBox="1"/>
          <p:nvPr/>
        </p:nvSpPr>
        <p:spPr>
          <a:xfrm>
            <a:off x="10241280" y="6510528"/>
            <a:ext cx="1371600" cy="274320"/>
          </a:xfrm>
          <a:prstGeom prst="rect">
            <a:avLst/>
          </a:prstGeom>
          <a:noFill/>
          <a:ln/>
        </p:spPr>
        <p:txBody>
          <a:bodyPr wrap="square" lIns="0" tIns="0" rIns="0" bIns="0" rtlCol="0" anchor="ctr"/>
          <a:lstStyle/>
          <a:p>
            <a:pPr algn="r" indent="0" marL="0">
              <a:buNone/>
            </a:pPr>
            <a:r>
              <a:rPr lang="en-US" sz="900" dirty="0">
                <a:solidFill>
                  <a:srgbClr val="5C6E7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300" b="1" spc="100" kern="0" dirty="0">
                <a:solidFill>
                  <a:srgbClr val="1C7293"/>
                </a:solidFill>
                <a:latin typeface="Calibri" pitchFamily="34" charset="0"/>
                <a:ea typeface="Calibri" pitchFamily="34" charset="-122"/>
                <a:cs typeface="Calibri" pitchFamily="34" charset="-120"/>
              </a:rPr>
              <a:t>SUB-BAB 1.6</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0B3C5D"/>
                </a:solidFill>
                <a:latin typeface="Cambria" pitchFamily="34" charset="0"/>
                <a:ea typeface="Cambria" pitchFamily="34" charset="-122"/>
                <a:cs typeface="Cambria" pitchFamily="34" charset="-120"/>
              </a:rPr>
              <a:t>Sistem Bantuan (Help System) pada R</a:t>
            </a:r>
            <a:endParaRPr lang="en-US" sz="3000" dirty="0"/>
          </a:p>
        </p:txBody>
      </p:sp>
      <p:sp>
        <p:nvSpPr>
          <p:cNvPr id="4" name="Shape 2"/>
          <p:cNvSpPr/>
          <p:nvPr/>
        </p:nvSpPr>
        <p:spPr>
          <a:xfrm>
            <a:off x="548640" y="1389888"/>
            <a:ext cx="822960" cy="41148"/>
          </a:xfrm>
          <a:prstGeom prst="rect">
            <a:avLst/>
          </a:prstGeom>
          <a:solidFill>
            <a:srgbClr val="F4A261"/>
          </a:solidFill>
          <a:ln/>
        </p:spPr>
      </p:sp>
      <p:sp>
        <p:nvSpPr>
          <p:cNvPr id="5" name="Text 3"/>
          <p:cNvSpPr txBox="1"/>
          <p:nvPr/>
        </p:nvSpPr>
        <p:spPr>
          <a:xfrm>
            <a:off x="548640" y="1600200"/>
            <a:ext cx="11064240" cy="457200"/>
          </a:xfrm>
          <a:prstGeom prst="rect">
            <a:avLst/>
          </a:prstGeom>
          <a:noFill/>
          <a:ln/>
        </p:spPr>
        <p:txBody>
          <a:bodyPr wrap="square" lIns="0" tIns="0" rIns="0" bIns="0" rtlCol="0" anchor="ctr"/>
          <a:lstStyle/>
          <a:p>
            <a:pPr indent="0" marL="0">
              <a:buNone/>
            </a:pPr>
            <a:r>
              <a:rPr lang="en-US" sz="1250" dirty="0">
                <a:solidFill>
                  <a:srgbClr val="1B2A32"/>
                </a:solidFill>
                <a:latin typeface="Calibri" pitchFamily="34" charset="0"/>
                <a:ea typeface="Calibri" pitchFamily="34" charset="-122"/>
                <a:cs typeface="Calibri" pitchFamily="34" charset="-120"/>
              </a:rPr>
              <a:t>R memiliki ribuan fungsi yang mustahil dihafal seluruhnya — kemampuan menelusuri dokumentasi secara mandiri adalah keterampilan penting.</a:t>
            </a:r>
            <a:endParaRPr lang="en-US" sz="1250" dirty="0"/>
          </a:p>
        </p:txBody>
      </p:sp>
      <p:sp>
        <p:nvSpPr>
          <p:cNvPr id="6" name="Shape 4"/>
          <p:cNvSpPr/>
          <p:nvPr/>
        </p:nvSpPr>
        <p:spPr>
          <a:xfrm>
            <a:off x="548640" y="2240280"/>
            <a:ext cx="11064240" cy="640080"/>
          </a:xfrm>
          <a:prstGeom prst="roundRect">
            <a:avLst>
              <a:gd name="adj" fmla="val 8571"/>
            </a:avLst>
          </a:prstGeom>
          <a:solidFill>
            <a:srgbClr val="EAF4F4"/>
          </a:solidFill>
          <a:ln/>
        </p:spPr>
      </p:sp>
      <p:sp>
        <p:nvSpPr>
          <p:cNvPr id="7" name="Text 5"/>
          <p:cNvSpPr txBox="1"/>
          <p:nvPr/>
        </p:nvSpPr>
        <p:spPr>
          <a:xfrm>
            <a:off x="777240" y="2240280"/>
            <a:ext cx="3566160" cy="640080"/>
          </a:xfrm>
          <a:prstGeom prst="rect">
            <a:avLst/>
          </a:prstGeom>
          <a:noFill/>
          <a:ln/>
        </p:spPr>
        <p:txBody>
          <a:bodyPr wrap="square" lIns="0" tIns="0" rIns="0" bIns="0" rtlCol="0" anchor="ctr"/>
          <a:lstStyle/>
          <a:p>
            <a:pPr indent="0" marL="0">
              <a:buNone/>
            </a:pPr>
            <a:r>
              <a:rPr lang="en-US" sz="1250" b="1" dirty="0">
                <a:solidFill>
                  <a:srgbClr val="0B3C5D"/>
                </a:solidFill>
                <a:latin typeface="Courier New" pitchFamily="34" charset="0"/>
                <a:ea typeface="Courier New" pitchFamily="34" charset="-122"/>
                <a:cs typeface="Courier New" pitchFamily="34" charset="-120"/>
              </a:rPr>
              <a:t>?mean  /  help(mean)</a:t>
            </a:r>
            <a:endParaRPr lang="en-US" sz="1250" dirty="0"/>
          </a:p>
        </p:txBody>
      </p:sp>
      <p:sp>
        <p:nvSpPr>
          <p:cNvPr id="8" name="Text 6"/>
          <p:cNvSpPr txBox="1"/>
          <p:nvPr/>
        </p:nvSpPr>
        <p:spPr>
          <a:xfrm>
            <a:off x="4480560" y="2240280"/>
            <a:ext cx="6949440" cy="640080"/>
          </a:xfrm>
          <a:prstGeom prst="rect">
            <a:avLst/>
          </a:prstGeom>
          <a:noFill/>
          <a:ln/>
        </p:spPr>
        <p:txBody>
          <a:bodyPr wrap="square" lIns="0" tIns="0" rIns="0" bIns="0" rtlCol="0" anchor="ctr"/>
          <a:lstStyle/>
          <a:p>
            <a:pPr indent="0" marL="0">
              <a:buNone/>
            </a:pPr>
            <a:r>
              <a:rPr lang="en-US" sz="1200" dirty="0">
                <a:solidFill>
                  <a:srgbClr val="1B2A32"/>
                </a:solidFill>
                <a:latin typeface="Calibri" pitchFamily="34" charset="0"/>
                <a:ea typeface="Calibri" pitchFamily="34" charset="-122"/>
                <a:cs typeface="Calibri" pitchFamily="34" charset="-120"/>
              </a:rPr>
              <a:t>Membuka dokumentasi resmi suatu fungsi pada panel Help.</a:t>
            </a:r>
            <a:endParaRPr lang="en-US" sz="1200" dirty="0"/>
          </a:p>
        </p:txBody>
      </p:sp>
      <p:sp>
        <p:nvSpPr>
          <p:cNvPr id="9" name="Shape 7"/>
          <p:cNvSpPr/>
          <p:nvPr/>
        </p:nvSpPr>
        <p:spPr>
          <a:xfrm>
            <a:off x="548640" y="3017520"/>
            <a:ext cx="11064240" cy="640080"/>
          </a:xfrm>
          <a:prstGeom prst="roundRect">
            <a:avLst>
              <a:gd name="adj" fmla="val 8571"/>
            </a:avLst>
          </a:prstGeom>
          <a:solidFill>
            <a:srgbClr val="FFFFFF"/>
          </a:solidFill>
          <a:ln w="12700">
            <a:solidFill>
              <a:srgbClr val="E3E9E9"/>
            </a:solidFill>
            <a:prstDash val="solid"/>
          </a:ln>
        </p:spPr>
      </p:sp>
      <p:sp>
        <p:nvSpPr>
          <p:cNvPr id="10" name="Text 8"/>
          <p:cNvSpPr txBox="1"/>
          <p:nvPr/>
        </p:nvSpPr>
        <p:spPr>
          <a:xfrm>
            <a:off x="777240" y="3017520"/>
            <a:ext cx="3566160" cy="640080"/>
          </a:xfrm>
          <a:prstGeom prst="rect">
            <a:avLst/>
          </a:prstGeom>
          <a:noFill/>
          <a:ln/>
        </p:spPr>
        <p:txBody>
          <a:bodyPr wrap="square" lIns="0" tIns="0" rIns="0" bIns="0" rtlCol="0" anchor="ctr"/>
          <a:lstStyle/>
          <a:p>
            <a:pPr indent="0" marL="0">
              <a:buNone/>
            </a:pPr>
            <a:r>
              <a:rPr lang="en-US" sz="1250" b="1" dirty="0">
                <a:solidFill>
                  <a:srgbClr val="0B3C5D"/>
                </a:solidFill>
                <a:latin typeface="Courier New" pitchFamily="34" charset="0"/>
                <a:ea typeface="Courier New" pitchFamily="34" charset="-122"/>
                <a:cs typeface="Courier New" pitchFamily="34" charset="-120"/>
              </a:rPr>
              <a:t>help.search("kata kunci")</a:t>
            </a:r>
            <a:endParaRPr lang="en-US" sz="1250" dirty="0"/>
          </a:p>
        </p:txBody>
      </p:sp>
      <p:sp>
        <p:nvSpPr>
          <p:cNvPr id="11" name="Text 9"/>
          <p:cNvSpPr txBox="1"/>
          <p:nvPr/>
        </p:nvSpPr>
        <p:spPr>
          <a:xfrm>
            <a:off x="4480560" y="3017520"/>
            <a:ext cx="6949440" cy="640080"/>
          </a:xfrm>
          <a:prstGeom prst="rect">
            <a:avLst/>
          </a:prstGeom>
          <a:noFill/>
          <a:ln/>
        </p:spPr>
        <p:txBody>
          <a:bodyPr wrap="square" lIns="0" tIns="0" rIns="0" bIns="0" rtlCol="0" anchor="ctr"/>
          <a:lstStyle/>
          <a:p>
            <a:pPr indent="0" marL="0">
              <a:buNone/>
            </a:pPr>
            <a:r>
              <a:rPr lang="en-US" sz="1200" dirty="0">
                <a:solidFill>
                  <a:srgbClr val="1B2A32"/>
                </a:solidFill>
                <a:latin typeface="Calibri" pitchFamily="34" charset="0"/>
                <a:ea typeface="Calibri" pitchFamily="34" charset="-122"/>
                <a:cs typeface="Calibri" pitchFamily="34" charset="-120"/>
              </a:rPr>
              <a:t>Mencari fungsi jika nama pastinya tidak diketahui.</a:t>
            </a:r>
            <a:endParaRPr lang="en-US" sz="1200" dirty="0"/>
          </a:p>
        </p:txBody>
      </p:sp>
      <p:sp>
        <p:nvSpPr>
          <p:cNvPr id="12" name="Shape 10"/>
          <p:cNvSpPr/>
          <p:nvPr/>
        </p:nvSpPr>
        <p:spPr>
          <a:xfrm>
            <a:off x="548640" y="3794760"/>
            <a:ext cx="11064240" cy="640080"/>
          </a:xfrm>
          <a:prstGeom prst="roundRect">
            <a:avLst>
              <a:gd name="adj" fmla="val 8571"/>
            </a:avLst>
          </a:prstGeom>
          <a:solidFill>
            <a:srgbClr val="EAF4F4"/>
          </a:solidFill>
          <a:ln/>
        </p:spPr>
      </p:sp>
      <p:sp>
        <p:nvSpPr>
          <p:cNvPr id="13" name="Text 11"/>
          <p:cNvSpPr txBox="1"/>
          <p:nvPr/>
        </p:nvSpPr>
        <p:spPr>
          <a:xfrm>
            <a:off x="777240" y="3794760"/>
            <a:ext cx="3566160" cy="640080"/>
          </a:xfrm>
          <a:prstGeom prst="rect">
            <a:avLst/>
          </a:prstGeom>
          <a:noFill/>
          <a:ln/>
        </p:spPr>
        <p:txBody>
          <a:bodyPr wrap="square" lIns="0" tIns="0" rIns="0" bIns="0" rtlCol="0" anchor="ctr"/>
          <a:lstStyle/>
          <a:p>
            <a:pPr indent="0" marL="0">
              <a:buNone/>
            </a:pPr>
            <a:r>
              <a:rPr lang="en-US" sz="1250" b="1" dirty="0">
                <a:solidFill>
                  <a:srgbClr val="0B3C5D"/>
                </a:solidFill>
                <a:latin typeface="Courier New" pitchFamily="34" charset="0"/>
                <a:ea typeface="Courier New" pitchFamily="34" charset="-122"/>
                <a:cs typeface="Courier New" pitchFamily="34" charset="-120"/>
              </a:rPr>
              <a:t>example(mean)</a:t>
            </a:r>
            <a:endParaRPr lang="en-US" sz="1250" dirty="0"/>
          </a:p>
        </p:txBody>
      </p:sp>
      <p:sp>
        <p:nvSpPr>
          <p:cNvPr id="14" name="Text 12"/>
          <p:cNvSpPr txBox="1"/>
          <p:nvPr/>
        </p:nvSpPr>
        <p:spPr>
          <a:xfrm>
            <a:off x="4480560" y="3794760"/>
            <a:ext cx="6949440" cy="640080"/>
          </a:xfrm>
          <a:prstGeom prst="rect">
            <a:avLst/>
          </a:prstGeom>
          <a:noFill/>
          <a:ln/>
        </p:spPr>
        <p:txBody>
          <a:bodyPr wrap="square" lIns="0" tIns="0" rIns="0" bIns="0" rtlCol="0" anchor="ctr"/>
          <a:lstStyle/>
          <a:p>
            <a:pPr indent="0" marL="0">
              <a:buNone/>
            </a:pPr>
            <a:r>
              <a:rPr lang="en-US" sz="1200" dirty="0">
                <a:solidFill>
                  <a:srgbClr val="1B2A32"/>
                </a:solidFill>
                <a:latin typeface="Calibri" pitchFamily="34" charset="0"/>
                <a:ea typeface="Calibri" pitchFamily="34" charset="-122"/>
                <a:cs typeface="Calibri" pitchFamily="34" charset="-120"/>
              </a:rPr>
              <a:t>Menjalankan contoh kode pada dokumentasi fungsi.</a:t>
            </a:r>
            <a:endParaRPr lang="en-US" sz="1200" dirty="0"/>
          </a:p>
        </p:txBody>
      </p:sp>
      <p:sp>
        <p:nvSpPr>
          <p:cNvPr id="15" name="Shape 13"/>
          <p:cNvSpPr/>
          <p:nvPr/>
        </p:nvSpPr>
        <p:spPr>
          <a:xfrm>
            <a:off x="548640" y="4572000"/>
            <a:ext cx="11064240" cy="640080"/>
          </a:xfrm>
          <a:prstGeom prst="roundRect">
            <a:avLst>
              <a:gd name="adj" fmla="val 8571"/>
            </a:avLst>
          </a:prstGeom>
          <a:solidFill>
            <a:srgbClr val="FFFFFF"/>
          </a:solidFill>
          <a:ln w="12700">
            <a:solidFill>
              <a:srgbClr val="E3E9E9"/>
            </a:solidFill>
            <a:prstDash val="solid"/>
          </a:ln>
        </p:spPr>
      </p:sp>
      <p:sp>
        <p:nvSpPr>
          <p:cNvPr id="16" name="Text 14"/>
          <p:cNvSpPr txBox="1"/>
          <p:nvPr/>
        </p:nvSpPr>
        <p:spPr>
          <a:xfrm>
            <a:off x="777240" y="4572000"/>
            <a:ext cx="3566160" cy="640080"/>
          </a:xfrm>
          <a:prstGeom prst="rect">
            <a:avLst/>
          </a:prstGeom>
          <a:noFill/>
          <a:ln/>
        </p:spPr>
        <p:txBody>
          <a:bodyPr wrap="square" lIns="0" tIns="0" rIns="0" bIns="0" rtlCol="0" anchor="ctr"/>
          <a:lstStyle/>
          <a:p>
            <a:pPr indent="0" marL="0">
              <a:buNone/>
            </a:pPr>
            <a:r>
              <a:rPr lang="en-US" sz="1250" b="1" dirty="0">
                <a:solidFill>
                  <a:srgbClr val="0B3C5D"/>
                </a:solidFill>
                <a:latin typeface="Courier New" pitchFamily="34" charset="0"/>
                <a:ea typeface="Courier New" pitchFamily="34" charset="-122"/>
                <a:cs typeface="Courier New" pitchFamily="34" charset="-120"/>
              </a:rPr>
              <a:t>vignette("dplyr")</a:t>
            </a:r>
            <a:endParaRPr lang="en-US" sz="1250" dirty="0"/>
          </a:p>
        </p:txBody>
      </p:sp>
      <p:sp>
        <p:nvSpPr>
          <p:cNvPr id="17" name="Text 15"/>
          <p:cNvSpPr txBox="1"/>
          <p:nvPr/>
        </p:nvSpPr>
        <p:spPr>
          <a:xfrm>
            <a:off x="4480560" y="4572000"/>
            <a:ext cx="6949440" cy="640080"/>
          </a:xfrm>
          <a:prstGeom prst="rect">
            <a:avLst/>
          </a:prstGeom>
          <a:noFill/>
          <a:ln/>
        </p:spPr>
        <p:txBody>
          <a:bodyPr wrap="square" lIns="0" tIns="0" rIns="0" bIns="0" rtlCol="0" anchor="ctr"/>
          <a:lstStyle/>
          <a:p>
            <a:pPr indent="0" marL="0">
              <a:buNone/>
            </a:pPr>
            <a:r>
              <a:rPr lang="en-US" sz="1200" dirty="0">
                <a:solidFill>
                  <a:srgbClr val="1B2A32"/>
                </a:solidFill>
                <a:latin typeface="Calibri" pitchFamily="34" charset="0"/>
                <a:ea typeface="Calibri" pitchFamily="34" charset="-122"/>
                <a:cs typeface="Calibri" pitchFamily="34" charset="-120"/>
              </a:rPr>
              <a:t>Membuka dokumentasi naratif (tutorial) suatu package.</a:t>
            </a:r>
            <a:endParaRPr lang="en-US" sz="1200" dirty="0"/>
          </a:p>
        </p:txBody>
      </p:sp>
      <p:sp>
        <p:nvSpPr>
          <p:cNvPr id="18" name="Text 16"/>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5C6E76"/>
                </a:solidFill>
                <a:latin typeface="Calibri" pitchFamily="34" charset="0"/>
                <a:ea typeface="Calibri" pitchFamily="34" charset="-122"/>
                <a:cs typeface="Calibri" pitchFamily="34" charset="-120"/>
              </a:rPr>
              <a:t>BAB 1 · PENGANTAR STATISTIK TEKNIK DAN LINGKUNGAN R</a:t>
            </a:r>
            <a:endParaRPr lang="en-US" sz="900" dirty="0"/>
          </a:p>
        </p:txBody>
      </p:sp>
      <p:sp>
        <p:nvSpPr>
          <p:cNvPr id="19" name="Text 17"/>
          <p:cNvSpPr txBox="1"/>
          <p:nvPr/>
        </p:nvSpPr>
        <p:spPr>
          <a:xfrm>
            <a:off x="10241280" y="6510528"/>
            <a:ext cx="1371600" cy="274320"/>
          </a:xfrm>
          <a:prstGeom prst="rect">
            <a:avLst/>
          </a:prstGeom>
          <a:noFill/>
          <a:ln/>
        </p:spPr>
        <p:txBody>
          <a:bodyPr wrap="square" lIns="0" tIns="0" rIns="0" bIns="0" rtlCol="0" anchor="ctr"/>
          <a:lstStyle/>
          <a:p>
            <a:pPr algn="r" indent="0" marL="0">
              <a:buNone/>
            </a:pPr>
            <a:r>
              <a:rPr lang="en-US" sz="900" dirty="0">
                <a:solidFill>
                  <a:srgbClr val="5C6E7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300" b="1" spc="100" kern="0" dirty="0">
                <a:solidFill>
                  <a:srgbClr val="1C7293"/>
                </a:solidFill>
                <a:latin typeface="Calibri" pitchFamily="34" charset="0"/>
                <a:ea typeface="Calibri" pitchFamily="34" charset="-122"/>
                <a:cs typeface="Calibri" pitchFamily="34" charset="-120"/>
              </a:rPr>
              <a:t>SUB-BAB 1.7</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0B3C5D"/>
                </a:solidFill>
                <a:latin typeface="Cambria" pitchFamily="34" charset="0"/>
                <a:ea typeface="Cambria" pitchFamily="34" charset="-122"/>
                <a:cs typeface="Cambria" pitchFamily="34" charset="-120"/>
              </a:rPr>
              <a:t>Direktori Kerja serta Impor/Ekspor Data</a:t>
            </a:r>
            <a:endParaRPr lang="en-US" sz="3000" dirty="0"/>
          </a:p>
        </p:txBody>
      </p:sp>
      <p:sp>
        <p:nvSpPr>
          <p:cNvPr id="4" name="Shape 2"/>
          <p:cNvSpPr/>
          <p:nvPr/>
        </p:nvSpPr>
        <p:spPr>
          <a:xfrm>
            <a:off x="548640" y="1389888"/>
            <a:ext cx="822960" cy="41148"/>
          </a:xfrm>
          <a:prstGeom prst="rect">
            <a:avLst/>
          </a:prstGeom>
          <a:solidFill>
            <a:srgbClr val="F4A261"/>
          </a:solidFill>
          <a:ln/>
        </p:spPr>
      </p:sp>
      <p:sp>
        <p:nvSpPr>
          <p:cNvPr id="5" name="Shape 3"/>
          <p:cNvSpPr/>
          <p:nvPr/>
        </p:nvSpPr>
        <p:spPr>
          <a:xfrm>
            <a:off x="548640" y="1691640"/>
            <a:ext cx="6309360" cy="2880360"/>
          </a:xfrm>
          <a:prstGeom prst="roundRect">
            <a:avLst>
              <a:gd name="adj" fmla="val 2540"/>
            </a:avLst>
          </a:prstGeom>
          <a:solidFill>
            <a:srgbClr val="16232B"/>
          </a:solidFill>
          <a:ln w="12700">
            <a:solidFill>
              <a:srgbClr val="0A1116"/>
            </a:solidFill>
            <a:prstDash val="solid"/>
          </a:ln>
          <a:effectLst>
            <a:outerShdw sx="100000" sy="100000" kx="0" ky="0" algn="bl" rotWithShape="0" blurRad="76200" dist="25400" dir="5400000">
              <a:srgbClr val="000000">
                <a:alpha val="25000"/>
              </a:srgbClr>
            </a:outerShdw>
          </a:effectLst>
        </p:spPr>
      </p:sp>
      <p:sp>
        <p:nvSpPr>
          <p:cNvPr id="6" name="Shape 4"/>
          <p:cNvSpPr/>
          <p:nvPr/>
        </p:nvSpPr>
        <p:spPr>
          <a:xfrm>
            <a:off x="713232" y="1819656"/>
            <a:ext cx="109728" cy="109728"/>
          </a:xfrm>
          <a:prstGeom prst="ellipse">
            <a:avLst/>
          </a:prstGeom>
          <a:solidFill>
            <a:srgbClr val="E06C75"/>
          </a:solidFill>
          <a:ln/>
        </p:spPr>
      </p:sp>
      <p:sp>
        <p:nvSpPr>
          <p:cNvPr id="7" name="Shape 5"/>
          <p:cNvSpPr/>
          <p:nvPr/>
        </p:nvSpPr>
        <p:spPr>
          <a:xfrm>
            <a:off x="914400" y="1819656"/>
            <a:ext cx="109728" cy="109728"/>
          </a:xfrm>
          <a:prstGeom prst="ellipse">
            <a:avLst/>
          </a:prstGeom>
          <a:solidFill>
            <a:srgbClr val="E5C07B"/>
          </a:solidFill>
          <a:ln/>
        </p:spPr>
      </p:sp>
      <p:sp>
        <p:nvSpPr>
          <p:cNvPr id="8" name="Shape 6"/>
          <p:cNvSpPr/>
          <p:nvPr/>
        </p:nvSpPr>
        <p:spPr>
          <a:xfrm>
            <a:off x="1115568" y="1819656"/>
            <a:ext cx="109728" cy="109728"/>
          </a:xfrm>
          <a:prstGeom prst="ellipse">
            <a:avLst/>
          </a:prstGeom>
          <a:solidFill>
            <a:srgbClr val="98C379"/>
          </a:solidFill>
          <a:ln/>
        </p:spPr>
      </p:sp>
      <p:sp>
        <p:nvSpPr>
          <p:cNvPr id="9" name="Text 7"/>
          <p:cNvSpPr txBox="1"/>
          <p:nvPr/>
        </p:nvSpPr>
        <p:spPr>
          <a:xfrm>
            <a:off x="1371600" y="1764792"/>
            <a:ext cx="5303520" cy="219456"/>
          </a:xfrm>
          <a:prstGeom prst="rect">
            <a:avLst/>
          </a:prstGeom>
          <a:noFill/>
          <a:ln/>
        </p:spPr>
        <p:txBody>
          <a:bodyPr wrap="square" lIns="0" tIns="0" rIns="0" bIns="0" rtlCol="0" anchor="ctr"/>
          <a:lstStyle/>
          <a:p>
            <a:pPr indent="0" marL="0">
              <a:buNone/>
            </a:pPr>
            <a:r>
              <a:rPr lang="en-US" sz="1000" dirty="0">
                <a:solidFill>
                  <a:srgbClr val="8B9AA3"/>
                </a:solidFill>
                <a:latin typeface="Courier New" pitchFamily="34" charset="0"/>
                <a:ea typeface="Courier New" pitchFamily="34" charset="-122"/>
                <a:cs typeface="Courier New" pitchFamily="34" charset="-120"/>
              </a:rPr>
              <a:t>Kode R 1.6</a:t>
            </a:r>
            <a:endParaRPr lang="en-US" sz="1000" dirty="0"/>
          </a:p>
        </p:txBody>
      </p:sp>
      <p:sp>
        <p:nvSpPr>
          <p:cNvPr id="10" name="Text 8"/>
          <p:cNvSpPr txBox="1"/>
          <p:nvPr/>
        </p:nvSpPr>
        <p:spPr>
          <a:xfrm>
            <a:off x="804672" y="2057400"/>
            <a:ext cx="5797296" cy="2377440"/>
          </a:xfrm>
          <a:prstGeom prst="rect">
            <a:avLst/>
          </a:prstGeom>
          <a:noFill/>
          <a:ln/>
        </p:spPr>
        <p:txBody>
          <a:bodyPr wrap="square" lIns="0" tIns="0" rIns="0" bIns="0" rtlCol="0" anchor="t"/>
          <a:lstStyle/>
          <a:p>
            <a:pPr indent="0" marL="0">
              <a:lnSpc>
                <a:spcPct val="118000"/>
              </a:lnSpc>
              <a:buNone/>
            </a:pPr>
            <a:r>
              <a:rPr lang="en-US" sz="1050" dirty="0">
                <a:solidFill>
                  <a:srgbClr val="8FD694"/>
                </a:solidFill>
                <a:latin typeface="Courier New" pitchFamily="34" charset="0"/>
                <a:ea typeface="Courier New" pitchFamily="34" charset="-122"/>
                <a:cs typeface="Courier New" pitchFamily="34" charset="-120"/>
              </a:rPr>
              <a:t>getwd()                          # cek direktori kerja</a:t>
            </a:r>
            <a:endParaRPr lang="en-US" sz="1050" dirty="0"/>
          </a:p>
          <a:p>
            <a:pPr indent="0" marL="0">
              <a:lnSpc>
                <a:spcPct val="118000"/>
              </a:lnSpc>
              <a:buNone/>
            </a:pPr>
            <a:r>
              <a:rPr lang="en-US" sz="1050" dirty="0">
                <a:solidFill>
                  <a:srgbClr val="8FD694"/>
                </a:solidFill>
                <a:latin typeface="Courier New" pitchFamily="34" charset="0"/>
                <a:ea typeface="Courier New" pitchFamily="34" charset="-122"/>
                <a:cs typeface="Courier New" pitchFamily="34" charset="-120"/>
              </a:rPr>
              <a:t>setwd("~/statistik_teknik/bab01")</a:t>
            </a:r>
            <a:endParaRPr lang="en-US" sz="1050" dirty="0"/>
          </a:p>
          <a:p>
            <a:pPr indent="0" marL="0">
              <a:lnSpc>
                <a:spcPct val="118000"/>
              </a:lnSpc>
              <a:buNone/>
            </a:pPr>
            <a:endParaRPr lang="en-US" sz="1050" dirty="0"/>
          </a:p>
          <a:p>
            <a:pPr indent="0" marL="0">
              <a:lnSpc>
                <a:spcPct val="118000"/>
              </a:lnSpc>
              <a:buNone/>
            </a:pPr>
            <a:r>
              <a:rPr lang="en-US" sz="1050" dirty="0">
                <a:solidFill>
                  <a:srgbClr val="6B8A94"/>
                </a:solidFill>
                <a:latin typeface="Courier New" pitchFamily="34" charset="0"/>
                <a:ea typeface="Courier New" pitchFamily="34" charset="-122"/>
                <a:cs typeface="Courier New" pitchFamily="34" charset="-120"/>
              </a:rPr>
              <a:t># --- EKSPOR: data frame ke CSV ---</a:t>
            </a:r>
            <a:endParaRPr lang="en-US" sz="1050" dirty="0"/>
          </a:p>
          <a:p>
            <a:pPr indent="0" marL="0">
              <a:lnSpc>
                <a:spcPct val="118000"/>
              </a:lnSpc>
              <a:buNone/>
            </a:pPr>
            <a:r>
              <a:rPr lang="en-US" sz="1050" dirty="0">
                <a:solidFill>
                  <a:srgbClr val="8FD694"/>
                </a:solidFill>
                <a:latin typeface="Courier New" pitchFamily="34" charset="0"/>
                <a:ea typeface="Courier New" pitchFamily="34" charset="-122"/>
                <a:cs typeface="Courier New" pitchFamily="34" charset="-120"/>
              </a:rPr>
              <a:t>write.csv(df_server, "server_logs.csv",</a:t>
            </a:r>
            <a:endParaRPr lang="en-US" sz="1050" dirty="0"/>
          </a:p>
          <a:p>
            <a:pPr indent="0" marL="0">
              <a:lnSpc>
                <a:spcPct val="118000"/>
              </a:lnSpc>
              <a:buNone/>
            </a:pPr>
            <a:r>
              <a:rPr lang="en-US" sz="1050" dirty="0">
                <a:solidFill>
                  <a:srgbClr val="8FD694"/>
                </a:solidFill>
                <a:latin typeface="Courier New" pitchFamily="34" charset="0"/>
                <a:ea typeface="Courier New" pitchFamily="34" charset="-122"/>
                <a:cs typeface="Courier New" pitchFamily="34" charset="-120"/>
              </a:rPr>
              <a:t>           row.names = FALSE)</a:t>
            </a:r>
            <a:endParaRPr lang="en-US" sz="1050" dirty="0"/>
          </a:p>
          <a:p>
            <a:pPr indent="0" marL="0">
              <a:lnSpc>
                <a:spcPct val="118000"/>
              </a:lnSpc>
              <a:buNone/>
            </a:pPr>
            <a:endParaRPr lang="en-US" sz="1050" dirty="0"/>
          </a:p>
          <a:p>
            <a:pPr indent="0" marL="0">
              <a:lnSpc>
                <a:spcPct val="118000"/>
              </a:lnSpc>
              <a:buNone/>
            </a:pPr>
            <a:r>
              <a:rPr lang="en-US" sz="1050" dirty="0">
                <a:solidFill>
                  <a:srgbClr val="6B8A94"/>
                </a:solidFill>
                <a:latin typeface="Courier New" pitchFamily="34" charset="0"/>
                <a:ea typeface="Courier New" pitchFamily="34" charset="-122"/>
                <a:cs typeface="Courier New" pitchFamily="34" charset="-120"/>
              </a:rPr>
              <a:t># --- IMPOR: membaca kembali CSV ---</a:t>
            </a:r>
            <a:endParaRPr lang="en-US" sz="1050" dirty="0"/>
          </a:p>
          <a:p>
            <a:pPr indent="0" marL="0">
              <a:lnSpc>
                <a:spcPct val="118000"/>
              </a:lnSpc>
              <a:buNone/>
            </a:pPr>
            <a:r>
              <a:rPr lang="en-US" sz="1050" dirty="0">
                <a:solidFill>
                  <a:srgbClr val="8FD694"/>
                </a:solidFill>
                <a:latin typeface="Courier New" pitchFamily="34" charset="0"/>
                <a:ea typeface="Courier New" pitchFamily="34" charset="-122"/>
                <a:cs typeface="Courier New" pitchFamily="34" charset="-120"/>
              </a:rPr>
              <a:t>data_impor &lt;- read.csv("server_logs.csv",</a:t>
            </a:r>
            <a:endParaRPr lang="en-US" sz="1050" dirty="0"/>
          </a:p>
          <a:p>
            <a:pPr indent="0" marL="0">
              <a:lnSpc>
                <a:spcPct val="118000"/>
              </a:lnSpc>
              <a:buNone/>
            </a:pPr>
            <a:r>
              <a:rPr lang="en-US" sz="1050" dirty="0">
                <a:solidFill>
                  <a:srgbClr val="8FD694"/>
                </a:solidFill>
                <a:latin typeface="Courier New" pitchFamily="34" charset="0"/>
                <a:ea typeface="Courier New" pitchFamily="34" charset="-122"/>
                <a:cs typeface="Courier New" pitchFamily="34" charset="-120"/>
              </a:rPr>
              <a:t>                stringsAsFactors = FALSE)</a:t>
            </a:r>
            <a:endParaRPr lang="en-US" sz="1050" dirty="0"/>
          </a:p>
        </p:txBody>
      </p:sp>
      <p:sp>
        <p:nvSpPr>
          <p:cNvPr id="11" name="Shape 9"/>
          <p:cNvSpPr/>
          <p:nvPr/>
        </p:nvSpPr>
        <p:spPr>
          <a:xfrm>
            <a:off x="7086600" y="1691640"/>
            <a:ext cx="4526280" cy="2880360"/>
          </a:xfrm>
          <a:prstGeom prst="roundRect">
            <a:avLst>
              <a:gd name="adj" fmla="val 2540"/>
            </a:avLst>
          </a:prstGeom>
          <a:solidFill>
            <a:srgbClr val="FDF3E8"/>
          </a:solidFill>
          <a:ln/>
        </p:spPr>
      </p:sp>
      <p:sp>
        <p:nvSpPr>
          <p:cNvPr id="12" name="Text 10"/>
          <p:cNvSpPr txBox="1"/>
          <p:nvPr/>
        </p:nvSpPr>
        <p:spPr>
          <a:xfrm>
            <a:off x="7287768" y="1874520"/>
            <a:ext cx="4123944" cy="274320"/>
          </a:xfrm>
          <a:prstGeom prst="rect">
            <a:avLst/>
          </a:prstGeom>
          <a:noFill/>
          <a:ln/>
        </p:spPr>
        <p:txBody>
          <a:bodyPr wrap="square" lIns="0" tIns="0" rIns="0" bIns="0" rtlCol="0" anchor="ctr"/>
          <a:lstStyle/>
          <a:p>
            <a:pPr indent="0" marL="0">
              <a:buNone/>
            </a:pPr>
            <a:r>
              <a:rPr lang="en-US" sz="1050" b="1" dirty="0">
                <a:solidFill>
                  <a:srgbClr val="B5651D"/>
                </a:solidFill>
                <a:latin typeface="Calibri" pitchFamily="34" charset="0"/>
                <a:ea typeface="Calibri" pitchFamily="34" charset="-122"/>
                <a:cs typeface="Calibri" pitchFamily="34" charset="-120"/>
              </a:rPr>
              <a:t>⚠  PERHATIAN: TYPE INFERENCE</a:t>
            </a:r>
            <a:endParaRPr lang="en-US" sz="1050" dirty="0"/>
          </a:p>
        </p:txBody>
      </p:sp>
      <p:sp>
        <p:nvSpPr>
          <p:cNvPr id="13" name="Text 11"/>
          <p:cNvSpPr txBox="1"/>
          <p:nvPr/>
        </p:nvSpPr>
        <p:spPr>
          <a:xfrm>
            <a:off x="7287768" y="2194560"/>
            <a:ext cx="4123944" cy="1554480"/>
          </a:xfrm>
          <a:prstGeom prst="rect">
            <a:avLst/>
          </a:prstGeom>
          <a:noFill/>
          <a:ln/>
        </p:spPr>
        <p:txBody>
          <a:bodyPr wrap="square" lIns="0" tIns="0" rIns="0" bIns="0" rtlCol="0" anchor="ctr"/>
          <a:lstStyle/>
          <a:p>
            <a:pPr indent="0" marL="0">
              <a:lnSpc>
                <a:spcPct val="120000"/>
              </a:lnSpc>
              <a:buNone/>
            </a:pPr>
            <a:r>
              <a:rPr lang="en-US" sz="1050" dirty="0">
                <a:solidFill>
                  <a:srgbClr val="1B2A32"/>
                </a:solidFill>
                <a:latin typeface="Calibri" pitchFamily="34" charset="0"/>
                <a:ea typeface="Calibri" pitchFamily="34" charset="-122"/>
                <a:cs typeface="Calibri" pitchFamily="34" charset="-120"/>
              </a:rPr>
              <a:t>Setelah data diekspor ke CSV dan diimpor kembali, kolom cpu_core yang semula numeric dapat berubah menjadi integer. CSV hanya menyimpan representasi teks angka, sehingga R melakukan penebakan tipe data ulang saat impor.</a:t>
            </a:r>
            <a:endParaRPr lang="en-US" sz="1050" dirty="0"/>
          </a:p>
        </p:txBody>
      </p:sp>
      <p:sp>
        <p:nvSpPr>
          <p:cNvPr id="14" name="Text 12"/>
          <p:cNvSpPr txBox="1"/>
          <p:nvPr/>
        </p:nvSpPr>
        <p:spPr>
          <a:xfrm>
            <a:off x="7287768" y="3794760"/>
            <a:ext cx="4123944" cy="640080"/>
          </a:xfrm>
          <a:prstGeom prst="rect">
            <a:avLst/>
          </a:prstGeom>
          <a:noFill/>
          <a:ln/>
        </p:spPr>
        <p:txBody>
          <a:bodyPr wrap="square" lIns="0" tIns="0" rIns="0" bIns="0" rtlCol="0" anchor="ctr"/>
          <a:lstStyle/>
          <a:p>
            <a:pPr indent="0" marL="0">
              <a:lnSpc>
                <a:spcPct val="120000"/>
              </a:lnSpc>
              <a:buNone/>
            </a:pPr>
            <a:r>
              <a:rPr lang="en-US" sz="1050" b="1" i="1" dirty="0">
                <a:solidFill>
                  <a:srgbClr val="1C7293"/>
                </a:solidFill>
                <a:latin typeface="Calibri" pitchFamily="34" charset="0"/>
                <a:ea typeface="Calibri" pitchFamily="34" charset="-122"/>
                <a:cs typeface="Calibri" pitchFamily="34" charset="-120"/>
              </a:rPr>
              <a:t>→ Selalu jalankan str() kembali setelah data baru diimpor.</a:t>
            </a:r>
            <a:endParaRPr lang="en-US" sz="1050" dirty="0"/>
          </a:p>
        </p:txBody>
      </p:sp>
      <p:sp>
        <p:nvSpPr>
          <p:cNvPr id="15" name="Text 13"/>
          <p:cNvSpPr txBox="1"/>
          <p:nvPr/>
        </p:nvSpPr>
        <p:spPr>
          <a:xfrm>
            <a:off x="548640" y="4800600"/>
            <a:ext cx="11064240" cy="457200"/>
          </a:xfrm>
          <a:prstGeom prst="rect">
            <a:avLst/>
          </a:prstGeom>
          <a:noFill/>
          <a:ln/>
        </p:spPr>
        <p:txBody>
          <a:bodyPr wrap="square" lIns="0" tIns="0" rIns="0" bIns="0" rtlCol="0" anchor="ctr"/>
          <a:lstStyle/>
          <a:p>
            <a:pPr indent="0" marL="0">
              <a:buNone/>
            </a:pPr>
            <a:r>
              <a:rPr lang="en-US" sz="1200" b="1" dirty="0">
                <a:solidFill>
                  <a:srgbClr val="0B3C5D"/>
                </a:solidFill>
                <a:latin typeface="Courier New" pitchFamily="34" charset="0"/>
                <a:ea typeface="Courier New" pitchFamily="34" charset="-122"/>
                <a:cs typeface="Courier New" pitchFamily="34" charset="-120"/>
              </a:rPr>
              <a:t>readxl</a:t>
            </a:r>
            <a:pPr indent="0" marL="0">
              <a:buNone/>
            </a:pPr>
            <a:r>
              <a:rPr lang="en-US" sz="1200" dirty="0">
                <a:solidFill>
                  <a:srgbClr val="1B2A32"/>
                </a:solidFill>
                <a:latin typeface="Calibri" pitchFamily="34" charset="0"/>
                <a:ea typeface="Calibri" pitchFamily="34" charset="-122"/>
                <a:cs typeface="Calibri" pitchFamily="34" charset="-120"/>
              </a:rPr>
              <a:t>  — package untuk mengimpor berkas Excel (.xlsx): </a:t>
            </a:r>
            <a:pPr indent="0" marL="0">
              <a:buNone/>
            </a:pPr>
            <a:r>
              <a:rPr lang="en-US" sz="1200" dirty="0">
                <a:solidFill>
                  <a:srgbClr val="1C7293"/>
                </a:solidFill>
                <a:latin typeface="Courier New" pitchFamily="34" charset="0"/>
                <a:ea typeface="Courier New" pitchFamily="34" charset="-122"/>
                <a:cs typeface="Courier New" pitchFamily="34" charset="-120"/>
              </a:rPr>
              <a:t>read_excel("data.xlsx", sheet = 1)</a:t>
            </a:r>
            <a:endParaRPr lang="en-US" sz="1200" dirty="0"/>
          </a:p>
        </p:txBody>
      </p:sp>
      <p:sp>
        <p:nvSpPr>
          <p:cNvPr id="16" name="Text 14"/>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5C6E76"/>
                </a:solidFill>
                <a:latin typeface="Calibri" pitchFamily="34" charset="0"/>
                <a:ea typeface="Calibri" pitchFamily="34" charset="-122"/>
                <a:cs typeface="Calibri" pitchFamily="34" charset="-120"/>
              </a:rPr>
              <a:t>BAB 1 · PENGANTAR STATISTIK TEKNIK DAN LINGKUNGAN R</a:t>
            </a:r>
            <a:endParaRPr lang="en-US" sz="900" dirty="0"/>
          </a:p>
        </p:txBody>
      </p:sp>
      <p:sp>
        <p:nvSpPr>
          <p:cNvPr id="17" name="Text 15"/>
          <p:cNvSpPr txBox="1"/>
          <p:nvPr/>
        </p:nvSpPr>
        <p:spPr>
          <a:xfrm>
            <a:off x="10241280" y="6510528"/>
            <a:ext cx="1371600" cy="274320"/>
          </a:xfrm>
          <a:prstGeom prst="rect">
            <a:avLst/>
          </a:prstGeom>
          <a:noFill/>
          <a:ln/>
        </p:spPr>
        <p:txBody>
          <a:bodyPr wrap="square" lIns="0" tIns="0" rIns="0" bIns="0" rtlCol="0" anchor="ctr"/>
          <a:lstStyle/>
          <a:p>
            <a:pPr algn="r" indent="0" marL="0">
              <a:buNone/>
            </a:pPr>
            <a:r>
              <a:rPr lang="en-US" sz="900" dirty="0">
                <a:solidFill>
                  <a:srgbClr val="5C6E7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300" b="1" spc="100" kern="0" dirty="0">
                <a:solidFill>
                  <a:srgbClr val="1C7293"/>
                </a:solidFill>
                <a:latin typeface="Calibri" pitchFamily="34" charset="0"/>
                <a:ea typeface="Calibri" pitchFamily="34" charset="-122"/>
                <a:cs typeface="Calibri" pitchFamily="34" charset="-120"/>
              </a:rPr>
              <a:t>SUB-BAB 1.8</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0B3C5D"/>
                </a:solidFill>
                <a:latin typeface="Cambria" pitchFamily="34" charset="0"/>
                <a:ea typeface="Cambria" pitchFamily="34" charset="-122"/>
                <a:cs typeface="Cambria" pitchFamily="34" charset="-120"/>
              </a:rPr>
              <a:t>R Script dan R Markdown / knitr</a:t>
            </a:r>
            <a:endParaRPr lang="en-US" sz="3000" dirty="0"/>
          </a:p>
        </p:txBody>
      </p:sp>
      <p:sp>
        <p:nvSpPr>
          <p:cNvPr id="4" name="Shape 2"/>
          <p:cNvSpPr/>
          <p:nvPr/>
        </p:nvSpPr>
        <p:spPr>
          <a:xfrm>
            <a:off x="548640" y="1389888"/>
            <a:ext cx="822960" cy="41148"/>
          </a:xfrm>
          <a:prstGeom prst="rect">
            <a:avLst/>
          </a:prstGeom>
          <a:solidFill>
            <a:srgbClr val="F4A261"/>
          </a:solidFill>
          <a:ln/>
        </p:spPr>
      </p:sp>
      <p:sp>
        <p:nvSpPr>
          <p:cNvPr id="5" name="Shape 3"/>
          <p:cNvSpPr/>
          <p:nvPr/>
        </p:nvSpPr>
        <p:spPr>
          <a:xfrm>
            <a:off x="548640" y="1691640"/>
            <a:ext cx="5303520" cy="1554480"/>
          </a:xfrm>
          <a:prstGeom prst="roundRect">
            <a:avLst>
              <a:gd name="adj" fmla="val 4706"/>
            </a:avLst>
          </a:prstGeom>
          <a:solidFill>
            <a:srgbClr val="EAF4F4"/>
          </a:solidFill>
          <a:ln/>
        </p:spPr>
      </p:sp>
      <p:sp>
        <p:nvSpPr>
          <p:cNvPr id="6" name="Text 4"/>
          <p:cNvSpPr txBox="1"/>
          <p:nvPr/>
        </p:nvSpPr>
        <p:spPr>
          <a:xfrm>
            <a:off x="777240" y="1874520"/>
            <a:ext cx="4846320" cy="365760"/>
          </a:xfrm>
          <a:prstGeom prst="rect">
            <a:avLst/>
          </a:prstGeom>
          <a:noFill/>
          <a:ln/>
        </p:spPr>
        <p:txBody>
          <a:bodyPr wrap="square" lIns="0" tIns="0" rIns="0" bIns="0" rtlCol="0" anchor="ctr"/>
          <a:lstStyle/>
          <a:p>
            <a:pPr indent="0" marL="0">
              <a:buNone/>
            </a:pPr>
            <a:r>
              <a:rPr lang="en-US" sz="1500" b="1" dirty="0">
                <a:solidFill>
                  <a:srgbClr val="0B3C5D"/>
                </a:solidFill>
                <a:latin typeface="Courier New" pitchFamily="34" charset="0"/>
                <a:ea typeface="Courier New" pitchFamily="34" charset="-122"/>
                <a:cs typeface="Courier New" pitchFamily="34" charset="-120"/>
              </a:rPr>
              <a:t>.R  —  R Script</a:t>
            </a:r>
            <a:endParaRPr lang="en-US" sz="1500" dirty="0"/>
          </a:p>
        </p:txBody>
      </p:sp>
      <p:sp>
        <p:nvSpPr>
          <p:cNvPr id="7" name="Text 5"/>
          <p:cNvSpPr txBox="1"/>
          <p:nvPr/>
        </p:nvSpPr>
        <p:spPr>
          <a:xfrm>
            <a:off x="777240" y="2286000"/>
            <a:ext cx="4846320" cy="868680"/>
          </a:xfrm>
          <a:prstGeom prst="rect">
            <a:avLst/>
          </a:prstGeom>
          <a:noFill/>
          <a:ln/>
        </p:spPr>
        <p:txBody>
          <a:bodyPr wrap="square" lIns="0" tIns="0" rIns="0" bIns="0" rtlCol="0" anchor="ctr"/>
          <a:lstStyle/>
          <a:p>
            <a:pPr indent="0" marL="0">
              <a:lnSpc>
                <a:spcPct val="120000"/>
              </a:lnSpc>
              <a:buNone/>
            </a:pPr>
            <a:r>
              <a:rPr lang="en-US" sz="1150" dirty="0">
                <a:solidFill>
                  <a:srgbClr val="1B2A32"/>
                </a:solidFill>
                <a:latin typeface="Calibri" pitchFamily="34" charset="0"/>
                <a:ea typeface="Calibri" pitchFamily="34" charset="-122"/>
                <a:cs typeface="Calibri" pitchFamily="34" charset="-120"/>
              </a:rPr>
              <a:t>Hanya berisi kode R murni beserta komentar. Cocok untuk mengembangkan dan menguji coba analisis.</a:t>
            </a:r>
            <a:endParaRPr lang="en-US" sz="1150" dirty="0"/>
          </a:p>
        </p:txBody>
      </p:sp>
      <p:sp>
        <p:nvSpPr>
          <p:cNvPr id="8" name="Shape 6"/>
          <p:cNvSpPr/>
          <p:nvPr/>
        </p:nvSpPr>
        <p:spPr>
          <a:xfrm>
            <a:off x="6309360" y="1691640"/>
            <a:ext cx="5303520" cy="1554480"/>
          </a:xfrm>
          <a:prstGeom prst="roundRect">
            <a:avLst>
              <a:gd name="adj" fmla="val 4706"/>
            </a:avLst>
          </a:prstGeom>
          <a:solidFill>
            <a:srgbClr val="0B3C5D"/>
          </a:solidFill>
          <a:ln/>
        </p:spPr>
      </p:sp>
      <p:sp>
        <p:nvSpPr>
          <p:cNvPr id="9" name="Text 7"/>
          <p:cNvSpPr txBox="1"/>
          <p:nvPr/>
        </p:nvSpPr>
        <p:spPr>
          <a:xfrm>
            <a:off x="6537960" y="1874520"/>
            <a:ext cx="4846320" cy="365760"/>
          </a:xfrm>
          <a:prstGeom prst="rect">
            <a:avLst/>
          </a:prstGeom>
          <a:noFill/>
          <a:ln/>
        </p:spPr>
        <p:txBody>
          <a:bodyPr wrap="square" lIns="0" tIns="0" rIns="0" bIns="0" rtlCol="0" anchor="ctr"/>
          <a:lstStyle/>
          <a:p>
            <a:pPr indent="0" marL="0">
              <a:buNone/>
            </a:pPr>
            <a:r>
              <a:rPr lang="en-US" sz="1500" b="1" dirty="0">
                <a:solidFill>
                  <a:srgbClr val="F4A261"/>
                </a:solidFill>
                <a:latin typeface="Courier New" pitchFamily="34" charset="0"/>
                <a:ea typeface="Courier New" pitchFamily="34" charset="-122"/>
                <a:cs typeface="Courier New" pitchFamily="34" charset="-120"/>
              </a:rPr>
              <a:t>.Rmd  —  R Markdown</a:t>
            </a:r>
            <a:endParaRPr lang="en-US" sz="1500" dirty="0"/>
          </a:p>
        </p:txBody>
      </p:sp>
      <p:sp>
        <p:nvSpPr>
          <p:cNvPr id="10" name="Text 8"/>
          <p:cNvSpPr txBox="1"/>
          <p:nvPr/>
        </p:nvSpPr>
        <p:spPr>
          <a:xfrm>
            <a:off x="6537960" y="2286000"/>
            <a:ext cx="4846320" cy="868680"/>
          </a:xfrm>
          <a:prstGeom prst="rect">
            <a:avLst/>
          </a:prstGeom>
          <a:noFill/>
          <a:ln/>
        </p:spPr>
        <p:txBody>
          <a:bodyPr wrap="square" lIns="0" tIns="0" rIns="0" bIns="0" rtlCol="0" anchor="ctr"/>
          <a:lstStyle/>
          <a:p>
            <a:pPr indent="0" marL="0">
              <a:lnSpc>
                <a:spcPct val="120000"/>
              </a:lnSpc>
              <a:buNone/>
            </a:pPr>
            <a:r>
              <a:rPr lang="en-US" sz="1150" dirty="0">
                <a:solidFill>
                  <a:srgbClr val="E4EEF5"/>
                </a:solidFill>
                <a:latin typeface="Calibri" pitchFamily="34" charset="0"/>
                <a:ea typeface="Calibri" pitchFamily="34" charset="-122"/>
                <a:cs typeface="Calibri" pitchFamily="34" charset="-120"/>
              </a:rPr>
              <a:t>Menggabungkan narasi Markdown dengan chunk kode R yang dapat dieksekusi — hasil (tabel, grafik) tampil bersebelahan dengan pembahasan.</a:t>
            </a:r>
            <a:endParaRPr lang="en-US" sz="1150" dirty="0"/>
          </a:p>
        </p:txBody>
      </p:sp>
      <p:sp>
        <p:nvSpPr>
          <p:cNvPr id="11" name="Shape 9"/>
          <p:cNvSpPr/>
          <p:nvPr/>
        </p:nvSpPr>
        <p:spPr>
          <a:xfrm>
            <a:off x="548640" y="3429000"/>
            <a:ext cx="11064240" cy="2423160"/>
          </a:xfrm>
          <a:prstGeom prst="roundRect">
            <a:avLst>
              <a:gd name="adj" fmla="val 3019"/>
            </a:avLst>
          </a:prstGeom>
          <a:solidFill>
            <a:srgbClr val="16232B"/>
          </a:solidFill>
          <a:ln w="12700">
            <a:solidFill>
              <a:srgbClr val="0A1116"/>
            </a:solidFill>
            <a:prstDash val="solid"/>
          </a:ln>
          <a:effectLst>
            <a:outerShdw sx="100000" sy="100000" kx="0" ky="0" algn="bl" rotWithShape="0" blurRad="76200" dist="25400" dir="5400000">
              <a:srgbClr val="000000">
                <a:alpha val="25000"/>
              </a:srgbClr>
            </a:outerShdw>
          </a:effectLst>
        </p:spPr>
      </p:sp>
      <p:sp>
        <p:nvSpPr>
          <p:cNvPr id="12" name="Shape 10"/>
          <p:cNvSpPr/>
          <p:nvPr/>
        </p:nvSpPr>
        <p:spPr>
          <a:xfrm>
            <a:off x="713232" y="3557016"/>
            <a:ext cx="109728" cy="109728"/>
          </a:xfrm>
          <a:prstGeom prst="ellipse">
            <a:avLst/>
          </a:prstGeom>
          <a:solidFill>
            <a:srgbClr val="E06C75"/>
          </a:solidFill>
          <a:ln/>
        </p:spPr>
      </p:sp>
      <p:sp>
        <p:nvSpPr>
          <p:cNvPr id="13" name="Shape 11"/>
          <p:cNvSpPr/>
          <p:nvPr/>
        </p:nvSpPr>
        <p:spPr>
          <a:xfrm>
            <a:off x="914400" y="3557016"/>
            <a:ext cx="109728" cy="109728"/>
          </a:xfrm>
          <a:prstGeom prst="ellipse">
            <a:avLst/>
          </a:prstGeom>
          <a:solidFill>
            <a:srgbClr val="E5C07B"/>
          </a:solidFill>
          <a:ln/>
        </p:spPr>
      </p:sp>
      <p:sp>
        <p:nvSpPr>
          <p:cNvPr id="14" name="Shape 12"/>
          <p:cNvSpPr/>
          <p:nvPr/>
        </p:nvSpPr>
        <p:spPr>
          <a:xfrm>
            <a:off x="1115568" y="3557016"/>
            <a:ext cx="109728" cy="109728"/>
          </a:xfrm>
          <a:prstGeom prst="ellipse">
            <a:avLst/>
          </a:prstGeom>
          <a:solidFill>
            <a:srgbClr val="98C379"/>
          </a:solidFill>
          <a:ln/>
        </p:spPr>
      </p:sp>
      <p:sp>
        <p:nvSpPr>
          <p:cNvPr id="15" name="Text 13"/>
          <p:cNvSpPr txBox="1"/>
          <p:nvPr/>
        </p:nvSpPr>
        <p:spPr>
          <a:xfrm>
            <a:off x="1371600" y="3502152"/>
            <a:ext cx="10058400" cy="219456"/>
          </a:xfrm>
          <a:prstGeom prst="rect">
            <a:avLst/>
          </a:prstGeom>
          <a:noFill/>
          <a:ln/>
        </p:spPr>
        <p:txBody>
          <a:bodyPr wrap="square" lIns="0" tIns="0" rIns="0" bIns="0" rtlCol="0" anchor="ctr"/>
          <a:lstStyle/>
          <a:p>
            <a:pPr indent="0" marL="0">
              <a:buNone/>
            </a:pPr>
            <a:r>
              <a:rPr lang="en-US" sz="1000" dirty="0">
                <a:solidFill>
                  <a:srgbClr val="8B9AA3"/>
                </a:solidFill>
                <a:latin typeface="Courier New" pitchFamily="34" charset="0"/>
                <a:ea typeface="Courier New" pitchFamily="34" charset="-122"/>
                <a:cs typeface="Courier New" pitchFamily="34" charset="-120"/>
              </a:rPr>
              <a:t>laporan_bab1.Rmd</a:t>
            </a:r>
            <a:endParaRPr lang="en-US" sz="1000" dirty="0"/>
          </a:p>
        </p:txBody>
      </p:sp>
      <p:sp>
        <p:nvSpPr>
          <p:cNvPr id="16" name="Text 14"/>
          <p:cNvSpPr txBox="1"/>
          <p:nvPr/>
        </p:nvSpPr>
        <p:spPr>
          <a:xfrm>
            <a:off x="804672" y="3794760"/>
            <a:ext cx="10552176" cy="1920240"/>
          </a:xfrm>
          <a:prstGeom prst="rect">
            <a:avLst/>
          </a:prstGeom>
          <a:noFill/>
          <a:ln/>
        </p:spPr>
        <p:txBody>
          <a:bodyPr wrap="square" lIns="0" tIns="0" rIns="0" bIns="0" rtlCol="0" anchor="t"/>
          <a:lstStyle/>
          <a:p>
            <a:pPr indent="0" marL="0">
              <a:lnSpc>
                <a:spcPct val="118000"/>
              </a:lnSpc>
              <a:buNone/>
            </a:pPr>
            <a:r>
              <a:rPr lang="en-US" sz="1050" dirty="0">
                <a:solidFill>
                  <a:srgbClr val="8FD694"/>
                </a:solidFill>
                <a:latin typeface="Courier New" pitchFamily="34" charset="0"/>
                <a:ea typeface="Courier New" pitchFamily="34" charset="-122"/>
                <a:cs typeface="Courier New" pitchFamily="34" charset="-120"/>
              </a:rPr>
              <a:t>---</a:t>
            </a:r>
            <a:endParaRPr lang="en-US" sz="1050" dirty="0"/>
          </a:p>
          <a:p>
            <a:pPr indent="0" marL="0">
              <a:lnSpc>
                <a:spcPct val="118000"/>
              </a:lnSpc>
              <a:buNone/>
            </a:pPr>
            <a:r>
              <a:rPr lang="en-US" sz="1050" dirty="0">
                <a:solidFill>
                  <a:srgbClr val="8FD694"/>
                </a:solidFill>
                <a:latin typeface="Courier New" pitchFamily="34" charset="0"/>
                <a:ea typeface="Courier New" pitchFamily="34" charset="-122"/>
                <a:cs typeface="Courier New" pitchFamily="34" charset="-120"/>
              </a:rPr>
              <a:t>title: "Laporan Eksplorasi Data Server"   # (1) YAML header: metadata</a:t>
            </a:r>
            <a:endParaRPr lang="en-US" sz="1050" dirty="0"/>
          </a:p>
          <a:p>
            <a:pPr indent="0" marL="0">
              <a:lnSpc>
                <a:spcPct val="118000"/>
              </a:lnSpc>
              <a:buNone/>
            </a:pPr>
            <a:r>
              <a:rPr lang="en-US" sz="1050" dirty="0">
                <a:solidFill>
                  <a:srgbClr val="8FD694"/>
                </a:solidFill>
                <a:latin typeface="Courier New" pitchFamily="34" charset="0"/>
                <a:ea typeface="Courier New" pitchFamily="34" charset="-122"/>
                <a:cs typeface="Courier New" pitchFamily="34" charset="-120"/>
              </a:rPr>
              <a:t>output: html_document</a:t>
            </a:r>
            <a:endParaRPr lang="en-US" sz="1050" dirty="0"/>
          </a:p>
          <a:p>
            <a:pPr indent="0" marL="0">
              <a:lnSpc>
                <a:spcPct val="118000"/>
              </a:lnSpc>
              <a:buNone/>
            </a:pPr>
            <a:r>
              <a:rPr lang="en-US" sz="1050" dirty="0">
                <a:solidFill>
                  <a:srgbClr val="8FD694"/>
                </a:solidFill>
                <a:latin typeface="Courier New" pitchFamily="34" charset="0"/>
                <a:ea typeface="Courier New" pitchFamily="34" charset="-122"/>
                <a:cs typeface="Courier New" pitchFamily="34" charset="-120"/>
              </a:rPr>
              <a:t>---</a:t>
            </a:r>
            <a:endParaRPr lang="en-US" sz="1050" dirty="0"/>
          </a:p>
          <a:p>
            <a:pPr indent="0" marL="0">
              <a:lnSpc>
                <a:spcPct val="118000"/>
              </a:lnSpc>
              <a:buNone/>
            </a:pPr>
            <a:r>
              <a:rPr lang="en-US" sz="1050" dirty="0">
                <a:solidFill>
                  <a:srgbClr val="6B8A94"/>
                </a:solidFill>
                <a:latin typeface="Courier New" pitchFamily="34" charset="0"/>
                <a:ea typeface="Courier New" pitchFamily="34" charset="-122"/>
                <a:cs typeface="Courier New" pitchFamily="34" charset="-120"/>
              </a:rPr>
              <a:t># Pendahuluan                              # (2) narasi Markdown</a:t>
            </a:r>
            <a:endParaRPr lang="en-US" sz="1050" dirty="0"/>
          </a:p>
          <a:p>
            <a:pPr indent="0" marL="0">
              <a:lnSpc>
                <a:spcPct val="118000"/>
              </a:lnSpc>
              <a:buNone/>
            </a:pPr>
            <a:r>
              <a:rPr lang="en-US" sz="1050" dirty="0">
                <a:solidFill>
                  <a:srgbClr val="8FD694"/>
                </a:solidFill>
                <a:latin typeface="Courier New" pitchFamily="34" charset="0"/>
                <a:ea typeface="Courier New" pitchFamily="34" charset="-122"/>
                <a:cs typeface="Courier New" pitchFamily="34" charset="-120"/>
              </a:rPr>
              <a:t>Laporan ini merangkum kondisi awal tiga server produksi.</a:t>
            </a:r>
            <a:endParaRPr lang="en-US" sz="1050" dirty="0"/>
          </a:p>
          <a:p>
            <a:pPr indent="0" marL="0">
              <a:lnSpc>
                <a:spcPct val="118000"/>
              </a:lnSpc>
              <a:buNone/>
            </a:pPr>
            <a:r>
              <a:rPr lang="en-US" sz="1050" dirty="0">
                <a:solidFill>
                  <a:srgbClr val="8FD694"/>
                </a:solidFill>
                <a:latin typeface="Courier New" pitchFamily="34" charset="0"/>
                <a:ea typeface="Courier New" pitchFamily="34" charset="-122"/>
                <a:cs typeface="Courier New" pitchFamily="34" charset="-120"/>
              </a:rPr>
              <a:t>```{r}</a:t>
            </a:r>
            <a:endParaRPr lang="en-US" sz="1050" dirty="0"/>
          </a:p>
          <a:p>
            <a:pPr indent="0" marL="0">
              <a:lnSpc>
                <a:spcPct val="118000"/>
              </a:lnSpc>
              <a:buNone/>
            </a:pPr>
            <a:r>
              <a:rPr lang="en-US" sz="1050" dirty="0">
                <a:solidFill>
                  <a:srgbClr val="8FD694"/>
                </a:solidFill>
                <a:latin typeface="Courier New" pitchFamily="34" charset="0"/>
                <a:ea typeface="Courier New" pitchFamily="34" charset="-122"/>
                <a:cs typeface="Courier New" pitchFamily="34" charset="-120"/>
              </a:rPr>
              <a:t>df_server &lt;- read.csv("server_logs.csv")   # (3) chunk kode R</a:t>
            </a:r>
            <a:endParaRPr lang="en-US" sz="1050" dirty="0"/>
          </a:p>
          <a:p>
            <a:pPr indent="0" marL="0">
              <a:lnSpc>
                <a:spcPct val="118000"/>
              </a:lnSpc>
              <a:buNone/>
            </a:pPr>
            <a:r>
              <a:rPr lang="en-US" sz="1050" dirty="0">
                <a:solidFill>
                  <a:srgbClr val="8FD694"/>
                </a:solidFill>
                <a:latin typeface="Courier New" pitchFamily="34" charset="0"/>
                <a:ea typeface="Courier New" pitchFamily="34" charset="-122"/>
                <a:cs typeface="Courier New" pitchFamily="34" charset="-120"/>
              </a:rPr>
              <a:t>summary(df_server$rata_respons)</a:t>
            </a:r>
            <a:endParaRPr lang="en-US" sz="1050" dirty="0"/>
          </a:p>
          <a:p>
            <a:pPr indent="0" marL="0">
              <a:lnSpc>
                <a:spcPct val="118000"/>
              </a:lnSpc>
              <a:buNone/>
            </a:pPr>
            <a:r>
              <a:rPr lang="en-US" sz="1050" dirty="0">
                <a:solidFill>
                  <a:srgbClr val="8FD694"/>
                </a:solidFill>
                <a:latin typeface="Courier New" pitchFamily="34" charset="0"/>
                <a:ea typeface="Courier New" pitchFamily="34" charset="-122"/>
                <a:cs typeface="Courier New" pitchFamily="34" charset="-120"/>
              </a:rPr>
              <a:t>```</a:t>
            </a:r>
            <a:endParaRPr lang="en-US" sz="1050" dirty="0"/>
          </a:p>
        </p:txBody>
      </p:sp>
      <p:sp>
        <p:nvSpPr>
          <p:cNvPr id="17" name="Text 15"/>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5C6E76"/>
                </a:solidFill>
                <a:latin typeface="Calibri" pitchFamily="34" charset="0"/>
                <a:ea typeface="Calibri" pitchFamily="34" charset="-122"/>
                <a:cs typeface="Calibri" pitchFamily="34" charset="-120"/>
              </a:rPr>
              <a:t>BAB 1 · PENGANTAR STATISTIK TEKNIK DAN LINGKUNGAN R</a:t>
            </a:r>
            <a:endParaRPr lang="en-US" sz="900" dirty="0"/>
          </a:p>
        </p:txBody>
      </p:sp>
      <p:sp>
        <p:nvSpPr>
          <p:cNvPr id="18" name="Text 16"/>
          <p:cNvSpPr txBox="1"/>
          <p:nvPr/>
        </p:nvSpPr>
        <p:spPr>
          <a:xfrm>
            <a:off x="10241280" y="6510528"/>
            <a:ext cx="1371600" cy="274320"/>
          </a:xfrm>
          <a:prstGeom prst="rect">
            <a:avLst/>
          </a:prstGeom>
          <a:noFill/>
          <a:ln/>
        </p:spPr>
        <p:txBody>
          <a:bodyPr wrap="square" lIns="0" tIns="0" rIns="0" bIns="0" rtlCol="0" anchor="ctr"/>
          <a:lstStyle/>
          <a:p>
            <a:pPr algn="r" indent="0" marL="0">
              <a:buNone/>
            </a:pPr>
            <a:r>
              <a:rPr lang="en-US" sz="900" dirty="0">
                <a:solidFill>
                  <a:srgbClr val="5C6E76"/>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300" b="1" spc="100" kern="0" dirty="0">
                <a:solidFill>
                  <a:srgbClr val="1C7293"/>
                </a:solidFill>
                <a:latin typeface="Calibri" pitchFamily="34" charset="0"/>
                <a:ea typeface="Calibri" pitchFamily="34" charset="-122"/>
                <a:cs typeface="Calibri" pitchFamily="34" charset="-120"/>
              </a:rPr>
              <a:t>PRAKTIKUM</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0B3C5D"/>
                </a:solidFill>
                <a:latin typeface="Cambria" pitchFamily="34" charset="0"/>
                <a:ea typeface="Cambria" pitchFamily="34" charset="-122"/>
                <a:cs typeface="Cambria" pitchFamily="34" charset="-120"/>
              </a:rPr>
              <a:t>Kegiatan Praktikum R — Bab 1</a:t>
            </a:r>
            <a:endParaRPr lang="en-US" sz="3000" dirty="0"/>
          </a:p>
        </p:txBody>
      </p:sp>
      <p:sp>
        <p:nvSpPr>
          <p:cNvPr id="4" name="Shape 2"/>
          <p:cNvSpPr/>
          <p:nvPr/>
        </p:nvSpPr>
        <p:spPr>
          <a:xfrm>
            <a:off x="548640" y="1389888"/>
            <a:ext cx="822960" cy="41148"/>
          </a:xfrm>
          <a:prstGeom prst="rect">
            <a:avLst/>
          </a:prstGeom>
          <a:solidFill>
            <a:srgbClr val="F4A261"/>
          </a:solidFill>
          <a:ln/>
        </p:spPr>
      </p:sp>
      <p:sp>
        <p:nvSpPr>
          <p:cNvPr id="5" name="Text 3"/>
          <p:cNvSpPr txBox="1"/>
          <p:nvPr/>
        </p:nvSpPr>
        <p:spPr>
          <a:xfrm>
            <a:off x="548640" y="1600200"/>
            <a:ext cx="11064240" cy="365760"/>
          </a:xfrm>
          <a:prstGeom prst="rect">
            <a:avLst/>
          </a:prstGeom>
          <a:noFill/>
          <a:ln/>
        </p:spPr>
        <p:txBody>
          <a:bodyPr wrap="square" lIns="0" tIns="0" rIns="0" bIns="0" rtlCol="0" anchor="ctr"/>
          <a:lstStyle/>
          <a:p>
            <a:pPr indent="0" marL="0">
              <a:buNone/>
            </a:pPr>
            <a:r>
              <a:rPr lang="en-US" sz="1250" i="1" dirty="0">
                <a:solidFill>
                  <a:srgbClr val="1C7293"/>
                </a:solidFill>
                <a:latin typeface="Calibri" pitchFamily="34" charset="0"/>
                <a:ea typeface="Calibri" pitchFamily="34" charset="-122"/>
                <a:cs typeface="Calibri" pitchFamily="34" charset="-120"/>
              </a:rPr>
              <a:t>Kerjakan langkah berikut secara berurutan pada satu berkas skrip: praktikum_bab1.R</a:t>
            </a:r>
            <a:endParaRPr lang="en-US" sz="1250" dirty="0"/>
          </a:p>
        </p:txBody>
      </p:sp>
      <p:sp>
        <p:nvSpPr>
          <p:cNvPr id="6" name="Shape 4"/>
          <p:cNvSpPr/>
          <p:nvPr/>
        </p:nvSpPr>
        <p:spPr>
          <a:xfrm>
            <a:off x="548640" y="2103120"/>
            <a:ext cx="420624" cy="420624"/>
          </a:xfrm>
          <a:prstGeom prst="ellipse">
            <a:avLst/>
          </a:prstGeom>
          <a:solidFill>
            <a:srgbClr val="1C7293"/>
          </a:solidFill>
          <a:ln/>
        </p:spPr>
      </p:sp>
      <p:sp>
        <p:nvSpPr>
          <p:cNvPr id="7" name="Text 5"/>
          <p:cNvSpPr txBox="1"/>
          <p:nvPr/>
        </p:nvSpPr>
        <p:spPr>
          <a:xfrm>
            <a:off x="548640" y="210312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143000" y="2057400"/>
            <a:ext cx="4754880" cy="365760"/>
          </a:xfrm>
          <a:prstGeom prst="rect">
            <a:avLst/>
          </a:prstGeom>
          <a:noFill/>
          <a:ln/>
        </p:spPr>
        <p:txBody>
          <a:bodyPr wrap="square" lIns="0" tIns="0" rIns="0" bIns="0" rtlCol="0" anchor="ctr"/>
          <a:lstStyle/>
          <a:p>
            <a:pPr indent="0" marL="0">
              <a:buNone/>
            </a:pPr>
            <a:r>
              <a:rPr lang="en-US" sz="1350" b="1" dirty="0">
                <a:solidFill>
                  <a:srgbClr val="0B3C5D"/>
                </a:solidFill>
                <a:latin typeface="Cambria" pitchFamily="34" charset="0"/>
                <a:ea typeface="Cambria" pitchFamily="34" charset="-122"/>
                <a:cs typeface="Cambria" pitchFamily="34" charset="-120"/>
              </a:rPr>
              <a:t>Persiapan Lingkungan</a:t>
            </a:r>
            <a:endParaRPr lang="en-US" sz="1350" dirty="0"/>
          </a:p>
        </p:txBody>
      </p:sp>
      <p:sp>
        <p:nvSpPr>
          <p:cNvPr id="9" name="Text 7"/>
          <p:cNvSpPr txBox="1"/>
          <p:nvPr/>
        </p:nvSpPr>
        <p:spPr>
          <a:xfrm>
            <a:off x="1143000" y="2450592"/>
            <a:ext cx="4754880" cy="777240"/>
          </a:xfrm>
          <a:prstGeom prst="rect">
            <a:avLst/>
          </a:prstGeom>
          <a:noFill/>
          <a:ln/>
        </p:spPr>
        <p:txBody>
          <a:bodyPr wrap="square" lIns="0" tIns="0" rIns="0" bIns="0" rtlCol="0" anchor="ctr"/>
          <a:lstStyle/>
          <a:p>
            <a:pPr indent="0" marL="0">
              <a:lnSpc>
                <a:spcPct val="115000"/>
              </a:lnSpc>
              <a:buNone/>
            </a:pPr>
            <a:r>
              <a:rPr lang="en-US" sz="1050" dirty="0">
                <a:solidFill>
                  <a:srgbClr val="1B2A32"/>
                </a:solidFill>
                <a:latin typeface="Calibri" pitchFamily="34" charset="0"/>
                <a:ea typeface="Calibri" pitchFamily="34" charset="-122"/>
                <a:cs typeface="Calibri" pitchFamily="34" charset="-120"/>
              </a:rPr>
              <a:t>Buat proyek baru di RStudio, pastikan tidyverse dan readxl telah dimuat.</a:t>
            </a:r>
            <a:endParaRPr lang="en-US" sz="1050" dirty="0"/>
          </a:p>
        </p:txBody>
      </p:sp>
      <p:sp>
        <p:nvSpPr>
          <p:cNvPr id="10" name="Shape 8"/>
          <p:cNvSpPr/>
          <p:nvPr/>
        </p:nvSpPr>
        <p:spPr>
          <a:xfrm>
            <a:off x="6263640" y="2103120"/>
            <a:ext cx="420624" cy="420624"/>
          </a:xfrm>
          <a:prstGeom prst="ellipse">
            <a:avLst/>
          </a:prstGeom>
          <a:solidFill>
            <a:srgbClr val="0B3C5D"/>
          </a:solidFill>
          <a:ln/>
        </p:spPr>
      </p:sp>
      <p:sp>
        <p:nvSpPr>
          <p:cNvPr id="11" name="Text 9"/>
          <p:cNvSpPr txBox="1"/>
          <p:nvPr/>
        </p:nvSpPr>
        <p:spPr>
          <a:xfrm>
            <a:off x="6263640" y="210312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6858000" y="2057400"/>
            <a:ext cx="4754880" cy="365760"/>
          </a:xfrm>
          <a:prstGeom prst="rect">
            <a:avLst/>
          </a:prstGeom>
          <a:noFill/>
          <a:ln/>
        </p:spPr>
        <p:txBody>
          <a:bodyPr wrap="square" lIns="0" tIns="0" rIns="0" bIns="0" rtlCol="0" anchor="ctr"/>
          <a:lstStyle/>
          <a:p>
            <a:pPr indent="0" marL="0">
              <a:buNone/>
            </a:pPr>
            <a:r>
              <a:rPr lang="en-US" sz="1350" b="1" dirty="0">
                <a:solidFill>
                  <a:srgbClr val="0B3C5D"/>
                </a:solidFill>
                <a:latin typeface="Cambria" pitchFamily="34" charset="0"/>
                <a:ea typeface="Cambria" pitchFamily="34" charset="-122"/>
                <a:cs typeface="Cambria" pitchFamily="34" charset="-120"/>
              </a:rPr>
              <a:t>Bangkitkan Data Simulasi</a:t>
            </a:r>
            <a:endParaRPr lang="en-US" sz="1350" dirty="0"/>
          </a:p>
        </p:txBody>
      </p:sp>
      <p:sp>
        <p:nvSpPr>
          <p:cNvPr id="13" name="Text 11"/>
          <p:cNvSpPr txBox="1"/>
          <p:nvPr/>
        </p:nvSpPr>
        <p:spPr>
          <a:xfrm>
            <a:off x="6858000" y="2450592"/>
            <a:ext cx="4754880" cy="777240"/>
          </a:xfrm>
          <a:prstGeom prst="rect">
            <a:avLst/>
          </a:prstGeom>
          <a:noFill/>
          <a:ln/>
        </p:spPr>
        <p:txBody>
          <a:bodyPr wrap="square" lIns="0" tIns="0" rIns="0" bIns="0" rtlCol="0" anchor="ctr"/>
          <a:lstStyle/>
          <a:p>
            <a:pPr indent="0" marL="0">
              <a:lnSpc>
                <a:spcPct val="115000"/>
              </a:lnSpc>
              <a:buNone/>
            </a:pPr>
            <a:r>
              <a:rPr lang="en-US" sz="1050" dirty="0">
                <a:solidFill>
                  <a:srgbClr val="1B2A32"/>
                </a:solidFill>
                <a:latin typeface="Calibri" pitchFamily="34" charset="0"/>
                <a:ea typeface="Calibri" pitchFamily="34" charset="-122"/>
                <a:cs typeface="Calibri" pitchFamily="34" charset="-120"/>
              </a:rPr>
              <a:t>Buat data frame log_server (10 observasi): server_id, cpu_percent, response_ms, status.</a:t>
            </a:r>
            <a:endParaRPr lang="en-US" sz="1050" dirty="0"/>
          </a:p>
        </p:txBody>
      </p:sp>
      <p:sp>
        <p:nvSpPr>
          <p:cNvPr id="14" name="Shape 12"/>
          <p:cNvSpPr/>
          <p:nvPr/>
        </p:nvSpPr>
        <p:spPr>
          <a:xfrm>
            <a:off x="548640" y="3401568"/>
            <a:ext cx="420624" cy="420624"/>
          </a:xfrm>
          <a:prstGeom prst="ellipse">
            <a:avLst/>
          </a:prstGeom>
          <a:solidFill>
            <a:srgbClr val="1C7293"/>
          </a:solidFill>
          <a:ln/>
        </p:spPr>
      </p:sp>
      <p:sp>
        <p:nvSpPr>
          <p:cNvPr id="15" name="Text 13"/>
          <p:cNvSpPr txBox="1"/>
          <p:nvPr/>
        </p:nvSpPr>
        <p:spPr>
          <a:xfrm>
            <a:off x="548640" y="34015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6" name="Text 14"/>
          <p:cNvSpPr txBox="1"/>
          <p:nvPr/>
        </p:nvSpPr>
        <p:spPr>
          <a:xfrm>
            <a:off x="1143000" y="3355848"/>
            <a:ext cx="4754880" cy="365760"/>
          </a:xfrm>
          <a:prstGeom prst="rect">
            <a:avLst/>
          </a:prstGeom>
          <a:noFill/>
          <a:ln/>
        </p:spPr>
        <p:txBody>
          <a:bodyPr wrap="square" lIns="0" tIns="0" rIns="0" bIns="0" rtlCol="0" anchor="ctr"/>
          <a:lstStyle/>
          <a:p>
            <a:pPr indent="0" marL="0">
              <a:buNone/>
            </a:pPr>
            <a:r>
              <a:rPr lang="en-US" sz="1350" b="1" dirty="0">
                <a:solidFill>
                  <a:srgbClr val="0B3C5D"/>
                </a:solidFill>
                <a:latin typeface="Cambria" pitchFamily="34" charset="0"/>
                <a:ea typeface="Cambria" pitchFamily="34" charset="-122"/>
                <a:cs typeface="Cambria" pitchFamily="34" charset="-120"/>
              </a:rPr>
              <a:t>Periksa Struktur Data</a:t>
            </a:r>
            <a:endParaRPr lang="en-US" sz="1350" dirty="0"/>
          </a:p>
        </p:txBody>
      </p:sp>
      <p:sp>
        <p:nvSpPr>
          <p:cNvPr id="17" name="Text 15"/>
          <p:cNvSpPr txBox="1"/>
          <p:nvPr/>
        </p:nvSpPr>
        <p:spPr>
          <a:xfrm>
            <a:off x="1143000" y="3749040"/>
            <a:ext cx="4754880" cy="777240"/>
          </a:xfrm>
          <a:prstGeom prst="rect">
            <a:avLst/>
          </a:prstGeom>
          <a:noFill/>
          <a:ln/>
        </p:spPr>
        <p:txBody>
          <a:bodyPr wrap="square" lIns="0" tIns="0" rIns="0" bIns="0" rtlCol="0" anchor="ctr"/>
          <a:lstStyle/>
          <a:p>
            <a:pPr indent="0" marL="0">
              <a:lnSpc>
                <a:spcPct val="115000"/>
              </a:lnSpc>
              <a:buNone/>
            </a:pPr>
            <a:r>
              <a:rPr lang="en-US" sz="1050" dirty="0">
                <a:solidFill>
                  <a:srgbClr val="1B2A32"/>
                </a:solidFill>
                <a:latin typeface="Calibri" pitchFamily="34" charset="0"/>
                <a:ea typeface="Calibri" pitchFamily="34" charset="-122"/>
                <a:cs typeface="Calibri" pitchFamily="34" charset="-120"/>
              </a:rPr>
              <a:t>Jalankan str() dan summary(), catat tipe data setiap kolom.</a:t>
            </a:r>
            <a:endParaRPr lang="en-US" sz="1050" dirty="0"/>
          </a:p>
        </p:txBody>
      </p:sp>
      <p:sp>
        <p:nvSpPr>
          <p:cNvPr id="18" name="Shape 16"/>
          <p:cNvSpPr/>
          <p:nvPr/>
        </p:nvSpPr>
        <p:spPr>
          <a:xfrm>
            <a:off x="6263640" y="3401568"/>
            <a:ext cx="420624" cy="420624"/>
          </a:xfrm>
          <a:prstGeom prst="ellipse">
            <a:avLst/>
          </a:prstGeom>
          <a:solidFill>
            <a:srgbClr val="0B3C5D"/>
          </a:solidFill>
          <a:ln/>
        </p:spPr>
      </p:sp>
      <p:sp>
        <p:nvSpPr>
          <p:cNvPr id="19" name="Text 17"/>
          <p:cNvSpPr txBox="1"/>
          <p:nvPr/>
        </p:nvSpPr>
        <p:spPr>
          <a:xfrm>
            <a:off x="6263640" y="34015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0" name="Text 18"/>
          <p:cNvSpPr txBox="1"/>
          <p:nvPr/>
        </p:nvSpPr>
        <p:spPr>
          <a:xfrm>
            <a:off x="6858000" y="3355848"/>
            <a:ext cx="4754880" cy="365760"/>
          </a:xfrm>
          <a:prstGeom prst="rect">
            <a:avLst/>
          </a:prstGeom>
          <a:noFill/>
          <a:ln/>
        </p:spPr>
        <p:txBody>
          <a:bodyPr wrap="square" lIns="0" tIns="0" rIns="0" bIns="0" rtlCol="0" anchor="ctr"/>
          <a:lstStyle/>
          <a:p>
            <a:pPr indent="0" marL="0">
              <a:buNone/>
            </a:pPr>
            <a:r>
              <a:rPr lang="en-US" sz="1350" b="1" dirty="0">
                <a:solidFill>
                  <a:srgbClr val="0B3C5D"/>
                </a:solidFill>
                <a:latin typeface="Cambria" pitchFamily="34" charset="0"/>
                <a:ea typeface="Cambria" pitchFamily="34" charset="-122"/>
                <a:cs typeface="Cambria" pitchFamily="34" charset="-120"/>
              </a:rPr>
              <a:t>Ekspor &amp; Impor Data</a:t>
            </a:r>
            <a:endParaRPr lang="en-US" sz="1350" dirty="0"/>
          </a:p>
        </p:txBody>
      </p:sp>
      <p:sp>
        <p:nvSpPr>
          <p:cNvPr id="21" name="Text 19"/>
          <p:cNvSpPr txBox="1"/>
          <p:nvPr/>
        </p:nvSpPr>
        <p:spPr>
          <a:xfrm>
            <a:off x="6858000" y="3749040"/>
            <a:ext cx="4754880" cy="777240"/>
          </a:xfrm>
          <a:prstGeom prst="rect">
            <a:avLst/>
          </a:prstGeom>
          <a:noFill/>
          <a:ln/>
        </p:spPr>
        <p:txBody>
          <a:bodyPr wrap="square" lIns="0" tIns="0" rIns="0" bIns="0" rtlCol="0" anchor="ctr"/>
          <a:lstStyle/>
          <a:p>
            <a:pPr indent="0" marL="0">
              <a:lnSpc>
                <a:spcPct val="115000"/>
              </a:lnSpc>
              <a:buNone/>
            </a:pPr>
            <a:r>
              <a:rPr lang="en-US" sz="1050" dirty="0">
                <a:solidFill>
                  <a:srgbClr val="1B2A32"/>
                </a:solidFill>
                <a:latin typeface="Calibri" pitchFamily="34" charset="0"/>
                <a:ea typeface="Calibri" pitchFamily="34" charset="-122"/>
                <a:cs typeface="Calibri" pitchFamily="34" charset="-120"/>
              </a:rPr>
              <a:t>Simpan ke server_logs.csv, baca kembali sebagai log_server_impor.</a:t>
            </a:r>
            <a:endParaRPr lang="en-US" sz="1050" dirty="0"/>
          </a:p>
        </p:txBody>
      </p:sp>
      <p:sp>
        <p:nvSpPr>
          <p:cNvPr id="22" name="Shape 20"/>
          <p:cNvSpPr/>
          <p:nvPr/>
        </p:nvSpPr>
        <p:spPr>
          <a:xfrm>
            <a:off x="548640" y="4700016"/>
            <a:ext cx="420624" cy="420624"/>
          </a:xfrm>
          <a:prstGeom prst="ellipse">
            <a:avLst/>
          </a:prstGeom>
          <a:solidFill>
            <a:srgbClr val="1C7293"/>
          </a:solidFill>
          <a:ln/>
        </p:spPr>
      </p:sp>
      <p:sp>
        <p:nvSpPr>
          <p:cNvPr id="23" name="Text 21"/>
          <p:cNvSpPr txBox="1"/>
          <p:nvPr/>
        </p:nvSpPr>
        <p:spPr>
          <a:xfrm>
            <a:off x="548640" y="470001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4" name="Text 22"/>
          <p:cNvSpPr txBox="1"/>
          <p:nvPr/>
        </p:nvSpPr>
        <p:spPr>
          <a:xfrm>
            <a:off x="1143000" y="4654296"/>
            <a:ext cx="4754880" cy="365760"/>
          </a:xfrm>
          <a:prstGeom prst="rect">
            <a:avLst/>
          </a:prstGeom>
          <a:noFill/>
          <a:ln/>
        </p:spPr>
        <p:txBody>
          <a:bodyPr wrap="square" lIns="0" tIns="0" rIns="0" bIns="0" rtlCol="0" anchor="ctr"/>
          <a:lstStyle/>
          <a:p>
            <a:pPr indent="0" marL="0">
              <a:buNone/>
            </a:pPr>
            <a:r>
              <a:rPr lang="en-US" sz="1350" b="1" dirty="0">
                <a:solidFill>
                  <a:srgbClr val="0B3C5D"/>
                </a:solidFill>
                <a:latin typeface="Cambria" pitchFamily="34" charset="0"/>
                <a:ea typeface="Cambria" pitchFamily="34" charset="-122"/>
                <a:cs typeface="Cambria" pitchFamily="34" charset="-120"/>
              </a:rPr>
              <a:t>Verifikasi Konsistensi</a:t>
            </a:r>
            <a:endParaRPr lang="en-US" sz="1350" dirty="0"/>
          </a:p>
        </p:txBody>
      </p:sp>
      <p:sp>
        <p:nvSpPr>
          <p:cNvPr id="25" name="Text 23"/>
          <p:cNvSpPr txBox="1"/>
          <p:nvPr/>
        </p:nvSpPr>
        <p:spPr>
          <a:xfrm>
            <a:off x="1143000" y="5047488"/>
            <a:ext cx="4754880" cy="777240"/>
          </a:xfrm>
          <a:prstGeom prst="rect">
            <a:avLst/>
          </a:prstGeom>
          <a:noFill/>
          <a:ln/>
        </p:spPr>
        <p:txBody>
          <a:bodyPr wrap="square" lIns="0" tIns="0" rIns="0" bIns="0" rtlCol="0" anchor="ctr"/>
          <a:lstStyle/>
          <a:p>
            <a:pPr indent="0" marL="0">
              <a:lnSpc>
                <a:spcPct val="115000"/>
              </a:lnSpc>
              <a:buNone/>
            </a:pPr>
            <a:r>
              <a:rPr lang="en-US" sz="1050" dirty="0">
                <a:solidFill>
                  <a:srgbClr val="1B2A32"/>
                </a:solidFill>
                <a:latin typeface="Calibri" pitchFamily="34" charset="0"/>
                <a:ea typeface="Calibri" pitchFamily="34" charset="-122"/>
                <a:cs typeface="Calibri" pitchFamily="34" charset="-120"/>
              </a:rPr>
              <a:t>Bandingkan class() setiap kolom sebelum dan sesudah ekspor-impor.</a:t>
            </a:r>
            <a:endParaRPr lang="en-US" sz="1050" dirty="0"/>
          </a:p>
        </p:txBody>
      </p:sp>
      <p:sp>
        <p:nvSpPr>
          <p:cNvPr id="26" name="Shape 24"/>
          <p:cNvSpPr/>
          <p:nvPr/>
        </p:nvSpPr>
        <p:spPr>
          <a:xfrm>
            <a:off x="6263640" y="4700016"/>
            <a:ext cx="420624" cy="420624"/>
          </a:xfrm>
          <a:prstGeom prst="ellipse">
            <a:avLst/>
          </a:prstGeom>
          <a:solidFill>
            <a:srgbClr val="0B3C5D"/>
          </a:solidFill>
          <a:ln/>
        </p:spPr>
      </p:sp>
      <p:sp>
        <p:nvSpPr>
          <p:cNvPr id="27" name="Text 25"/>
          <p:cNvSpPr txBox="1"/>
          <p:nvPr/>
        </p:nvSpPr>
        <p:spPr>
          <a:xfrm>
            <a:off x="6263640" y="470001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8" name="Text 26"/>
          <p:cNvSpPr txBox="1"/>
          <p:nvPr/>
        </p:nvSpPr>
        <p:spPr>
          <a:xfrm>
            <a:off x="6858000" y="4654296"/>
            <a:ext cx="4754880" cy="365760"/>
          </a:xfrm>
          <a:prstGeom prst="rect">
            <a:avLst/>
          </a:prstGeom>
          <a:noFill/>
          <a:ln/>
        </p:spPr>
        <p:txBody>
          <a:bodyPr wrap="square" lIns="0" tIns="0" rIns="0" bIns="0" rtlCol="0" anchor="ctr"/>
          <a:lstStyle/>
          <a:p>
            <a:pPr indent="0" marL="0">
              <a:buNone/>
            </a:pPr>
            <a:r>
              <a:rPr lang="en-US" sz="1350" b="1" dirty="0">
                <a:solidFill>
                  <a:srgbClr val="0B3C5D"/>
                </a:solidFill>
                <a:latin typeface="Cambria" pitchFamily="34" charset="0"/>
                <a:ea typeface="Cambria" pitchFamily="34" charset="-122"/>
                <a:cs typeface="Cambria" pitchFamily="34" charset="-120"/>
              </a:rPr>
              <a:t>Susun Laporan Reproducible</a:t>
            </a:r>
            <a:endParaRPr lang="en-US" sz="1350" dirty="0"/>
          </a:p>
        </p:txBody>
      </p:sp>
      <p:sp>
        <p:nvSpPr>
          <p:cNvPr id="29" name="Text 27"/>
          <p:cNvSpPr txBox="1"/>
          <p:nvPr/>
        </p:nvSpPr>
        <p:spPr>
          <a:xfrm>
            <a:off x="6858000" y="5047488"/>
            <a:ext cx="4754880" cy="777240"/>
          </a:xfrm>
          <a:prstGeom prst="rect">
            <a:avLst/>
          </a:prstGeom>
          <a:noFill/>
          <a:ln/>
        </p:spPr>
        <p:txBody>
          <a:bodyPr wrap="square" lIns="0" tIns="0" rIns="0" bIns="0" rtlCol="0" anchor="ctr"/>
          <a:lstStyle/>
          <a:p>
            <a:pPr indent="0" marL="0">
              <a:lnSpc>
                <a:spcPct val="115000"/>
              </a:lnSpc>
              <a:buNone/>
            </a:pPr>
            <a:r>
              <a:rPr lang="en-US" sz="1050" dirty="0">
                <a:solidFill>
                  <a:srgbClr val="1B2A32"/>
                </a:solidFill>
                <a:latin typeface="Calibri" pitchFamily="34" charset="0"/>
                <a:ea typeface="Calibri" pitchFamily="34" charset="-122"/>
                <a:cs typeface="Calibri" pitchFamily="34" charset="-120"/>
              </a:rPr>
              <a:t>Buat laporan_bab1.Rmd berisi YAML, narasi, dan chunk kode, lalu Knit ke HTML.</a:t>
            </a:r>
            <a:endParaRPr lang="en-US" sz="1050" dirty="0"/>
          </a:p>
        </p:txBody>
      </p:sp>
      <p:sp>
        <p:nvSpPr>
          <p:cNvPr id="30" name="Text 28"/>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5C6E76"/>
                </a:solidFill>
                <a:latin typeface="Calibri" pitchFamily="34" charset="0"/>
                <a:ea typeface="Calibri" pitchFamily="34" charset="-122"/>
                <a:cs typeface="Calibri" pitchFamily="34" charset="-120"/>
              </a:rPr>
              <a:t>BAB 1 · PENGANTAR STATISTIK TEKNIK DAN LINGKUNGAN R</a:t>
            </a:r>
            <a:endParaRPr lang="en-US" sz="900" dirty="0"/>
          </a:p>
        </p:txBody>
      </p:sp>
      <p:sp>
        <p:nvSpPr>
          <p:cNvPr id="31" name="Text 29"/>
          <p:cNvSpPr txBox="1"/>
          <p:nvPr/>
        </p:nvSpPr>
        <p:spPr>
          <a:xfrm>
            <a:off x="10241280" y="6510528"/>
            <a:ext cx="1371600" cy="274320"/>
          </a:xfrm>
          <a:prstGeom prst="rect">
            <a:avLst/>
          </a:prstGeom>
          <a:noFill/>
          <a:ln/>
        </p:spPr>
        <p:txBody>
          <a:bodyPr wrap="square" lIns="0" tIns="0" rIns="0" bIns="0" rtlCol="0" anchor="ctr"/>
          <a:lstStyle/>
          <a:p>
            <a:pPr algn="r" indent="0" marL="0">
              <a:buNone/>
            </a:pPr>
            <a:r>
              <a:rPr lang="en-US" sz="900" dirty="0">
                <a:solidFill>
                  <a:srgbClr val="5C6E76"/>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548640" y="502920"/>
            <a:ext cx="5486400" cy="365760"/>
          </a:xfrm>
          <a:prstGeom prst="rect">
            <a:avLst/>
          </a:prstGeom>
          <a:noFill/>
          <a:ln/>
        </p:spPr>
        <p:txBody>
          <a:bodyPr wrap="square" lIns="0" tIns="0" rIns="0" bIns="0" rtlCol="0" anchor="ctr"/>
          <a:lstStyle/>
          <a:p>
            <a:pPr indent="0" marL="0">
              <a:buNone/>
            </a:pPr>
            <a:r>
              <a:rPr lang="en-US" sz="1300" b="1" spc="200" kern="0" dirty="0">
                <a:solidFill>
                  <a:srgbClr val="F4A261"/>
                </a:solidFill>
                <a:latin typeface="Calibri" pitchFamily="34" charset="0"/>
                <a:ea typeface="Calibri" pitchFamily="34" charset="-122"/>
                <a:cs typeface="Calibri" pitchFamily="34" charset="-120"/>
              </a:rPr>
              <a:t>RANGKUMAN</a:t>
            </a:r>
            <a:endParaRPr lang="en-US" sz="1300" dirty="0"/>
          </a:p>
        </p:txBody>
      </p:sp>
      <p:sp>
        <p:nvSpPr>
          <p:cNvPr id="3" name="Text 1"/>
          <p:cNvSpPr txBox="1"/>
          <p:nvPr/>
        </p:nvSpPr>
        <p:spPr>
          <a:xfrm>
            <a:off x="548640" y="822960"/>
            <a:ext cx="9144000" cy="5943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Poin-Poin Kunci Bab 1</a:t>
            </a:r>
            <a:endParaRPr lang="en-US" sz="2800" dirty="0"/>
          </a:p>
        </p:txBody>
      </p:sp>
      <p:sp>
        <p:nvSpPr>
          <p:cNvPr id="4" name="Shape 2"/>
          <p:cNvSpPr/>
          <p:nvPr/>
        </p:nvSpPr>
        <p:spPr>
          <a:xfrm>
            <a:off x="548640" y="1746504"/>
            <a:ext cx="128016" cy="128016"/>
          </a:xfrm>
          <a:prstGeom prst="ellipse">
            <a:avLst/>
          </a:prstGeom>
          <a:solidFill>
            <a:srgbClr val="F4A261"/>
          </a:solidFill>
          <a:ln/>
        </p:spPr>
      </p:sp>
      <p:sp>
        <p:nvSpPr>
          <p:cNvPr id="5" name="Text 3"/>
          <p:cNvSpPr txBox="1"/>
          <p:nvPr/>
        </p:nvSpPr>
        <p:spPr>
          <a:xfrm>
            <a:off x="841248" y="1600200"/>
            <a:ext cx="5010912" cy="960120"/>
          </a:xfrm>
          <a:prstGeom prst="rect">
            <a:avLst/>
          </a:prstGeom>
          <a:noFill/>
          <a:ln/>
        </p:spPr>
        <p:txBody>
          <a:bodyPr wrap="square" lIns="0" tIns="0" rIns="0" bIns="0" rtlCol="0" anchor="ctr"/>
          <a:lstStyle/>
          <a:p>
            <a:pPr indent="0" marL="0">
              <a:lnSpc>
                <a:spcPct val="120000"/>
              </a:lnSpc>
              <a:buNone/>
            </a:pPr>
            <a:r>
              <a:rPr lang="en-US" sz="1200" dirty="0">
                <a:solidFill>
                  <a:srgbClr val="E4EEF5"/>
                </a:solidFill>
                <a:latin typeface="Calibri" pitchFamily="34" charset="0"/>
                <a:ea typeface="Calibri" pitchFamily="34" charset="-122"/>
                <a:cs typeface="Calibri" pitchFamily="34" charset="-120"/>
              </a:rPr>
              <a:t>Statistika adalah fondasi pengambilan keputusan berbasis data di berbagai aspek Teknik Informatika.</a:t>
            </a:r>
            <a:endParaRPr lang="en-US" sz="1200" dirty="0"/>
          </a:p>
        </p:txBody>
      </p:sp>
      <p:sp>
        <p:nvSpPr>
          <p:cNvPr id="6" name="Shape 4"/>
          <p:cNvSpPr/>
          <p:nvPr/>
        </p:nvSpPr>
        <p:spPr>
          <a:xfrm>
            <a:off x="6309360" y="1746504"/>
            <a:ext cx="128016" cy="128016"/>
          </a:xfrm>
          <a:prstGeom prst="ellipse">
            <a:avLst/>
          </a:prstGeom>
          <a:solidFill>
            <a:srgbClr val="F4A261"/>
          </a:solidFill>
          <a:ln/>
        </p:spPr>
      </p:sp>
      <p:sp>
        <p:nvSpPr>
          <p:cNvPr id="7" name="Text 5"/>
          <p:cNvSpPr txBox="1"/>
          <p:nvPr/>
        </p:nvSpPr>
        <p:spPr>
          <a:xfrm>
            <a:off x="6601968" y="1600200"/>
            <a:ext cx="5010912" cy="960120"/>
          </a:xfrm>
          <a:prstGeom prst="rect">
            <a:avLst/>
          </a:prstGeom>
          <a:noFill/>
          <a:ln/>
        </p:spPr>
        <p:txBody>
          <a:bodyPr wrap="square" lIns="0" tIns="0" rIns="0" bIns="0" rtlCol="0" anchor="ctr"/>
          <a:lstStyle/>
          <a:p>
            <a:pPr indent="0" marL="0">
              <a:lnSpc>
                <a:spcPct val="120000"/>
              </a:lnSpc>
              <a:buNone/>
            </a:pPr>
            <a:r>
              <a:rPr lang="en-US" sz="1200" dirty="0">
                <a:solidFill>
                  <a:srgbClr val="E4EEF5"/>
                </a:solidFill>
                <a:latin typeface="Calibri" pitchFamily="34" charset="0"/>
                <a:ea typeface="Calibri" pitchFamily="34" charset="-122"/>
                <a:cs typeface="Calibri" pitchFamily="34" charset="-120"/>
              </a:rPr>
              <a:t>R adalah bahasa &amp; mesin komputasi; RStudio adalah IDE dengan 4 panel utama.</a:t>
            </a:r>
            <a:endParaRPr lang="en-US" sz="1200" dirty="0"/>
          </a:p>
        </p:txBody>
      </p:sp>
      <p:sp>
        <p:nvSpPr>
          <p:cNvPr id="8" name="Shape 6"/>
          <p:cNvSpPr/>
          <p:nvPr/>
        </p:nvSpPr>
        <p:spPr>
          <a:xfrm>
            <a:off x="548640" y="2825496"/>
            <a:ext cx="128016" cy="128016"/>
          </a:xfrm>
          <a:prstGeom prst="ellipse">
            <a:avLst/>
          </a:prstGeom>
          <a:solidFill>
            <a:srgbClr val="F4A261"/>
          </a:solidFill>
          <a:ln/>
        </p:spPr>
      </p:sp>
      <p:sp>
        <p:nvSpPr>
          <p:cNvPr id="9" name="Text 7"/>
          <p:cNvSpPr txBox="1"/>
          <p:nvPr/>
        </p:nvSpPr>
        <p:spPr>
          <a:xfrm>
            <a:off x="841248" y="2679192"/>
            <a:ext cx="5010912" cy="960120"/>
          </a:xfrm>
          <a:prstGeom prst="rect">
            <a:avLst/>
          </a:prstGeom>
          <a:noFill/>
          <a:ln/>
        </p:spPr>
        <p:txBody>
          <a:bodyPr wrap="square" lIns="0" tIns="0" rIns="0" bIns="0" rtlCol="0" anchor="ctr"/>
          <a:lstStyle/>
          <a:p>
            <a:pPr indent="0" marL="0">
              <a:lnSpc>
                <a:spcPct val="120000"/>
              </a:lnSpc>
              <a:buNone/>
            </a:pPr>
            <a:r>
              <a:rPr lang="en-US" sz="1200" dirty="0">
                <a:solidFill>
                  <a:srgbClr val="E4EEF5"/>
                </a:solidFill>
                <a:latin typeface="Calibri" pitchFamily="34" charset="0"/>
                <a:ea typeface="Calibri" pitchFamily="34" charset="-122"/>
                <a:cs typeface="Calibri" pitchFamily="34" charset="-120"/>
              </a:rPr>
              <a:t>Package diinstal sekali dengan install.packages(), dimuat tiap sesi dengan library().</a:t>
            </a:r>
            <a:endParaRPr lang="en-US" sz="1200" dirty="0"/>
          </a:p>
        </p:txBody>
      </p:sp>
      <p:sp>
        <p:nvSpPr>
          <p:cNvPr id="10" name="Shape 8"/>
          <p:cNvSpPr/>
          <p:nvPr/>
        </p:nvSpPr>
        <p:spPr>
          <a:xfrm>
            <a:off x="6309360" y="2825496"/>
            <a:ext cx="128016" cy="128016"/>
          </a:xfrm>
          <a:prstGeom prst="ellipse">
            <a:avLst/>
          </a:prstGeom>
          <a:solidFill>
            <a:srgbClr val="F4A261"/>
          </a:solidFill>
          <a:ln/>
        </p:spPr>
      </p:sp>
      <p:sp>
        <p:nvSpPr>
          <p:cNvPr id="11" name="Text 9"/>
          <p:cNvSpPr txBox="1"/>
          <p:nvPr/>
        </p:nvSpPr>
        <p:spPr>
          <a:xfrm>
            <a:off x="6601968" y="2679192"/>
            <a:ext cx="5010912" cy="960120"/>
          </a:xfrm>
          <a:prstGeom prst="rect">
            <a:avLst/>
          </a:prstGeom>
          <a:noFill/>
          <a:ln/>
        </p:spPr>
        <p:txBody>
          <a:bodyPr wrap="square" lIns="0" tIns="0" rIns="0" bIns="0" rtlCol="0" anchor="ctr"/>
          <a:lstStyle/>
          <a:p>
            <a:pPr indent="0" marL="0">
              <a:lnSpc>
                <a:spcPct val="120000"/>
              </a:lnSpc>
              <a:buNone/>
            </a:pPr>
            <a:r>
              <a:rPr lang="en-US" sz="1200" dirty="0">
                <a:solidFill>
                  <a:srgbClr val="E4EEF5"/>
                </a:solidFill>
                <a:latin typeface="Calibri" pitchFamily="34" charset="0"/>
                <a:ea typeface="Calibri" pitchFamily="34" charset="-122"/>
                <a:cs typeface="Calibri" pitchFamily="34" charset="-120"/>
              </a:rPr>
              <a:t>Empat tipe data primitif: character, numeric, integer, logical — operator penugasan &lt;-.</a:t>
            </a:r>
            <a:endParaRPr lang="en-US" sz="1200" dirty="0"/>
          </a:p>
        </p:txBody>
      </p:sp>
      <p:sp>
        <p:nvSpPr>
          <p:cNvPr id="12" name="Shape 10"/>
          <p:cNvSpPr/>
          <p:nvPr/>
        </p:nvSpPr>
        <p:spPr>
          <a:xfrm>
            <a:off x="548640" y="3904488"/>
            <a:ext cx="128016" cy="128016"/>
          </a:xfrm>
          <a:prstGeom prst="ellipse">
            <a:avLst/>
          </a:prstGeom>
          <a:solidFill>
            <a:srgbClr val="F4A261"/>
          </a:solidFill>
          <a:ln/>
        </p:spPr>
      </p:sp>
      <p:sp>
        <p:nvSpPr>
          <p:cNvPr id="13" name="Text 11"/>
          <p:cNvSpPr txBox="1"/>
          <p:nvPr/>
        </p:nvSpPr>
        <p:spPr>
          <a:xfrm>
            <a:off x="841248" y="3758184"/>
            <a:ext cx="5010912" cy="960120"/>
          </a:xfrm>
          <a:prstGeom prst="rect">
            <a:avLst/>
          </a:prstGeom>
          <a:noFill/>
          <a:ln/>
        </p:spPr>
        <p:txBody>
          <a:bodyPr wrap="square" lIns="0" tIns="0" rIns="0" bIns="0" rtlCol="0" anchor="ctr"/>
          <a:lstStyle/>
          <a:p>
            <a:pPr indent="0" marL="0">
              <a:lnSpc>
                <a:spcPct val="120000"/>
              </a:lnSpc>
              <a:buNone/>
            </a:pPr>
            <a:r>
              <a:rPr lang="en-US" sz="1200" dirty="0">
                <a:solidFill>
                  <a:srgbClr val="E4EEF5"/>
                </a:solidFill>
                <a:latin typeface="Calibri" pitchFamily="34" charset="0"/>
                <a:ea typeface="Calibri" pitchFamily="34" charset="-122"/>
                <a:cs typeface="Calibri" pitchFamily="34" charset="-120"/>
              </a:rPr>
              <a:t>Empat struktur data fundamental: vector, matrix, array, data frame.</a:t>
            </a:r>
            <a:endParaRPr lang="en-US" sz="1200" dirty="0"/>
          </a:p>
        </p:txBody>
      </p:sp>
      <p:sp>
        <p:nvSpPr>
          <p:cNvPr id="14" name="Shape 12"/>
          <p:cNvSpPr/>
          <p:nvPr/>
        </p:nvSpPr>
        <p:spPr>
          <a:xfrm>
            <a:off x="6309360" y="3904488"/>
            <a:ext cx="128016" cy="128016"/>
          </a:xfrm>
          <a:prstGeom prst="ellipse">
            <a:avLst/>
          </a:prstGeom>
          <a:solidFill>
            <a:srgbClr val="F4A261"/>
          </a:solidFill>
          <a:ln/>
        </p:spPr>
      </p:sp>
      <p:sp>
        <p:nvSpPr>
          <p:cNvPr id="15" name="Text 13"/>
          <p:cNvSpPr txBox="1"/>
          <p:nvPr/>
        </p:nvSpPr>
        <p:spPr>
          <a:xfrm>
            <a:off x="6601968" y="3758184"/>
            <a:ext cx="5010912" cy="960120"/>
          </a:xfrm>
          <a:prstGeom prst="rect">
            <a:avLst/>
          </a:prstGeom>
          <a:noFill/>
          <a:ln/>
        </p:spPr>
        <p:txBody>
          <a:bodyPr wrap="square" lIns="0" tIns="0" rIns="0" bIns="0" rtlCol="0" anchor="ctr"/>
          <a:lstStyle/>
          <a:p>
            <a:pPr indent="0" marL="0">
              <a:lnSpc>
                <a:spcPct val="120000"/>
              </a:lnSpc>
              <a:buNone/>
            </a:pPr>
            <a:r>
              <a:rPr lang="en-US" sz="1200" dirty="0">
                <a:solidFill>
                  <a:srgbClr val="E4EEF5"/>
                </a:solidFill>
                <a:latin typeface="Calibri" pitchFamily="34" charset="0"/>
                <a:ea typeface="Calibri" pitchFamily="34" charset="-122"/>
                <a:cs typeface="Calibri" pitchFamily="34" charset="-120"/>
              </a:rPr>
              <a:t>str() dan summary() adalah alat diagnostik utama setelah data dimuat.</a:t>
            </a:r>
            <a:endParaRPr lang="en-US" sz="1200" dirty="0"/>
          </a:p>
        </p:txBody>
      </p:sp>
      <p:sp>
        <p:nvSpPr>
          <p:cNvPr id="16" name="Shape 14"/>
          <p:cNvSpPr/>
          <p:nvPr/>
        </p:nvSpPr>
        <p:spPr>
          <a:xfrm>
            <a:off x="548640" y="4983480"/>
            <a:ext cx="128016" cy="128016"/>
          </a:xfrm>
          <a:prstGeom prst="ellipse">
            <a:avLst/>
          </a:prstGeom>
          <a:solidFill>
            <a:srgbClr val="F4A261"/>
          </a:solidFill>
          <a:ln/>
        </p:spPr>
      </p:sp>
      <p:sp>
        <p:nvSpPr>
          <p:cNvPr id="17" name="Text 15"/>
          <p:cNvSpPr txBox="1"/>
          <p:nvPr/>
        </p:nvSpPr>
        <p:spPr>
          <a:xfrm>
            <a:off x="841248" y="4837176"/>
            <a:ext cx="5010912" cy="960120"/>
          </a:xfrm>
          <a:prstGeom prst="rect">
            <a:avLst/>
          </a:prstGeom>
          <a:noFill/>
          <a:ln/>
        </p:spPr>
        <p:txBody>
          <a:bodyPr wrap="square" lIns="0" tIns="0" rIns="0" bIns="0" rtlCol="0" anchor="ctr"/>
          <a:lstStyle/>
          <a:p>
            <a:pPr indent="0" marL="0">
              <a:lnSpc>
                <a:spcPct val="120000"/>
              </a:lnSpc>
              <a:buNone/>
            </a:pPr>
            <a:r>
              <a:rPr lang="en-US" sz="1200" dirty="0">
                <a:solidFill>
                  <a:srgbClr val="E4EEF5"/>
                </a:solidFill>
                <a:latin typeface="Calibri" pitchFamily="34" charset="0"/>
                <a:ea typeface="Calibri" pitchFamily="34" charset="-122"/>
                <a:cs typeface="Calibri" pitchFamily="34" charset="-120"/>
              </a:rPr>
              <a:t>Sistem bantuan (?, help(), help.search(), vignette()) mendukung eksplorasi mandiri.</a:t>
            </a:r>
            <a:endParaRPr lang="en-US" sz="1200" dirty="0"/>
          </a:p>
        </p:txBody>
      </p:sp>
      <p:sp>
        <p:nvSpPr>
          <p:cNvPr id="18" name="Shape 16"/>
          <p:cNvSpPr/>
          <p:nvPr/>
        </p:nvSpPr>
        <p:spPr>
          <a:xfrm>
            <a:off x="6309360" y="4983480"/>
            <a:ext cx="128016" cy="128016"/>
          </a:xfrm>
          <a:prstGeom prst="ellipse">
            <a:avLst/>
          </a:prstGeom>
          <a:solidFill>
            <a:srgbClr val="F4A261"/>
          </a:solidFill>
          <a:ln/>
        </p:spPr>
      </p:sp>
      <p:sp>
        <p:nvSpPr>
          <p:cNvPr id="19" name="Text 17"/>
          <p:cNvSpPr txBox="1"/>
          <p:nvPr/>
        </p:nvSpPr>
        <p:spPr>
          <a:xfrm>
            <a:off x="6601968" y="4837176"/>
            <a:ext cx="5010912" cy="960120"/>
          </a:xfrm>
          <a:prstGeom prst="rect">
            <a:avLst/>
          </a:prstGeom>
          <a:noFill/>
          <a:ln/>
        </p:spPr>
        <p:txBody>
          <a:bodyPr wrap="square" lIns="0" tIns="0" rIns="0" bIns="0" rtlCol="0" anchor="ctr"/>
          <a:lstStyle/>
          <a:p>
            <a:pPr indent="0" marL="0">
              <a:lnSpc>
                <a:spcPct val="120000"/>
              </a:lnSpc>
              <a:buNone/>
            </a:pPr>
            <a:r>
              <a:rPr lang="en-US" sz="1200" dirty="0">
                <a:solidFill>
                  <a:srgbClr val="E4EEF5"/>
                </a:solidFill>
                <a:latin typeface="Calibri" pitchFamily="34" charset="0"/>
                <a:ea typeface="Calibri" pitchFamily="34" charset="-122"/>
                <a:cs typeface="Calibri" pitchFamily="34" charset="-120"/>
              </a:rPr>
              <a:t>R Markdown (.Rmd) menggabungkan narasi dan kode untuk reproducible research.</a:t>
            </a:r>
            <a:endParaRPr lang="en-US" sz="1200" dirty="0"/>
          </a:p>
        </p:txBody>
      </p:sp>
      <p:sp>
        <p:nvSpPr>
          <p:cNvPr id="20" name="Text 18"/>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5C6E76"/>
                </a:solidFill>
                <a:latin typeface="Calibri" pitchFamily="34" charset="0"/>
                <a:ea typeface="Calibri" pitchFamily="34" charset="-122"/>
                <a:cs typeface="Calibri" pitchFamily="34" charset="-120"/>
              </a:rPr>
              <a:t>BAB 1 · PENGANTAR STATISTIK TEKNIK DAN LINGKUNGAN R</a:t>
            </a:r>
            <a:endParaRPr lang="en-US" sz="900" dirty="0"/>
          </a:p>
        </p:txBody>
      </p:sp>
      <p:sp>
        <p:nvSpPr>
          <p:cNvPr id="21" name="Text 19"/>
          <p:cNvSpPr txBox="1"/>
          <p:nvPr/>
        </p:nvSpPr>
        <p:spPr>
          <a:xfrm>
            <a:off x="10241280" y="6510528"/>
            <a:ext cx="1371600" cy="274320"/>
          </a:xfrm>
          <a:prstGeom prst="rect">
            <a:avLst/>
          </a:prstGeom>
          <a:noFill/>
          <a:ln/>
        </p:spPr>
        <p:txBody>
          <a:bodyPr wrap="square" lIns="0" tIns="0" rIns="0" bIns="0" rtlCol="0" anchor="ctr"/>
          <a:lstStyle/>
          <a:p>
            <a:pPr algn="r" indent="0" marL="0">
              <a:buNone/>
            </a:pPr>
            <a:r>
              <a:rPr lang="en-US" sz="900" dirty="0">
                <a:solidFill>
                  <a:srgbClr val="5C6E76"/>
                </a:solidFill>
                <a:latin typeface="Calibri" pitchFamily="34" charset="0"/>
                <a:ea typeface="Calibri" pitchFamily="34" charset="-122"/>
                <a:cs typeface="Calibri" pitchFamily="34" charset="-120"/>
              </a:rPr>
              <a:t>15</a:t>
            </a:r>
            <a:endParaRPr lang="en-US" sz="900" dirty="0"/>
          </a:p>
        </p:txBody>
      </p:sp>
      <p:sp>
        <p:nvSpPr>
          <p:cNvPr id="22" name="Text 20"/>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6E8B98"/>
                </a:solidFill>
                <a:latin typeface="Calibri" pitchFamily="34" charset="0"/>
                <a:ea typeface="Calibri" pitchFamily="34" charset="-122"/>
                <a:cs typeface="Calibri" pitchFamily="34" charset="-120"/>
              </a:rPr>
              <a:t>BAB 1 · PENGANTAR STATISTIK TEKNIK DAN LINGKUNGAN R</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lIns="0" tIns="0" rIns="0" bIns="0" rtlCol="0" anchor="ctr"/>
          <a:lstStyle/>
          <a:p>
            <a:pPr indent="0" marL="0">
              <a:buNone/>
            </a:pPr>
            <a:r>
              <a:rPr lang="en-US" sz="1300" b="1" spc="100" kern="0" dirty="0">
                <a:solidFill>
                  <a:srgbClr val="1C7293"/>
                </a:solidFill>
                <a:latin typeface="Calibri" pitchFamily="34" charset="0"/>
                <a:ea typeface="Calibri" pitchFamily="34" charset="-122"/>
                <a:cs typeface="Calibri" pitchFamily="34" charset="-120"/>
              </a:rPr>
              <a:t>EVALUASI</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0B3C5D"/>
                </a:solidFill>
                <a:latin typeface="Cambria" pitchFamily="34" charset="0"/>
                <a:ea typeface="Cambria" pitchFamily="34" charset="-122"/>
                <a:cs typeface="Cambria" pitchFamily="34" charset="-120"/>
              </a:rPr>
              <a:t>Latihan Soal</a:t>
            </a:r>
            <a:endParaRPr lang="en-US" sz="3000" dirty="0"/>
          </a:p>
        </p:txBody>
      </p:sp>
      <p:sp>
        <p:nvSpPr>
          <p:cNvPr id="4" name="Shape 2"/>
          <p:cNvSpPr/>
          <p:nvPr/>
        </p:nvSpPr>
        <p:spPr>
          <a:xfrm>
            <a:off x="548640" y="1389888"/>
            <a:ext cx="822960" cy="41148"/>
          </a:xfrm>
          <a:prstGeom prst="rect">
            <a:avLst/>
          </a:prstGeom>
          <a:solidFill>
            <a:srgbClr val="F4A261"/>
          </a:solidFill>
          <a:ln/>
        </p:spPr>
      </p:sp>
      <p:sp>
        <p:nvSpPr>
          <p:cNvPr id="5" name="Shape 3"/>
          <p:cNvSpPr/>
          <p:nvPr/>
        </p:nvSpPr>
        <p:spPr>
          <a:xfrm>
            <a:off x="548640" y="1737360"/>
            <a:ext cx="5303520" cy="3749040"/>
          </a:xfrm>
          <a:prstGeom prst="roundRect">
            <a:avLst>
              <a:gd name="adj" fmla="val 1951"/>
            </a:avLst>
          </a:prstGeom>
          <a:solidFill>
            <a:srgbClr val="EAF4F4"/>
          </a:solidFill>
          <a:ln/>
        </p:spPr>
      </p:sp>
      <p:sp>
        <p:nvSpPr>
          <p:cNvPr id="6" name="Text 4"/>
          <p:cNvSpPr txBox="1"/>
          <p:nvPr/>
        </p:nvSpPr>
        <p:spPr>
          <a:xfrm>
            <a:off x="777240" y="1920240"/>
            <a:ext cx="4846320" cy="274320"/>
          </a:xfrm>
          <a:prstGeom prst="rect">
            <a:avLst/>
          </a:prstGeom>
          <a:noFill/>
          <a:ln/>
        </p:spPr>
        <p:txBody>
          <a:bodyPr wrap="square" lIns="0" tIns="0" rIns="0" bIns="0" rtlCol="0" anchor="ctr"/>
          <a:lstStyle/>
          <a:p>
            <a:pPr indent="0" marL="0">
              <a:buNone/>
            </a:pPr>
            <a:r>
              <a:rPr lang="en-US" sz="1100" b="1" spc="50" kern="0" dirty="0">
                <a:solidFill>
                  <a:srgbClr val="1C7293"/>
                </a:solidFill>
                <a:latin typeface="Calibri" pitchFamily="34" charset="0"/>
                <a:ea typeface="Calibri" pitchFamily="34" charset="-122"/>
                <a:cs typeface="Calibri" pitchFamily="34" charset="-120"/>
              </a:rPr>
              <a:t>BAGIAN A — SOAL TEORI</a:t>
            </a:r>
            <a:endParaRPr lang="en-US" sz="1100" dirty="0"/>
          </a:p>
        </p:txBody>
      </p:sp>
      <p:sp>
        <p:nvSpPr>
          <p:cNvPr id="7" name="Text 5"/>
          <p:cNvSpPr txBox="1"/>
          <p:nvPr/>
        </p:nvSpPr>
        <p:spPr>
          <a:xfrm>
            <a:off x="777240" y="2286000"/>
            <a:ext cx="274320" cy="548640"/>
          </a:xfrm>
          <a:prstGeom prst="rect">
            <a:avLst/>
          </a:prstGeom>
          <a:noFill/>
          <a:ln/>
        </p:spPr>
        <p:txBody>
          <a:bodyPr wrap="square" lIns="0" tIns="0" rIns="0" bIns="0" rtlCol="0" anchor="ctr"/>
          <a:lstStyle/>
          <a:p>
            <a:pPr indent="0" marL="0">
              <a:buNone/>
            </a:pPr>
            <a:r>
              <a:rPr lang="en-US" sz="1200" b="1" dirty="0">
                <a:solidFill>
                  <a:srgbClr val="0B3C5D"/>
                </a:solidFill>
                <a:latin typeface="Cambria" pitchFamily="34" charset="0"/>
                <a:ea typeface="Cambria" pitchFamily="34" charset="-122"/>
                <a:cs typeface="Cambria" pitchFamily="34" charset="-120"/>
              </a:rPr>
              <a:t>1</a:t>
            </a:r>
            <a:endParaRPr lang="en-US" sz="1200" dirty="0"/>
          </a:p>
        </p:txBody>
      </p:sp>
      <p:sp>
        <p:nvSpPr>
          <p:cNvPr id="8" name="Text 6"/>
          <p:cNvSpPr txBox="1"/>
          <p:nvPr/>
        </p:nvSpPr>
        <p:spPr>
          <a:xfrm>
            <a:off x="1097280" y="2286000"/>
            <a:ext cx="4480560" cy="548640"/>
          </a:xfrm>
          <a:prstGeom prst="rect">
            <a:avLst/>
          </a:prstGeom>
          <a:noFill/>
          <a:ln/>
        </p:spPr>
        <p:txBody>
          <a:bodyPr wrap="square" lIns="0" tIns="0" rIns="0" bIns="0" rtlCol="0" anchor="ctr"/>
          <a:lstStyle/>
          <a:p>
            <a:pPr indent="0" marL="0">
              <a:lnSpc>
                <a:spcPct val="110000"/>
              </a:lnSpc>
              <a:buNone/>
            </a:pPr>
            <a:r>
              <a:rPr lang="en-US" sz="1050" dirty="0">
                <a:solidFill>
                  <a:srgbClr val="1B2A32"/>
                </a:solidFill>
                <a:latin typeface="Calibri" pitchFamily="34" charset="0"/>
                <a:ea typeface="Calibri" pitchFamily="34" charset="-122"/>
                <a:cs typeface="Calibri" pitchFamily="34" charset="-120"/>
              </a:rPr>
              <a:t>Perbedaan mendasar R dan RStudio, disertai analogi.</a:t>
            </a:r>
            <a:endParaRPr lang="en-US" sz="1050" dirty="0"/>
          </a:p>
        </p:txBody>
      </p:sp>
      <p:sp>
        <p:nvSpPr>
          <p:cNvPr id="9" name="Text 7"/>
          <p:cNvSpPr txBox="1"/>
          <p:nvPr/>
        </p:nvSpPr>
        <p:spPr>
          <a:xfrm>
            <a:off x="777240" y="2889504"/>
            <a:ext cx="274320" cy="548640"/>
          </a:xfrm>
          <a:prstGeom prst="rect">
            <a:avLst/>
          </a:prstGeom>
          <a:noFill/>
          <a:ln/>
        </p:spPr>
        <p:txBody>
          <a:bodyPr wrap="square" lIns="0" tIns="0" rIns="0" bIns="0" rtlCol="0" anchor="ctr"/>
          <a:lstStyle/>
          <a:p>
            <a:pPr indent="0" marL="0">
              <a:buNone/>
            </a:pPr>
            <a:r>
              <a:rPr lang="en-US" sz="1200" b="1" dirty="0">
                <a:solidFill>
                  <a:srgbClr val="0B3C5D"/>
                </a:solidFill>
                <a:latin typeface="Cambria" pitchFamily="34" charset="0"/>
                <a:ea typeface="Cambria" pitchFamily="34" charset="-122"/>
                <a:cs typeface="Cambria" pitchFamily="34" charset="-120"/>
              </a:rPr>
              <a:t>2</a:t>
            </a:r>
            <a:endParaRPr lang="en-US" sz="1200" dirty="0"/>
          </a:p>
        </p:txBody>
      </p:sp>
      <p:sp>
        <p:nvSpPr>
          <p:cNvPr id="10" name="Text 8"/>
          <p:cNvSpPr txBox="1"/>
          <p:nvPr/>
        </p:nvSpPr>
        <p:spPr>
          <a:xfrm>
            <a:off x="1097280" y="2889504"/>
            <a:ext cx="4480560" cy="548640"/>
          </a:xfrm>
          <a:prstGeom prst="rect">
            <a:avLst/>
          </a:prstGeom>
          <a:noFill/>
          <a:ln/>
        </p:spPr>
        <p:txBody>
          <a:bodyPr wrap="square" lIns="0" tIns="0" rIns="0" bIns="0" rtlCol="0" anchor="ctr"/>
          <a:lstStyle/>
          <a:p>
            <a:pPr indent="0" marL="0">
              <a:lnSpc>
                <a:spcPct val="110000"/>
              </a:lnSpc>
              <a:buNone/>
            </a:pPr>
            <a:r>
              <a:rPr lang="en-US" sz="1050" dirty="0">
                <a:solidFill>
                  <a:srgbClr val="1B2A32"/>
                </a:solidFill>
                <a:latin typeface="Calibri" pitchFamily="34" charset="0"/>
                <a:ea typeface="Calibri" pitchFamily="34" charset="-122"/>
                <a:cs typeface="Calibri" pitchFamily="34" charset="-120"/>
              </a:rPr>
              <a:t>Fungsi keempat panel utama antarmuka RStudio.</a:t>
            </a:r>
            <a:endParaRPr lang="en-US" sz="1050" dirty="0"/>
          </a:p>
        </p:txBody>
      </p:sp>
      <p:sp>
        <p:nvSpPr>
          <p:cNvPr id="11" name="Text 9"/>
          <p:cNvSpPr txBox="1"/>
          <p:nvPr/>
        </p:nvSpPr>
        <p:spPr>
          <a:xfrm>
            <a:off x="777240" y="3493008"/>
            <a:ext cx="274320" cy="548640"/>
          </a:xfrm>
          <a:prstGeom prst="rect">
            <a:avLst/>
          </a:prstGeom>
          <a:noFill/>
          <a:ln/>
        </p:spPr>
        <p:txBody>
          <a:bodyPr wrap="square" lIns="0" tIns="0" rIns="0" bIns="0" rtlCol="0" anchor="ctr"/>
          <a:lstStyle/>
          <a:p>
            <a:pPr indent="0" marL="0">
              <a:buNone/>
            </a:pPr>
            <a:r>
              <a:rPr lang="en-US" sz="1200" b="1" dirty="0">
                <a:solidFill>
                  <a:srgbClr val="0B3C5D"/>
                </a:solidFill>
                <a:latin typeface="Cambria" pitchFamily="34" charset="0"/>
                <a:ea typeface="Cambria" pitchFamily="34" charset="-122"/>
                <a:cs typeface="Cambria" pitchFamily="34" charset="-120"/>
              </a:rPr>
              <a:t>3</a:t>
            </a:r>
            <a:endParaRPr lang="en-US" sz="1200" dirty="0"/>
          </a:p>
        </p:txBody>
      </p:sp>
      <p:sp>
        <p:nvSpPr>
          <p:cNvPr id="12" name="Text 10"/>
          <p:cNvSpPr txBox="1"/>
          <p:nvPr/>
        </p:nvSpPr>
        <p:spPr>
          <a:xfrm>
            <a:off x="1097280" y="3493008"/>
            <a:ext cx="4480560" cy="548640"/>
          </a:xfrm>
          <a:prstGeom prst="rect">
            <a:avLst/>
          </a:prstGeom>
          <a:noFill/>
          <a:ln/>
        </p:spPr>
        <p:txBody>
          <a:bodyPr wrap="square" lIns="0" tIns="0" rIns="0" bIns="0" rtlCol="0" anchor="ctr"/>
          <a:lstStyle/>
          <a:p>
            <a:pPr indent="0" marL="0">
              <a:lnSpc>
                <a:spcPct val="110000"/>
              </a:lnSpc>
              <a:buNone/>
            </a:pPr>
            <a:r>
              <a:rPr lang="en-US" sz="1050" dirty="0">
                <a:solidFill>
                  <a:srgbClr val="1B2A32"/>
                </a:solidFill>
                <a:latin typeface="Calibri" pitchFamily="34" charset="0"/>
                <a:ea typeface="Calibri" pitchFamily="34" charset="-122"/>
                <a:cs typeface="Calibri" pitchFamily="34" charset="-120"/>
              </a:rPr>
              <a:t>Mengapa install.packages() cukup sekali, library() tiap sesi?</a:t>
            </a:r>
            <a:endParaRPr lang="en-US" sz="1050" dirty="0"/>
          </a:p>
        </p:txBody>
      </p:sp>
      <p:sp>
        <p:nvSpPr>
          <p:cNvPr id="13" name="Text 11"/>
          <p:cNvSpPr txBox="1"/>
          <p:nvPr/>
        </p:nvSpPr>
        <p:spPr>
          <a:xfrm>
            <a:off x="777240" y="4096512"/>
            <a:ext cx="274320" cy="548640"/>
          </a:xfrm>
          <a:prstGeom prst="rect">
            <a:avLst/>
          </a:prstGeom>
          <a:noFill/>
          <a:ln/>
        </p:spPr>
        <p:txBody>
          <a:bodyPr wrap="square" lIns="0" tIns="0" rIns="0" bIns="0" rtlCol="0" anchor="ctr"/>
          <a:lstStyle/>
          <a:p>
            <a:pPr indent="0" marL="0">
              <a:buNone/>
            </a:pPr>
            <a:r>
              <a:rPr lang="en-US" sz="1200" b="1" dirty="0">
                <a:solidFill>
                  <a:srgbClr val="0B3C5D"/>
                </a:solidFill>
                <a:latin typeface="Cambria" pitchFamily="34" charset="0"/>
                <a:ea typeface="Cambria" pitchFamily="34" charset="-122"/>
                <a:cs typeface="Cambria" pitchFamily="34" charset="-120"/>
              </a:rPr>
              <a:t>4</a:t>
            </a:r>
            <a:endParaRPr lang="en-US" sz="1200" dirty="0"/>
          </a:p>
        </p:txBody>
      </p:sp>
      <p:sp>
        <p:nvSpPr>
          <p:cNvPr id="14" name="Text 12"/>
          <p:cNvSpPr txBox="1"/>
          <p:nvPr/>
        </p:nvSpPr>
        <p:spPr>
          <a:xfrm>
            <a:off x="1097280" y="4096512"/>
            <a:ext cx="4480560" cy="548640"/>
          </a:xfrm>
          <a:prstGeom prst="rect">
            <a:avLst/>
          </a:prstGeom>
          <a:noFill/>
          <a:ln/>
        </p:spPr>
        <p:txBody>
          <a:bodyPr wrap="square" lIns="0" tIns="0" rIns="0" bIns="0" rtlCol="0" anchor="ctr"/>
          <a:lstStyle/>
          <a:p>
            <a:pPr indent="0" marL="0">
              <a:lnSpc>
                <a:spcPct val="110000"/>
              </a:lnSpc>
              <a:buNone/>
            </a:pPr>
            <a:r>
              <a:rPr lang="en-US" sz="1050" dirty="0">
                <a:solidFill>
                  <a:srgbClr val="1B2A32"/>
                </a:solidFill>
                <a:latin typeface="Calibri" pitchFamily="34" charset="0"/>
                <a:ea typeface="Calibri" pitchFamily="34" charset="-122"/>
                <a:cs typeface="Calibri" pitchFamily="34" charset="-120"/>
              </a:rPr>
              <a:t>Bandingkan vector, matrix, array, data frame berdasarkan dimensi &amp; homogenitas.</a:t>
            </a:r>
            <a:endParaRPr lang="en-US" sz="1050" dirty="0"/>
          </a:p>
        </p:txBody>
      </p:sp>
      <p:sp>
        <p:nvSpPr>
          <p:cNvPr id="15" name="Text 13"/>
          <p:cNvSpPr txBox="1"/>
          <p:nvPr/>
        </p:nvSpPr>
        <p:spPr>
          <a:xfrm>
            <a:off x="777240" y="4700016"/>
            <a:ext cx="274320" cy="548640"/>
          </a:xfrm>
          <a:prstGeom prst="rect">
            <a:avLst/>
          </a:prstGeom>
          <a:noFill/>
          <a:ln/>
        </p:spPr>
        <p:txBody>
          <a:bodyPr wrap="square" lIns="0" tIns="0" rIns="0" bIns="0" rtlCol="0" anchor="ctr"/>
          <a:lstStyle/>
          <a:p>
            <a:pPr indent="0" marL="0">
              <a:buNone/>
            </a:pPr>
            <a:r>
              <a:rPr lang="en-US" sz="1200" b="1" dirty="0">
                <a:solidFill>
                  <a:srgbClr val="0B3C5D"/>
                </a:solidFill>
                <a:latin typeface="Cambria" pitchFamily="34" charset="0"/>
                <a:ea typeface="Cambria" pitchFamily="34" charset="-122"/>
                <a:cs typeface="Cambria" pitchFamily="34" charset="-120"/>
              </a:rPr>
              <a:t>5</a:t>
            </a:r>
            <a:endParaRPr lang="en-US" sz="1200" dirty="0"/>
          </a:p>
        </p:txBody>
      </p:sp>
      <p:sp>
        <p:nvSpPr>
          <p:cNvPr id="16" name="Text 14"/>
          <p:cNvSpPr txBox="1"/>
          <p:nvPr/>
        </p:nvSpPr>
        <p:spPr>
          <a:xfrm>
            <a:off x="1097280" y="4700016"/>
            <a:ext cx="4480560" cy="548640"/>
          </a:xfrm>
          <a:prstGeom prst="rect">
            <a:avLst/>
          </a:prstGeom>
          <a:noFill/>
          <a:ln/>
        </p:spPr>
        <p:txBody>
          <a:bodyPr wrap="square" lIns="0" tIns="0" rIns="0" bIns="0" rtlCol="0" anchor="ctr"/>
          <a:lstStyle/>
          <a:p>
            <a:pPr indent="0" marL="0">
              <a:lnSpc>
                <a:spcPct val="110000"/>
              </a:lnSpc>
              <a:buNone/>
            </a:pPr>
            <a:r>
              <a:rPr lang="en-US" sz="1050" dirty="0">
                <a:solidFill>
                  <a:srgbClr val="1B2A32"/>
                </a:solidFill>
                <a:latin typeface="Calibri" pitchFamily="34" charset="0"/>
                <a:ea typeface="Calibri" pitchFamily="34" charset="-122"/>
                <a:cs typeface="Calibri" pitchFamily="34" charset="-120"/>
              </a:rPr>
              <a:t>Mengapa ekspor-impor CSV berpotensi mengubah tipe data kolom?</a:t>
            </a:r>
            <a:endParaRPr lang="en-US" sz="1050" dirty="0"/>
          </a:p>
        </p:txBody>
      </p:sp>
      <p:sp>
        <p:nvSpPr>
          <p:cNvPr id="17" name="Shape 15"/>
          <p:cNvSpPr/>
          <p:nvPr/>
        </p:nvSpPr>
        <p:spPr>
          <a:xfrm>
            <a:off x="6309360" y="1737360"/>
            <a:ext cx="5303520" cy="3749040"/>
          </a:xfrm>
          <a:prstGeom prst="roundRect">
            <a:avLst>
              <a:gd name="adj" fmla="val 1951"/>
            </a:avLst>
          </a:prstGeom>
          <a:solidFill>
            <a:srgbClr val="FDF3E8"/>
          </a:solidFill>
          <a:ln/>
        </p:spPr>
      </p:sp>
      <p:sp>
        <p:nvSpPr>
          <p:cNvPr id="18" name="Text 16"/>
          <p:cNvSpPr txBox="1"/>
          <p:nvPr/>
        </p:nvSpPr>
        <p:spPr>
          <a:xfrm>
            <a:off x="6537960" y="1920240"/>
            <a:ext cx="4846320" cy="274320"/>
          </a:xfrm>
          <a:prstGeom prst="rect">
            <a:avLst/>
          </a:prstGeom>
          <a:noFill/>
          <a:ln/>
        </p:spPr>
        <p:txBody>
          <a:bodyPr wrap="square" lIns="0" tIns="0" rIns="0" bIns="0" rtlCol="0" anchor="ctr"/>
          <a:lstStyle/>
          <a:p>
            <a:pPr indent="0" marL="0">
              <a:buNone/>
            </a:pPr>
            <a:r>
              <a:rPr lang="en-US" sz="1100" b="1" spc="50" kern="0" dirty="0">
                <a:solidFill>
                  <a:srgbClr val="B5651D"/>
                </a:solidFill>
                <a:latin typeface="Calibri" pitchFamily="34" charset="0"/>
                <a:ea typeface="Calibri" pitchFamily="34" charset="-122"/>
                <a:cs typeface="Calibri" pitchFamily="34" charset="-120"/>
              </a:rPr>
              <a:t>BAGIAN B — SOAL PRAKTIK</a:t>
            </a:r>
            <a:endParaRPr lang="en-US" sz="1100" dirty="0"/>
          </a:p>
        </p:txBody>
      </p:sp>
      <p:sp>
        <p:nvSpPr>
          <p:cNvPr id="19" name="Text 17"/>
          <p:cNvSpPr txBox="1"/>
          <p:nvPr/>
        </p:nvSpPr>
        <p:spPr>
          <a:xfrm>
            <a:off x="6537960" y="2286000"/>
            <a:ext cx="320040" cy="548640"/>
          </a:xfrm>
          <a:prstGeom prst="rect">
            <a:avLst/>
          </a:prstGeom>
          <a:noFill/>
          <a:ln/>
        </p:spPr>
        <p:txBody>
          <a:bodyPr wrap="square" lIns="0" tIns="0" rIns="0" bIns="0" rtlCol="0" anchor="ctr"/>
          <a:lstStyle/>
          <a:p>
            <a:pPr indent="0" marL="0">
              <a:buNone/>
            </a:pPr>
            <a:r>
              <a:rPr lang="en-US" sz="1200" b="1" dirty="0">
                <a:solidFill>
                  <a:srgbClr val="B5651D"/>
                </a:solidFill>
                <a:latin typeface="Cambria" pitchFamily="34" charset="0"/>
                <a:ea typeface="Cambria" pitchFamily="34" charset="-122"/>
                <a:cs typeface="Cambria" pitchFamily="34" charset="-120"/>
              </a:rPr>
              <a:t>6</a:t>
            </a:r>
            <a:endParaRPr lang="en-US" sz="1200" dirty="0"/>
          </a:p>
        </p:txBody>
      </p:sp>
      <p:sp>
        <p:nvSpPr>
          <p:cNvPr id="20" name="Text 18"/>
          <p:cNvSpPr txBox="1"/>
          <p:nvPr/>
        </p:nvSpPr>
        <p:spPr>
          <a:xfrm>
            <a:off x="6903720" y="2286000"/>
            <a:ext cx="4480560" cy="548640"/>
          </a:xfrm>
          <a:prstGeom prst="rect">
            <a:avLst/>
          </a:prstGeom>
          <a:noFill/>
          <a:ln/>
        </p:spPr>
        <p:txBody>
          <a:bodyPr wrap="square" lIns="0" tIns="0" rIns="0" bIns="0" rtlCol="0" anchor="ctr"/>
          <a:lstStyle/>
          <a:p>
            <a:pPr indent="0" marL="0">
              <a:lnSpc>
                <a:spcPct val="110000"/>
              </a:lnSpc>
              <a:buNone/>
            </a:pPr>
            <a:r>
              <a:rPr lang="en-US" sz="1050" dirty="0">
                <a:solidFill>
                  <a:srgbClr val="1B2A32"/>
                </a:solidFill>
                <a:latin typeface="Calibri" pitchFamily="34" charset="0"/>
                <a:ea typeface="Calibri" pitchFamily="34" charset="-122"/>
                <a:cs typeface="Calibri" pitchFamily="34" charset="-120"/>
              </a:rPr>
              <a:t>Buat vector suhu_cpu (5 nilai), tampilkan class() dan length().</a:t>
            </a:r>
            <a:endParaRPr lang="en-US" sz="1050" dirty="0"/>
          </a:p>
        </p:txBody>
      </p:sp>
      <p:sp>
        <p:nvSpPr>
          <p:cNvPr id="21" name="Text 19"/>
          <p:cNvSpPr txBox="1"/>
          <p:nvPr/>
        </p:nvSpPr>
        <p:spPr>
          <a:xfrm>
            <a:off x="6537960" y="2889504"/>
            <a:ext cx="320040" cy="548640"/>
          </a:xfrm>
          <a:prstGeom prst="rect">
            <a:avLst/>
          </a:prstGeom>
          <a:noFill/>
          <a:ln/>
        </p:spPr>
        <p:txBody>
          <a:bodyPr wrap="square" lIns="0" tIns="0" rIns="0" bIns="0" rtlCol="0" anchor="ctr"/>
          <a:lstStyle/>
          <a:p>
            <a:pPr indent="0" marL="0">
              <a:buNone/>
            </a:pPr>
            <a:r>
              <a:rPr lang="en-US" sz="1200" b="1" dirty="0">
                <a:solidFill>
                  <a:srgbClr val="B5651D"/>
                </a:solidFill>
                <a:latin typeface="Cambria" pitchFamily="34" charset="0"/>
                <a:ea typeface="Cambria" pitchFamily="34" charset="-122"/>
                <a:cs typeface="Cambria" pitchFamily="34" charset="-120"/>
              </a:rPr>
              <a:t>7</a:t>
            </a:r>
            <a:endParaRPr lang="en-US" sz="1200" dirty="0"/>
          </a:p>
        </p:txBody>
      </p:sp>
      <p:sp>
        <p:nvSpPr>
          <p:cNvPr id="22" name="Text 20"/>
          <p:cNvSpPr txBox="1"/>
          <p:nvPr/>
        </p:nvSpPr>
        <p:spPr>
          <a:xfrm>
            <a:off x="6903720" y="2889504"/>
            <a:ext cx="4480560" cy="548640"/>
          </a:xfrm>
          <a:prstGeom prst="rect">
            <a:avLst/>
          </a:prstGeom>
          <a:noFill/>
          <a:ln/>
        </p:spPr>
        <p:txBody>
          <a:bodyPr wrap="square" lIns="0" tIns="0" rIns="0" bIns="0" rtlCol="0" anchor="ctr"/>
          <a:lstStyle/>
          <a:p>
            <a:pPr indent="0" marL="0">
              <a:lnSpc>
                <a:spcPct val="110000"/>
              </a:lnSpc>
              <a:buNone/>
            </a:pPr>
            <a:r>
              <a:rPr lang="en-US" sz="1050" dirty="0">
                <a:solidFill>
                  <a:srgbClr val="1B2A32"/>
                </a:solidFill>
                <a:latin typeface="Calibri" pitchFamily="34" charset="0"/>
                <a:ea typeface="Calibri" pitchFamily="34" charset="-122"/>
                <a:cs typeface="Calibri" pitchFamily="34" charset="-120"/>
              </a:rPr>
              <a:t>Buat data frame df_jaringan (≥3 kolom, 5 observasi), tampilkan str() dan summary().</a:t>
            </a:r>
            <a:endParaRPr lang="en-US" sz="1050" dirty="0"/>
          </a:p>
        </p:txBody>
      </p:sp>
      <p:sp>
        <p:nvSpPr>
          <p:cNvPr id="23" name="Text 21"/>
          <p:cNvSpPr txBox="1"/>
          <p:nvPr/>
        </p:nvSpPr>
        <p:spPr>
          <a:xfrm>
            <a:off x="6537960" y="3493008"/>
            <a:ext cx="320040" cy="548640"/>
          </a:xfrm>
          <a:prstGeom prst="rect">
            <a:avLst/>
          </a:prstGeom>
          <a:noFill/>
          <a:ln/>
        </p:spPr>
        <p:txBody>
          <a:bodyPr wrap="square" lIns="0" tIns="0" rIns="0" bIns="0" rtlCol="0" anchor="ctr"/>
          <a:lstStyle/>
          <a:p>
            <a:pPr indent="0" marL="0">
              <a:buNone/>
            </a:pPr>
            <a:r>
              <a:rPr lang="en-US" sz="1200" b="1" dirty="0">
                <a:solidFill>
                  <a:srgbClr val="B5651D"/>
                </a:solidFill>
                <a:latin typeface="Cambria" pitchFamily="34" charset="0"/>
                <a:ea typeface="Cambria" pitchFamily="34" charset="-122"/>
                <a:cs typeface="Cambria" pitchFamily="34" charset="-120"/>
              </a:rPr>
              <a:t>8</a:t>
            </a:r>
            <a:endParaRPr lang="en-US" sz="1200" dirty="0"/>
          </a:p>
        </p:txBody>
      </p:sp>
      <p:sp>
        <p:nvSpPr>
          <p:cNvPr id="24" name="Text 22"/>
          <p:cNvSpPr txBox="1"/>
          <p:nvPr/>
        </p:nvSpPr>
        <p:spPr>
          <a:xfrm>
            <a:off x="6903720" y="3493008"/>
            <a:ext cx="4480560" cy="548640"/>
          </a:xfrm>
          <a:prstGeom prst="rect">
            <a:avLst/>
          </a:prstGeom>
          <a:noFill/>
          <a:ln/>
        </p:spPr>
        <p:txBody>
          <a:bodyPr wrap="square" lIns="0" tIns="0" rIns="0" bIns="0" rtlCol="0" anchor="ctr"/>
          <a:lstStyle/>
          <a:p>
            <a:pPr indent="0" marL="0">
              <a:lnSpc>
                <a:spcPct val="110000"/>
              </a:lnSpc>
              <a:buNone/>
            </a:pPr>
            <a:r>
              <a:rPr lang="en-US" sz="1050" dirty="0">
                <a:solidFill>
                  <a:srgbClr val="1B2A32"/>
                </a:solidFill>
                <a:latin typeface="Calibri" pitchFamily="34" charset="0"/>
                <a:ea typeface="Calibri" pitchFamily="34" charset="-122"/>
                <a:cs typeface="Calibri" pitchFamily="34" charset="-120"/>
              </a:rPr>
              <a:t>Ekspor df_jaringan ke CSV, impor kembali, bandingkan class() tiap kolom.</a:t>
            </a:r>
            <a:endParaRPr lang="en-US" sz="1050" dirty="0"/>
          </a:p>
        </p:txBody>
      </p:sp>
      <p:sp>
        <p:nvSpPr>
          <p:cNvPr id="25" name="Text 23"/>
          <p:cNvSpPr txBox="1"/>
          <p:nvPr/>
        </p:nvSpPr>
        <p:spPr>
          <a:xfrm>
            <a:off x="6537960" y="4096512"/>
            <a:ext cx="320040" cy="548640"/>
          </a:xfrm>
          <a:prstGeom prst="rect">
            <a:avLst/>
          </a:prstGeom>
          <a:noFill/>
          <a:ln/>
        </p:spPr>
        <p:txBody>
          <a:bodyPr wrap="square" lIns="0" tIns="0" rIns="0" bIns="0" rtlCol="0" anchor="ctr"/>
          <a:lstStyle/>
          <a:p>
            <a:pPr indent="0" marL="0">
              <a:buNone/>
            </a:pPr>
            <a:r>
              <a:rPr lang="en-US" sz="1200" b="1" dirty="0">
                <a:solidFill>
                  <a:srgbClr val="B5651D"/>
                </a:solidFill>
                <a:latin typeface="Cambria" pitchFamily="34" charset="0"/>
                <a:ea typeface="Cambria" pitchFamily="34" charset="-122"/>
                <a:cs typeface="Cambria" pitchFamily="34" charset="-120"/>
              </a:rPr>
              <a:t>9</a:t>
            </a:r>
            <a:endParaRPr lang="en-US" sz="1200" dirty="0"/>
          </a:p>
        </p:txBody>
      </p:sp>
      <p:sp>
        <p:nvSpPr>
          <p:cNvPr id="26" name="Text 24"/>
          <p:cNvSpPr txBox="1"/>
          <p:nvPr/>
        </p:nvSpPr>
        <p:spPr>
          <a:xfrm>
            <a:off x="6903720" y="4096512"/>
            <a:ext cx="4480560" cy="548640"/>
          </a:xfrm>
          <a:prstGeom prst="rect">
            <a:avLst/>
          </a:prstGeom>
          <a:noFill/>
          <a:ln/>
        </p:spPr>
        <p:txBody>
          <a:bodyPr wrap="square" lIns="0" tIns="0" rIns="0" bIns="0" rtlCol="0" anchor="ctr"/>
          <a:lstStyle/>
          <a:p>
            <a:pPr indent="0" marL="0">
              <a:lnSpc>
                <a:spcPct val="110000"/>
              </a:lnSpc>
              <a:buNone/>
            </a:pPr>
            <a:r>
              <a:rPr lang="en-US" sz="1050" dirty="0">
                <a:solidFill>
                  <a:srgbClr val="1B2A32"/>
                </a:solidFill>
                <a:latin typeface="Calibri" pitchFamily="34" charset="0"/>
                <a:ea typeface="Calibri" pitchFamily="34" charset="-122"/>
                <a:cs typeface="Calibri" pitchFamily="34" charset="-120"/>
              </a:rPr>
              <a:t>Buat vector logical status_kritis: latensi_ms &gt; 100 DAN jenis == "Router".</a:t>
            </a:r>
            <a:endParaRPr lang="en-US" sz="1050" dirty="0"/>
          </a:p>
        </p:txBody>
      </p:sp>
      <p:sp>
        <p:nvSpPr>
          <p:cNvPr id="27" name="Text 25"/>
          <p:cNvSpPr txBox="1"/>
          <p:nvPr/>
        </p:nvSpPr>
        <p:spPr>
          <a:xfrm>
            <a:off x="6537960" y="4700016"/>
            <a:ext cx="320040" cy="548640"/>
          </a:xfrm>
          <a:prstGeom prst="rect">
            <a:avLst/>
          </a:prstGeom>
          <a:noFill/>
          <a:ln/>
        </p:spPr>
        <p:txBody>
          <a:bodyPr wrap="square" lIns="0" tIns="0" rIns="0" bIns="0" rtlCol="0" anchor="ctr"/>
          <a:lstStyle/>
          <a:p>
            <a:pPr indent="0" marL="0">
              <a:buNone/>
            </a:pPr>
            <a:r>
              <a:rPr lang="en-US" sz="1200" b="1" dirty="0">
                <a:solidFill>
                  <a:srgbClr val="B5651D"/>
                </a:solidFill>
                <a:latin typeface="Cambria" pitchFamily="34" charset="0"/>
                <a:ea typeface="Cambria" pitchFamily="34" charset="-122"/>
                <a:cs typeface="Cambria" pitchFamily="34" charset="-120"/>
              </a:rPr>
              <a:t>10</a:t>
            </a:r>
            <a:endParaRPr lang="en-US" sz="1200" dirty="0"/>
          </a:p>
        </p:txBody>
      </p:sp>
      <p:sp>
        <p:nvSpPr>
          <p:cNvPr id="28" name="Text 26"/>
          <p:cNvSpPr txBox="1"/>
          <p:nvPr/>
        </p:nvSpPr>
        <p:spPr>
          <a:xfrm>
            <a:off x="6903720" y="4700016"/>
            <a:ext cx="4480560" cy="548640"/>
          </a:xfrm>
          <a:prstGeom prst="rect">
            <a:avLst/>
          </a:prstGeom>
          <a:noFill/>
          <a:ln/>
        </p:spPr>
        <p:txBody>
          <a:bodyPr wrap="square" lIns="0" tIns="0" rIns="0" bIns="0" rtlCol="0" anchor="ctr"/>
          <a:lstStyle/>
          <a:p>
            <a:pPr indent="0" marL="0">
              <a:lnSpc>
                <a:spcPct val="110000"/>
              </a:lnSpc>
              <a:buNone/>
            </a:pPr>
            <a:r>
              <a:rPr lang="en-US" sz="1050" dirty="0">
                <a:solidFill>
                  <a:srgbClr val="1B2A32"/>
                </a:solidFill>
                <a:latin typeface="Calibri" pitchFamily="34" charset="0"/>
                <a:ea typeface="Calibri" pitchFamily="34" charset="-122"/>
                <a:cs typeface="Calibri" pitchFamily="34" charset="-120"/>
              </a:rPr>
              <a:t>Susun kerangka dasar berkas .Rmd untuk memuat &amp; meringkas jaringan.csv.</a:t>
            </a:r>
            <a:endParaRPr lang="en-US" sz="1050" dirty="0"/>
          </a:p>
        </p:txBody>
      </p:sp>
      <p:sp>
        <p:nvSpPr>
          <p:cNvPr id="29" name="Text 27"/>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5C6E76"/>
                </a:solidFill>
                <a:latin typeface="Calibri" pitchFamily="34" charset="0"/>
                <a:ea typeface="Calibri" pitchFamily="34" charset="-122"/>
                <a:cs typeface="Calibri" pitchFamily="34" charset="-120"/>
              </a:rPr>
              <a:t>BAB 1 · PENGANTAR STATISTIK TEKNIK DAN LINGKUNGAN R</a:t>
            </a:r>
            <a:endParaRPr lang="en-US" sz="900" dirty="0"/>
          </a:p>
        </p:txBody>
      </p:sp>
      <p:sp>
        <p:nvSpPr>
          <p:cNvPr id="30" name="Text 28"/>
          <p:cNvSpPr txBox="1"/>
          <p:nvPr/>
        </p:nvSpPr>
        <p:spPr>
          <a:xfrm>
            <a:off x="10241280" y="6510528"/>
            <a:ext cx="1371600" cy="274320"/>
          </a:xfrm>
          <a:prstGeom prst="rect">
            <a:avLst/>
          </a:prstGeom>
          <a:noFill/>
          <a:ln/>
        </p:spPr>
        <p:txBody>
          <a:bodyPr wrap="square" lIns="0" tIns="0" rIns="0" bIns="0" rtlCol="0" anchor="ctr"/>
          <a:lstStyle/>
          <a:p>
            <a:pPr algn="r" indent="0" marL="0">
              <a:buNone/>
            </a:pPr>
            <a:r>
              <a:rPr lang="en-US" sz="900" dirty="0">
                <a:solidFill>
                  <a:srgbClr val="5C6E76"/>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3C5D"/>
        </a:solidFill>
      </p:bgPr>
    </p:bg>
    <p:spTree>
      <p:nvGrpSpPr>
        <p:cNvPr id="1" name=""/>
        <p:cNvGrpSpPr/>
        <p:nvPr/>
      </p:nvGrpSpPr>
      <p:grpSpPr>
        <a:xfrm>
          <a:off x="0" y="0"/>
          <a:ext cx="0" cy="0"/>
          <a:chOff x="0" y="0"/>
          <a:chExt cx="0" cy="0"/>
        </a:xfrm>
      </p:grpSpPr>
      <p:sp>
        <p:nvSpPr>
          <p:cNvPr id="2" name="Shape 0"/>
          <p:cNvSpPr/>
          <p:nvPr/>
        </p:nvSpPr>
        <p:spPr>
          <a:xfrm>
            <a:off x="-1828800" y="4114800"/>
            <a:ext cx="5029200" cy="5029200"/>
          </a:xfrm>
          <a:prstGeom prst="ellipse">
            <a:avLst/>
          </a:prstGeom>
          <a:solidFill>
            <a:srgbClr val="1C7293">
              <a:alpha val="18000"/>
            </a:srgbClr>
          </a:solidFill>
          <a:ln/>
        </p:spPr>
      </p:sp>
      <p:sp>
        <p:nvSpPr>
          <p:cNvPr id="3" name="Text 1"/>
          <p:cNvSpPr txBox="1"/>
          <p:nvPr/>
        </p:nvSpPr>
        <p:spPr>
          <a:xfrm>
            <a:off x="548640" y="640080"/>
            <a:ext cx="5486400" cy="365760"/>
          </a:xfrm>
          <a:prstGeom prst="rect">
            <a:avLst/>
          </a:prstGeom>
          <a:noFill/>
          <a:ln/>
        </p:spPr>
        <p:txBody>
          <a:bodyPr wrap="square" lIns="0" tIns="0" rIns="0" bIns="0" rtlCol="0" anchor="ctr"/>
          <a:lstStyle/>
          <a:p>
            <a:pPr indent="0" marL="0">
              <a:buNone/>
            </a:pPr>
            <a:r>
              <a:rPr lang="en-US" sz="1300" b="1" spc="200" kern="0" dirty="0">
                <a:solidFill>
                  <a:srgbClr val="F4A261"/>
                </a:solidFill>
                <a:latin typeface="Calibri" pitchFamily="34" charset="0"/>
                <a:ea typeface="Calibri" pitchFamily="34" charset="-122"/>
                <a:cs typeface="Calibri" pitchFamily="34" charset="-120"/>
              </a:rPr>
              <a:t>REFERENSI BAB</a:t>
            </a:r>
            <a:endParaRPr lang="en-US" sz="1300" dirty="0"/>
          </a:p>
        </p:txBody>
      </p:sp>
      <p:sp>
        <p:nvSpPr>
          <p:cNvPr id="4" name="Text 2"/>
          <p:cNvSpPr txBox="1"/>
          <p:nvPr/>
        </p:nvSpPr>
        <p:spPr>
          <a:xfrm>
            <a:off x="548640" y="1097280"/>
            <a:ext cx="11064240" cy="502920"/>
          </a:xfrm>
          <a:prstGeom prst="rect">
            <a:avLst/>
          </a:prstGeom>
          <a:noFill/>
          <a:ln/>
        </p:spPr>
        <p:txBody>
          <a:bodyPr wrap="square" lIns="0" tIns="0" rIns="0" bIns="0" rtlCol="0" anchor="ctr"/>
          <a:lstStyle/>
          <a:p>
            <a:pPr indent="0" marL="0">
              <a:lnSpc>
                <a:spcPct val="115000"/>
              </a:lnSpc>
              <a:buNone/>
            </a:pPr>
            <a:r>
              <a:rPr lang="en-US" sz="1150" dirty="0">
                <a:solidFill>
                  <a:srgbClr val="CADCFC"/>
                </a:solidFill>
                <a:latin typeface="Calibri" pitchFamily="34" charset="0"/>
                <a:ea typeface="Calibri" pitchFamily="34" charset="-122"/>
                <a:cs typeface="Calibri" pitchFamily="34" charset="-120"/>
              </a:rPr>
              <a:t>[1]  Rizzo, M.L. (2019). Statistical Computing with R, 2nd Edition. Boca Raton: CRC Press, Chapman &amp; Hall — Bab 1.</a:t>
            </a:r>
            <a:endParaRPr lang="en-US" sz="1150" dirty="0"/>
          </a:p>
        </p:txBody>
      </p:sp>
      <p:sp>
        <p:nvSpPr>
          <p:cNvPr id="5" name="Text 3"/>
          <p:cNvSpPr txBox="1"/>
          <p:nvPr/>
        </p:nvSpPr>
        <p:spPr>
          <a:xfrm>
            <a:off x="548640" y="1664208"/>
            <a:ext cx="11064240" cy="502920"/>
          </a:xfrm>
          <a:prstGeom prst="rect">
            <a:avLst/>
          </a:prstGeom>
          <a:noFill/>
          <a:ln/>
        </p:spPr>
        <p:txBody>
          <a:bodyPr wrap="square" lIns="0" tIns="0" rIns="0" bIns="0" rtlCol="0" anchor="ctr"/>
          <a:lstStyle/>
          <a:p>
            <a:pPr indent="0" marL="0">
              <a:lnSpc>
                <a:spcPct val="115000"/>
              </a:lnSpc>
              <a:buNone/>
            </a:pPr>
            <a:r>
              <a:rPr lang="en-US" sz="1150" dirty="0">
                <a:solidFill>
                  <a:srgbClr val="CADCFC"/>
                </a:solidFill>
                <a:latin typeface="Calibri" pitchFamily="34" charset="0"/>
                <a:ea typeface="Calibri" pitchFamily="34" charset="-122"/>
                <a:cs typeface="Calibri" pitchFamily="34" charset="-120"/>
              </a:rPr>
              <a:t>[5]  Venables, W.N., Smith, D.M. &amp; R Core Team (2026). An Introduction to R (R Version 4.7.0). R Project Documentation — Bab 1–3.</a:t>
            </a:r>
            <a:endParaRPr lang="en-US" sz="1150" dirty="0"/>
          </a:p>
        </p:txBody>
      </p:sp>
      <p:sp>
        <p:nvSpPr>
          <p:cNvPr id="6" name="Text 4"/>
          <p:cNvSpPr txBox="1"/>
          <p:nvPr/>
        </p:nvSpPr>
        <p:spPr>
          <a:xfrm>
            <a:off x="548640" y="2231136"/>
            <a:ext cx="11064240" cy="502920"/>
          </a:xfrm>
          <a:prstGeom prst="rect">
            <a:avLst/>
          </a:prstGeom>
          <a:noFill/>
          <a:ln/>
        </p:spPr>
        <p:txBody>
          <a:bodyPr wrap="square" lIns="0" tIns="0" rIns="0" bIns="0" rtlCol="0" anchor="ctr"/>
          <a:lstStyle/>
          <a:p>
            <a:pPr indent="0" marL="0">
              <a:lnSpc>
                <a:spcPct val="115000"/>
              </a:lnSpc>
              <a:buNone/>
            </a:pPr>
            <a:r>
              <a:rPr lang="en-US" sz="1150" dirty="0">
                <a:solidFill>
                  <a:srgbClr val="CADCFC"/>
                </a:solidFill>
                <a:latin typeface="Calibri" pitchFamily="34" charset="0"/>
                <a:ea typeface="Calibri" pitchFamily="34" charset="-122"/>
                <a:cs typeface="Calibri" pitchFamily="34" charset="-120"/>
              </a:rPr>
              <a:t>[7]  Zulfikar, Susanti, A. &amp; Munawarah (2022). Statistical Computing dengan Program R. Jombang: Penerbit UNWAHA — Bab II.</a:t>
            </a:r>
            <a:endParaRPr lang="en-US" sz="1150" dirty="0"/>
          </a:p>
        </p:txBody>
      </p:sp>
      <p:sp>
        <p:nvSpPr>
          <p:cNvPr id="7" name="Shape 5"/>
          <p:cNvSpPr/>
          <p:nvPr/>
        </p:nvSpPr>
        <p:spPr>
          <a:xfrm>
            <a:off x="548640" y="3063240"/>
            <a:ext cx="1005840" cy="45720"/>
          </a:xfrm>
          <a:prstGeom prst="rect">
            <a:avLst/>
          </a:prstGeom>
          <a:solidFill>
            <a:srgbClr val="F4A261"/>
          </a:solidFill>
          <a:ln/>
        </p:spPr>
      </p:sp>
      <p:sp>
        <p:nvSpPr>
          <p:cNvPr id="8" name="Text 6"/>
          <p:cNvSpPr txBox="1"/>
          <p:nvPr/>
        </p:nvSpPr>
        <p:spPr>
          <a:xfrm>
            <a:off x="548640" y="3337560"/>
            <a:ext cx="7315200" cy="365760"/>
          </a:xfrm>
          <a:prstGeom prst="rect">
            <a:avLst/>
          </a:prstGeom>
          <a:noFill/>
          <a:ln/>
        </p:spPr>
        <p:txBody>
          <a:bodyPr wrap="square" lIns="0" tIns="0" rIns="0" bIns="0" rtlCol="0" anchor="ctr"/>
          <a:lstStyle/>
          <a:p>
            <a:pPr indent="0" marL="0">
              <a:buNone/>
            </a:pPr>
            <a:r>
              <a:rPr lang="en-US" sz="1300" b="1" dirty="0">
                <a:solidFill>
                  <a:srgbClr val="F4A261"/>
                </a:solidFill>
                <a:latin typeface="Calibri" pitchFamily="34" charset="0"/>
                <a:ea typeface="Calibri" pitchFamily="34" charset="-122"/>
                <a:cs typeface="Calibri" pitchFamily="34" charset="-120"/>
              </a:rPr>
              <a:t>Pertemuan Selanjutnya</a:t>
            </a:r>
            <a:endParaRPr lang="en-US" sz="1300" dirty="0"/>
          </a:p>
        </p:txBody>
      </p:sp>
      <p:sp>
        <p:nvSpPr>
          <p:cNvPr id="9" name="Text 7"/>
          <p:cNvSpPr txBox="1"/>
          <p:nvPr/>
        </p:nvSpPr>
        <p:spPr>
          <a:xfrm>
            <a:off x="548640" y="3703320"/>
            <a:ext cx="914400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Bab 2 — Statistika Deskriptif dan Eksplorasi Data (EDA) dengan R</a:t>
            </a:r>
            <a:endParaRPr lang="en-US" sz="1800" dirty="0"/>
          </a:p>
        </p:txBody>
      </p:sp>
      <p:sp>
        <p:nvSpPr>
          <p:cNvPr id="10" name="Text 8"/>
          <p:cNvSpPr txBox="1"/>
          <p:nvPr/>
        </p:nvSpPr>
        <p:spPr>
          <a:xfrm>
            <a:off x="548640" y="5394960"/>
            <a:ext cx="7315200" cy="64008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Terima Kasih</a:t>
            </a:r>
            <a:endParaRPr lang="en-US" sz="2600" dirty="0"/>
          </a:p>
        </p:txBody>
      </p:sp>
      <p:sp>
        <p:nvSpPr>
          <p:cNvPr id="11" name="Text 9"/>
          <p:cNvSpPr txBox="1"/>
          <p:nvPr/>
        </p:nvSpPr>
        <p:spPr>
          <a:xfrm>
            <a:off x="548640" y="5989320"/>
            <a:ext cx="9144000" cy="365760"/>
          </a:xfrm>
          <a:prstGeom prst="rect">
            <a:avLst/>
          </a:prstGeom>
          <a:noFill/>
          <a:ln/>
        </p:spPr>
        <p:txBody>
          <a:bodyPr wrap="square" lIns="0" tIns="0" rIns="0" bIns="0" rtlCol="0" anchor="ctr"/>
          <a:lstStyle/>
          <a:p>
            <a:pPr indent="0" marL="0">
              <a:buNone/>
            </a:pPr>
            <a:r>
              <a:rPr lang="en-US" sz="1100" dirty="0">
                <a:solidFill>
                  <a:srgbClr val="7FA3B5"/>
                </a:solidFill>
                <a:latin typeface="Calibri" pitchFamily="34" charset="0"/>
                <a:ea typeface="Calibri" pitchFamily="34" charset="-122"/>
                <a:cs typeface="Calibri" pitchFamily="34" charset="-120"/>
              </a:rPr>
              <a:t>Mata Kuliah Statistik Teknik (TIF-302) · Program Studi Teknik Informatika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Program Studi Teknik Informatika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Statistik Teknik dengan R</dc:creator>
  <cp:lastModifiedBy>Statistik Teknik dengan R</cp:lastModifiedBy>
  <cp:revision>1</cp:revision>
  <dcterms:created xsi:type="dcterms:W3CDTF">2026-09-18T09:51:48Z</dcterms:created>
  <dcterms:modified xsi:type="dcterms:W3CDTF">2026-09-18T09:51:48Z</dcterms:modified>
</cp:coreProperties>
</file>