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SEDERHANA DAN BERGANDA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regresi linear sederhana (simple linear regression) dan menginterpretasikan koefisiennya menggunakan 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regresi linear berganda (multiple linear regression) dengan prediktor numerik maupun kategorikal.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prinsip estimasi Ordinary Least Squares (OLS) dan memverifikasi perhitungannya secara manual.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Menginterpretasikan koefisien determinasi (R², Adjusted R²) serta melakukan uji signifikansi model (uji-F) dan koefisien (uji-t).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Memeriksa asumsi klasik regresi (linearitas, homoskedastisitas, normalitas residual, multikolinearitas) dan melakukan diagnostik residual serta model building.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Sederhana (Simple Linear Regression)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adalah salah satu metode statistika paling banyak digunakan untuk memodelkan hubungan antara satu variabel respons (dependent variable, Y) dengan satu atau l...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dapat dipandang s...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parameter dan CI (Bab 7), uji hipotesis dan uji-t/uji-F (Bab 8–9) — ke dalam satu kerangka pemodelan yang lebih kaya dan aplikatif.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lm() (linear model) adalah fungsi inti R untuk membangun model regresi, menggunakan notasi formula respons ~ prediktor yang telah dijumpai sebelumnya 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kloc sebesar 0,8562 pa...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penambahan 1 KLOC (seribu baris kode) diasosiasikan dengan kenaikan rata-rata waktu pengujian sebesar 0,856 jam, dengan p-value yang sangat kecil (4,5...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Regresi Linear Sederhana (Simple Linear Regression)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10.1 — Implementasi Regresi Linear 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hubungan jumlah baris kode (KLOC) dengan waktu pengujian (jam)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set.seed(1001)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kloc          &lt;- round(runif(40, 2, 50),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waktu_pengujian &lt;- 3 + 0.85 * kloc + rnorm(40, 0, 8)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df_slr &lt;- data.frame(kloc, waktu_pengujian)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Membangun model regresi linear sederhana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model_slr &lt;- lm(waktu_pengujian ~ kloc, data = df_slr)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summary(model_slr)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Visualisasi scatter plot beserta garis regresi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ggplot(df_slr, aes(x = kloc, y = waktu_pengujian))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geom_point(color =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lm(formula = waktu_pengujian ~ kloc, data = df_slr)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      1Q  Median      3Q     Max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-15.234  -5.812   0.203   5.671  16.098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Coefficients: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Estimate Std. Error t value Pr(&gt;|t|)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 2.7134     2.6981...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Berganda (Multiple Linear Regression)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berganda (Multiple Linear Regression, MLR) memperluas SLR dengan melibatkan DUA atau lebih prediktor secara simultan: Y = β₀ + β₁X₁ + β₂X₂ + … + βₖXₖ + ε. Ke...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jumlah_developer yang 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kemungkinan mencerminkan efek paralelisasi pekerjaan pengujian pada tim yang lebih besar. Perhatikan bahwa seluruh tiga koefisien signifikan (p&lt;0,001), dan R...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Sejalan dengan peringatan pada S...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observasional semacam ini tidak dapat menyingkirkan kemungkinan bahwa proyek dengan tim lebih besar juga cenderung memiliki karakteristik lain yang tida...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tidak terbatas pada prediktor numerik; prediktor kategorikal (factor) dapat disertakan melalui pengkodean variabel dummy (dummy coding), di mana R se...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Regresi Linear Berganda (Multiple Linear Regression)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10.2 — Ilustrasi korelasi tanpa kau...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waktu pengujian dipengaruhi oleh KLOC, jumlah_developer, dan kompleksitas_siklomatik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set.seed(1003)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n_proyek &lt;- 60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df_mlr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kloc                   = round(runif(n_proyek, 2, 50), 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jumlah_developer       = sample(2:12, n_proyek, replace = TRUE),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kompleksitas_siklomatik = round(runif(n_proyek, 5, 40),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df_mlr$waktu_pengujian &lt;- with(df_mlr,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+ 0.62*kloc - 1.8*jumlah_developer + 0.95*kompleksitas_siklomatik + rnorm(n_proyek, 0, 6))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Membangun model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Coefficients: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Estimate Std. Error t value Pr(&gt;|t|)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             4.7213     3.8912   1.213  0.23026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kloc                      0.5989     0.0692   8.654 1.06e-11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jumlah_developer         -1.7104     0.3218  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Ordinary Least Squares (OLS) dan Interpretasi Koefisien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(OLS) adalah metode estimasi yang mendasari fungsi lm(): koefisien regresi dipilih sedemikian rupa sehingga MEMINIMALKAN jumlah kuadrat residual (Sum...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pada Kode R 10.5 identik h...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meminimalkan jumlah kuadrat residual — akan muncul kembali dalam berbagai konteks lain sepanjang sisa mata kuliah ini, termasuk regresi logistik (Bab 11) yan...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794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Gauss-Markov, sebuah has...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794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linear tak bias dengan varians TERKECIL di antara seluruh estimator linear tak bias lainnya. Sifat “terbaik” ini bukan berarti OLS selalu menghasil...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Estimasi Ordinary Least Squares (OLS) dan Interpretasi Koefisien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10.4 — Regresi dengan prediktor kat...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Memverifikasi rumus OLS closed-form secara manual, dibandingkan dengan lm()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cbind(1, df_slr$kloc)             # matrix desain: kolom 1 (intersep) + kolom kloc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&lt;- df_slr$waktu_pengujian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Rumus OLS: beta_hat = (X'X)^-1 X'y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beta_manual &lt;- solve(t(X) %*% X) %*% t(X) %*% 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rownames(beta_manual) &lt;- c("Intercept", "kloc")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beta_manual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Dibandingkan dengan koefisien dari lm() (Kode R 10.1)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coef(model_slr)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[,1]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 2.713353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kloc      0.856234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(Intercept)        kloc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2.713353    0.856234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Determinasi (R², Adjusted R²) dan Uji Signifikansi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determinasi R² mengukur proporsi variasi variabel respons yang dapat dijelaskan oleh model regresi, dihitung sebagai R² = 1 − (SSR/SST), dengan nilai berkisar ant...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regresi diuji signifikansi...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uji-F menguji H0: β₁=β₂=…=βₖ=0 (SELURUH koefisien secara simultan sama dengan nol, yaitu model TIDAK LEBIH BAIK dari sekadar memprediksi rata-rata Y), sedang...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Uji-F pada Kode R 10.7 menghasil...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 hal ini BUKAN masalah, karena intersep umumnya dipertahankan dalam model terlepas dari signifikansinya (kecuali terdapat justifikasi teoretis kuat untu...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dipahami bahwa uji-F kesel...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gejala klasik multikolinearitas parah, karena standard error setiap koefisien membengkak akibat sulitnya memisahkan kontribusi masing-masing prediktor...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Koefisien Determinasi (R², Adjusted R²) dan Uji Signifikansi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10.5 — Verifikasi manual estimasi O...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Menghitung R^2 dan Adjusted R^2 secara manual, dibandingkan dengan summary()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&lt;- predict(model_mlr)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SSR &lt;- sum((df_mlr$waktu_pengujian - y_pred)^2)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SST &lt;- sum((df_mlr$waktu_pengujian - mean(df_mlr$waktu_pengujian))^2)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&lt;- nrow(df_mlr); k &lt;- length(coef(model_mlr)) - 1   # k = jumlah prediktor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R2_manual     &lt;- 1 - SSR/SST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adjR2_manual  &lt;- 1 - (1 - R2_manual) * (n - 1) / (n - k - 1)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c(R2 = R2_manual, Adjusted_R2 = adjR2_manual)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Dibandingkan dengan hasil summary()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c(summary(model_...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Adjusted_R2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0.8734021   0.8667198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0.8734021 0.8667198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 Klasik Regresi: Linearitas, Homoskedastisitas, Normalitas Residual, dan Multikolinearitas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Validitas inferensi statistik dari model regresi (p-value, CI koefisien) bergantung pada terpenuhinya empat asumsi klasik: (1) linearitas hubungan antara prediktor dan resp...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Pelanggaran masing-masing asumsi...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pelanggaran linearitas berarti model gagal menangkap bentuk hubungan yang sesungguhnya (mungkin memerlukan transformasi variabel atau istilah polinomial); he...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ideal pada plot Kode R 10.8 adalah titik-titik yang tersebar ACAK di sekitar garis horizontal nol, tanpa pola sistematis (seperti bentuk corong/funnel y...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Shapiro-Wilk yang besar 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 ketiga terpenuhi secara wajar. Perlu diperhatikan bahwa uji normalitas di sini diterapkan pada RESIDUAL model, bukan pada variabel respons Y itu sendi...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Asumsi Klasik Regresi: Linearitas, Homoskedastisitas, Normalitas Residual, dan Multikolinearitas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10.7 — Ekstraksi statistik uji-F mo...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Pemeriksaan LINEARITAS dan HOMOSKEDASTISITAS: plot residual vs fitted values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df_diagnostik &lt;- data.frame(fitted = fitted(model_mlr), residual = residuals(model_mlr))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ggplot(df_diagnostik, aes(x = fitted, y = residual))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geom_point(alpha = 0.6, color = "steelblue")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geom_hline(yintercept = 0, linetype = "dashed", color = "firebrick")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geom_smooth(se = FALSE, color = "darkorange", linewidth = 0.8)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"Residual vs Fitted Values",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x = "Nilai Prediksi (Fitted)", y...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Shapiro-Wilk normality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 residuals(model_mlr)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0.98453, p-value = 0.6521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 Residual dan Model Building dengan lm() di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menyediakan fungsi plot() bawaan yang, ketika diterapkan pada objek model lm(), secara otomatis menghasilkan empat panel diagnostik standar: Residuals vs Fitted (linearit...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keempat (Residuals vs Leve...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observasi semacam ini layak diperiksa lebih lanjut, bukan otomatis dihapus, karena bisa jadi merupakan kasus yang paling informatif dalam dataset.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panel lainnya juga member...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Residuals vs Fitted (kiri atas) mengulang pemeriksaan linearitas/homoskedastisitas yang telah dibahas pada Kode R 10.8, namun kini dengan garis smoothe...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adalah proses iteratif memilih kombinasi prediktor yang optimal, menyeimbangkan kompleksitas model dengan kemampuan menjelaskan data. Uji anov...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10.6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Diagnostik Residual dan Model Building dengan lm() di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10.10 — Deteksi multikolinearitas m...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Plot diagnostik empat-panel bawaan R untuk objek lm()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par(mfrow = c(2, 2))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plot(model_mlr)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par(mfrow = c(1, 1))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of Variance 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1: waktu_pengujian ~ kloc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2: waktu_pengujian ~ kloc + jumlah_developer + kompleksitas_siklomatik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Res.Df    RSS Df Sum of Sq      F    Pr(&gt;F)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1     58 3842.1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56 1914.7  2    1927.4 28.198 5.628e-09 *...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estimasi biaya dan durasi proyek pengembangan perangkat lunak. Kerjakan pada satu berkas skrip bernama praktikum_bab10.R.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sederhana. Bangkitkan data hubungan jumlah endpoint API dengan waktu dokumentasi (jam), bangun model lm() satu p...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dan korelasi vs kausalitas. Buatlah scatter plot dengan garis regresi (geom_smooth()) untuk data Langkah 1, lalu je...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berganda. Tambahkan dua prediktor lain (jumlah_parameter, tingkat_kompleksitas) pada data Langkah 1, bangun mode...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 — Prediktor kategorikal. Ta...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Manual/Otomatis) pada model Langkah 3, dan interpretasikan koefisien variabel dummy yang dihasilkan.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OLS manual. Verifikasi koefisien model Langkah 1 menggunakan rumus OLS closed-form (X'X)⁻¹X'y secara manual, dan ban...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Uji-F dan uji-t. Ekstraksi statistik uji-F keseluruhan model dan uji-t setiap koefisien dari model Langkah 3, lalu interpretasi...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sederhana (SLR) memodelkan hubungan satu prediktor dengan variabel respons melalui Y = β₀ + β₁X + ε; regresi linear berganda (MLR) m...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regresi berganda diinterpretasikan secara ceteris paribus: perubahan Y untuk setiap kenaikan satu satuan prediktor tertentu, dengan predi...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Korelasi/regresi mengukur asosiasi statistik, bukan kausalitas; hubungan yang tampak kuat dapat muncul akibat variabel ketiga (confounder) atau keb...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Prediktor kategorikal disertakan dalam regresi melalui pengkodean variabel dummy, dengan satu level menjadi referensi dan koefisien lainnya diinter...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Ordinary Least Squares (OLS) meminimalkan jumlah kuadrat residual, dengan solusi closed-form β̂ = (XᵀX)⁻¹Xᵀy yang mendasari fungsi lm().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mengukur proporsi variasi yang dijelaskan model dan selalu meningkat seiring penambahan prediktor; Adjusted R² memberi penalti terhadap jumlah p...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Uji-F menguji signifikansi keseluruhan model (H0: seluruh koefisien nol); uji-t menguji signifikansi setiap koefisien secara individual.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asumsi klasik regresi — linearitas, homoskedastisitas, normalitas residual, dan tidak adanya multikolinearitas serius — harus diperiksa melal...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landasan teoretis dari materi utama pada bab ini!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kelebihan dan keterbatasan pendekatan statistik yang dipelajari?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asumsi metodologi ini rentan mengalami pelanggaran?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koefisien pada regresi berganda diinterpretasikan secara ceteris paribus, berbeda dari koefisien regresi sederhana.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antara korelasi/asosiasi dan kausalitas, disertai satu contoh spurious correlation.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bagaimana R menangani prediktor kategorikal melalui variabel dummy, termasuk peran level referensi.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 — Bab 11.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Rizzo, M.L. (2019). Statistical Computing with R, 2nd Edition. Boca Raton: CRC Press, Chapman &amp; Hall — Bab 13–14.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Zulfikar, Susanti, A. &amp; Munawarah (2022). Statistical Computing dengan Program R. Jombang: Penerbit UNWAHA — Bab VIII.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 — REGRESI LOGISTIK DAN MODEL LANJUT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· REGRESI LINEAR SEDERHANA DAN BERGANDA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10: REGRESI LINEAR SEDERHANA DAN BERGANDA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