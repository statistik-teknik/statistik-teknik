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HIPOTESIS SATU DAN DUA SAMPEL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kerangka kerja umum uji hipotesis, meliputi H0, H1, taraf signifikansi, dan daerah kritis.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uji-z dan uji-t satu sampel menggunakan R untuk menguji klaim mengenai rata-rata populasi.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uji-t dua sampel, baik untuk sampel independen maupun sampel berpasangan (paired), menggunakan 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uji-F untuk membandingkan varians dua populasi.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Menginterpretasikan p-value secara benar, serta menghitung power dan effect size suatu uji hipotesis.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Kerja Uji Hipotesis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hipotesis (hypothesis testing) adalah prosedur statistik formal untuk menilai apakah bukti dari data sampel cukup kuat untuk menolak suatu klaim (hipotesis) mengenai pa...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hubungan erat antara uj...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memberikan gambaran mengenai rentang nilai parameter yang plausible, sedangkan uji hipotesis memberikan keputusan biner (tolak/tidak tolak H0) terhadap su...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uji hipotesis diawali den...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untuk “membuktikan H0 benar” secara definitif [2].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ilustrasi: apabila tim r...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konvensi yang konsisten di seluruh literatur statistika.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Kerangka Kerja Uji Hipotesis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8.1 — Implementasi Kerangka Kerja 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daerah kritis pada uji-t dua arah, df=25, alpha=0.05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df_uji &lt;- 25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seq(-4, 4, length.out = 400)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densitas &lt;- dt(x, df = df_uji)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t_kritis &lt;- qt(0.975, df = df_uji)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df_plot &lt;- data.frame(x = x, y = densitas,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daerah = ifelse(abs(x) &gt; t_kritis, "Daerah Kritis (Tolak H0)", "Daerah Penerimaan H0"))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ggplot(df_plot, aes(x = x, y = y, fill = daerah))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geom_area(position = "identity", alpha = 0.6)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geom_vline(xintercept = c(-t_kritis, t...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0.0525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0.2915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0.7085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Uji-z dan Uji-t Satu Sampel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Uji-z satu sampel digunakan untuk menguji klaim mengenai rata-rata populasi μ ketika standar deviasi populasi σ diketahui (situasi yang jarang terjadi di praktik, namun pen...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praktik, σ hampir selalu tidak diketahui, sehingga uji-t satu sampel jauh lebih umum digunakan dibandingkan uji-z. R menyediakan fungsi t.test() yang s...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 t.test() pada Kode R 8....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menghasilkan kesimpulan yang sama (menolak H0 pada α=0,05), namun p-value uji-t (0,04479) sedikit lebih besar dibandingkan uji-z (0,0319), karena di...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 alternative = "greater" 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dengan pola yang telah dibahas pada Sub-bab 8.1.4.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Uji-z dan Uji-t Satu Sampel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8.3 menunjukkan bahwa p-value uji s...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klaim SLA menyatakan rata-rata waktu respons SLA = 200 ms (sigma historis = 18 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H0: mu = 200   H1: mu != 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set.seed(803)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sampel_sla &lt;- rnorm(40, mean = 206, sd = 18)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x_bar &lt;- mean(sampel_sla); mu0 &lt;- 200; sigma &lt;- 18; n &lt;- length(sampel_sla)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z_hitung &lt;- (x_bar - mu0) / (sigma / sqrt(n))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p_value_z &lt;- 2 * (1 - pnorm(abs(z_hitung)))    # dua arah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data.frame(z_hitung = round(z_hitung, 3), p_value = round(p_value_z, 4),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keputusan = ifelse(p_value_z &lt; 0.05, "Tol...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z_hitung p_value      keputusan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2.146  0.0319       Tolak H0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Uji-t Dua Sampel: Independent Sample dan Paired Sample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melakukan uji-t dua sampel, dua asumsi penting sebaiknya diperiksa terlebih dahulu: normalitas data pada setiap kelompok (menggunakan Shapiro-Wilk atau Q-Q plot, di...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p-value Shapiro-Wilk pada 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temuan yang menentukan varian uji-t mana yang sebaiknya digunakan pada Sub-bab 8.3.2 berikut.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dua varian uji-t untuk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uji-t pooled (menggabungkan estimasi varians dari kedua kelompok, mengasumsikan varians populasi kedua kelompok sama) dan uji-t Welch (tidak mengasumsikan va...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pada Kode R 8.8 bahwa...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 dari formula penyesuaian Welch-Satterthwaite yang memperhitungkan ketidaksetaraan varians. Meskipun kedua metode menghasilkan kesimpulan yang sam...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Uji-t Dua Sampel: Independent Sample dan Paired Sample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8.6 — Uji-t satu sampel satu arah 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membandingkan waktu eksekusi dua algoritma sorting pada 10.000 elemen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set.seed(804)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algoritma_a &lt;- rnorm(28, mean = 145, sd = 12)   # QuickSort (versi tim internal)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algoritma_b &lt;- rnorm(25, mean = 152, sd = 22)   # MergeSort (pembanding)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Pemeriksaan normalitas MASING-MASING kelompok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shapiro.test(algoritma_a)$p.value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shapiro.test(algoritma_b)$p.value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Pemeriksaan homogenitas varians (uji-F, akan dibahas detail pada Sub-bab 8.4)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var.test(algoritma_a, algoritma_b)$p.value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0.7231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0.5439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0.03187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untuk Perbandingan Varians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digunakan untuk menguji H0: σ²1 = σ²2 (varians kedua populasi sama) melawan H1: σ²1 ≠ σ²2. Statistik uji dihitung sebagai rasio F = s²1/s²2 (varians sampel kelompok p...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manual dan var.test() pada...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inilah yang menjadi dasar keputusan menggunakan uji-t Welch (bukan pooled) pada Sub-bab 8.3.2 sebelumnya.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ini merangkum alur kerja praktis yang menghubungkan Sub-bab 8.3 dan 8.4 menjadi satu prosedur pengambilan keputusan yang sistematis, alih-alih menera...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uji_t_otomatis() pada Kod...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membungkus beberapa langkah analisis ke dalam satu fungsi yang dapat digunakan ulang — adalah praktik baik dalam pemrograman R yang akan semakin relevan keti...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Uji-F untuk Perbandingan Varians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8.9 — Uji-t berpasangan untuk data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Uji-F secara manual, dibandingkan dengan fungsi var.test() bawaan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Menggunakan data algoritma_a dan algoritma_b dari Sub-bab 8.3.1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F_hitung &lt;- var(algoritma_a) / var(algoritma_b)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 &lt;- length(algoritma_a) - 1; df2 &lt;- length(algoritma_b) - 1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p-value dua arah dihitung manual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p_manual &lt;- 2 * min(pf(F_hitung, df1, df2), 1 - pf(F_hitung, df1, df2))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c(F_hitung = F_hitung, p_manual = p_manual)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Verifikasi menggunakan var.test()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var.test(algoritma_a, algoritma_b)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F_hitung  p_manual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0.3117380 0.0318700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 test to compare two variances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algoritma_a and algoritma_b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0.31174, num df = 27, denom df = 24, p-value = 0.03187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 hypothesis: true ratio of variances is not equal to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 pe...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p-value, Power Analysis, dan Effect Size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adalah peluang memperoleh statistik uji yang sama ekstrem atau lebih ekstrem dari yang teramati, DENGAN ASUMSI H0 benar. Kesalahan interpretasi yang sangat umum ada...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pada Kode R 8.12 memberika...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semata-mata mengukur kompatibilitas data dengan H0, dan sangat dipengaruhi oleh ukuran sampel (sebagaimana akan diperjelas melalui konsep effect size...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 p-value adalah tidak m...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mengindikasikan ada/tidaknya bukti statistik. Effect size mengisi kekosongan ini dengan mengukur besarnya perbedaan dalam satuan yang independen terhad...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pada Kode R 8.13 melengka...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mungkin memerlukan ukuran sampel lebih besar untuk memastikan (dibahas power analysis berikut).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8.5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p-value, Power Analysis, dan Effect Size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8.11 — Fungsi bantuan alur kerja ot...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Membuktikan sifat p-value secara empiris: jika H0 BENAR, p-value berdistribusi UNIFORM(0,1)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set.seed(806)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p_values_h0_benar &lt;- replicate(5000,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grup_a &lt;- rnorm(25, mean = 100, sd = 15)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grup_b &lt;- rnorm(25, mean = 100, sd = 15)   # H0 benar: mean identik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t.test(grup_a, grup_b)$p.value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Jika H0 benar, seharusnya p-value TERSEBAR MERATA antara 0 dan 1 (bukan terkonsentrasi di angka kecil)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summary(p_values_h0_benar)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mean(p_values_h0_benar &lt; 0.05)   # seharusnya mendekati 0.05 (defin...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Min.   1st Qu.    Median      Mean   3rd Qu.      Max.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0.0001725 0.2515000 0.4996000 0.5008000 0.7523000 0.9999000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0.0498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evaluasi performa dua konfigurasi server web. Kerjakan pada satu berkas skrip bernama praktikum_bab8.R.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Tipe Kesalahan I. Bangkitkan 2000 pasangan sampel (masing-masing n=25) dari populasi Normal yang IDENTIK (mean dan sd 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Uji-z dan uji-t satu sampel. Sebuah tim mengklaim rata-rata waktu build CI/CD adalah 300 detik (sigma historis=25 detik). Ambil...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asumsi dan pemilihan uji-t. Bangkitkan dua kelompok data waktu respons dari dua konfigurasi server (ukuran sampel d...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Uji-t berpasangan. Simulasikan waktu respons 25 endpoint sebelum dan sesudah penerapan caching (data berpasangan), lakukan uji-...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Uji-F. Menggunakan data pada Langkah 3, lakukan uji-F secara manual dan menggunakan var.test(), lalu verifikasi bahwa kedua has...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p-value. Ulangi simulasi pada Langkah 1 namun kali ini dengan H0 SALAH (kedua populasi memiliki mean berbeda), lal...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hipotesis diawali dengan merumuskan H0 (klaim status quo) dan H1 (klaim yang ingin dibuktikan); H1 tidak pernah memuat pernyataan yang ingin di...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I (menolak H0 yang benar) memiliki peluang α; Kesalahan Tipe II (gagal menolak H0 yang salah) memiliki peluang β; power (1−β) menguk...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satu arah digunakan ketika H1 menyatakan arah tertentu (&gt;, &lt;), dengan p-value tepat setengah dari uji dua arah pada arah yang konsisten; arah u...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Uji-z satu sampel digunakan ketika σ diketahui; uji-t satu sampel (fungsi t.test()) digunakan ketika σ tidak diketahui, situasi yang jauh lebih umu...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Uji-t dua sampel independen memiliki dua varian: pooled (mengasumsikan varians sama) dan Welch (tidak mengasumsikan varians sama, default R); pemil...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Uji-t berpasangan digunakan untuk data yang berasal dari subjek/unit yang sama pada dua kondisi berbeda, dan umumnya memiliki power lebih besar dib...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(var.test()) menguji kesamaan varians dua populasi, dan menjadi prasyarat penting sebelum memilih varian uji-t independen yang tepat.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mengukur kompatibilitas data dengan H0 (bukan peluang H0 benar), dan berdistribusi Uniform(0,1) ketika H0 benar; p-value kecil tidak selalu...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landasan teoretis dari materi utama pada bab ini!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kelebihan dan keterbatasan pendekatan statistik yang dipelajari?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asumsi metodologi ini rentan mengalami pelanggaran?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antara Kesalahan Tipe I dan Kesalahan Tipe II, serta hubungan antara Kesalahan Tipe II dengan konsep power.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kapan sebaiknya digunakan uji satu arah dibandingkan uji dua arah, dan mengapa keputusan ini harus dibuat sebelum data diperiksa.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antara uji-t pooled dan uji-t Welch, serta bagaimana hasil uji-F menentukan pemilihan di antara keduanya.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6–7.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Schumacker, R. &amp; Tomek, S. (2013). Understanding Statistics Using R. New York: Springer — Bab 7.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7 (pendukung, power analysis).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— ANOVA DAN UJI NON-PARAMETRIK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 · UJI HIPOTESIS SATU DAN DUA SAMPEL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8: UJI HIPOTESIS SATU DAN DUA SAMPEL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